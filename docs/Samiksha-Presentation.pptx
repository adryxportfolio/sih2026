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Samiksha — "review" or "assessment" in Hindi — answers SIH26101 from MoSPI.
In one sentence: it finds each statistical officer's competency gaps against their post, teaches exactly what is missing using iGOT Karmayogi courses and quizzes generated from department material, and gives them AI agents for repetitive analytical work — while recording what they delegate as evidence about their skills.
Deliverables: Officer and Administrator Android apps, two no-account demo apps, a Windows AI Workspace, and a secured Supabase backend. Everything shown is running software; screenshots are from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statement bundles two AI engines — skill intelligence (profile → gaps → iGOT recommendations) and an assessment engine (uploads → MCQs) — and two audiences, learners and administrators. A quiz generator or a dashboard alone answers a quarter of it.
Key pain points: skills needed are shifting to technical and digital governance; gap identification relies on self-report; recommendations are generic and ignore prerequisites; assessments are costly to author; administrators cannot see where the workforce is weak; and AI tools, where used, raise output without raising capability.
Design requirements we derived: defensible (explainable from evidence), honest about uncertainty, grounded, private by construction, provisioned accounts only, people decide, affordable and sovereign, works on Android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measures each officer against their post's FRAC requirements and teaches what's missing. The Workspace gives them AI agents for repetitive analysis. The loop joins them in both directions: agents are told where the officer is weak and explain the step that matters, and every delegation is recorded against a competency.
Why it matters: an agent that just does the work makes the platform better at the officer's job and worse at its purpose. Repeated delegation of work the officer can't yet do is stronger evidence of a gap than any test score — it is the gap costing autonomy every week.
Four products from one platform: Officer app, Admin app, two demo apps for evaluation without accounts, and the Windows Workspace. Supabase is the single source of identity: the same credentials open phone and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Ananya Deshmukh, Junior Statistical Officer, DES Maharashtra.
1. Onboarding is one screen: an administrator already provisioned her account with department and service years. She confirms her post and daily minutes. Self-rating was removed — it's the least reliable evidence.
2. The adaptive test uses 2-parameter Item Response Theory: each item maximises information at her current ability estimate; the band (e.g. 2.85 ± 1.16) narrows; it stops when precise — typically 8–13 questions, about half a fixed test.
3. Insights: 41% role readiness, 5 critical gaps, 65% measurement confidence. Radar across all four families, AI diagnosis explaining the SQL-computed gaps, "What you believe instead" misconceptions, and "What you can learn next" — the prerequisite-ready frontier.
4. My Plan: 6-week plan built from iGOT/NSSTA courses, videos, quizzes, flashcard decks and reflection — spaced, interleaved, retrieval after every input, never out of prerequisite order.
5. Library: department material becomes a quiz, flashcards or 15-question timed mock test; the screen discloses whether questions come from the document itself or only a video description.
Also: FSRS-6 spaced review with interval previews, confidence-rated quizzes with calibration, Samiksha AI tutor behind the mascot.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often ask "isn't the gap just the AI's opinion?" No — recompute_competency_gaps() is a SQL function. Two officers with identical records get identical gaps. The model writes the explanation.
Scores update with each answer using a decaying learning rate; confidence = n/(n+8). Low-confidence gaps are damped, so the system says "assess this" rather than "train this".
Hallucination control is mechanical: strict JSON schema (shape guaranteed), verbatim quote verification with normalisation and fuzzy fallback, structural checks, page/slide citation, grounding rate reported. Difficulty recalibrates from real responses.
Learning science: 2PL IRT adaptive testing (θ on the 0–4 proficiency scale, max-information item selection, Newton–Raphson update, precision stop); FSRS-6 verified against the reference implementation interval-for-interval; prerequisite DAG with readiness — rank = priority × (0.25 + 0.75·readiness); distractor-level misconception events; confidence captured before reveal with calibration error; Bloom distribution targeting higher-order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app is a separate application, chosen by the server-side role. The Ministry's questions are aggregate: where is the workforce weak, how many officials does it affect, which training should we commission, and is it working?
Dashboard (demo data): workforce competency 67%, +4 points; statistical craft strong at 78% but technical at 41% with 3,120 officials below the bar for Python — so more sampling training would be the wrong purchase.
The underlying view groups before returning rows; individuals can't be identified from Workforce Intelligence. Staff can open records within their own organisation for training management.
Live board: heartbeat presence with realtime push; 2 min silent = away, 10 = offline, so a phone losing signal can't stay "online".
Publishing: per-officer assignment so exceptions (officers on deputation) are explicit; the Materials tab shows recipients and how many opened it.
Samiksha AI operator: 6 read tools (overview, departments, officers, officer detail, gap summary, materials) and 5 action tools (publish link, assign material, create officer, activate/deactivate, reset password). Actions return a proposed-action card and run only on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Workspace is a multi-service app (web, API, worker, sandbox supervisor, Electron desktop) where each officer has persistent agents with memory, routines and their own Linux computer — browser, terminal, files, desktop — in a Docker container.
No onboarding: the three starter agents are provisioned server-side at first sign-in, each mapped to FRAC competencies. Every instruction ends at a draft, because official statistics are published under a person's name.
Identity bridge: every Workspace sign-in is proved against Supabase first, and the local row reconciled; the Supabase user ID is reused, so an admin's password reset or deactivation on the phone takes effect on the next desktop sign-in. SIGNUPS_ENABLED=false.
Half one of the loop: before each run the officer's post, top gaps and strengths are read (best-effort, cached 5 minutes — a reporting lookup must never fail a run) and put into the system prompt.
Half two: completing a run writes agent_delegations. The officer sees e.g. "Python for Data Analysis — 23 tasks in 30 days via Data Analyst, 8h saved, still a gap." Verified against live data: a real officer's twelve gaps rendered into the agent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deployable parts in one repository: mobile/ (Expo), workspace/ (pnpm monorepo), supabase/ (15 migrations, 10 Edge Functions).
The APK is decompilable, so it holds only the public URL and anon key. Row Level Security is the real boundary. scripts/sync-env.mjs refuses to sync if a server secret carries the EXPO_PUBLIC_ prefix. The model key lives in Supabase Vault, readable only by the service role — rotated with one SQL statement.
Database hardening: auth.uid() wrapped in a select so it evaluates once per statement; security-invoker functions with empty search_path; EXECUTE revoked from anon/public; admin views aggregate before returning rows.
Edge Functions: assistant (Samiksha AI), study (practice), process-material, generate-quiz, generate-flashcards, diagnose-competency, generate-path, tutor (RAG), curate-videos, admin-users (verifies admin role from DB before touching input).
Embeddings: gte-small (384-d) built into the edge runtime — no third-party embedding API. Retrieval via pgvector.
Operations: node scripts/start.mjs brings everything up — finds the LAN address and writes it everywhere it must agree, generates secrets, checks the model server. Release pipeline builds four signed APKs and the Windows installer on every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pinned model everywhere — mobile Edge Functions and Workspace agents. Officers only ever see "Samiksha AI".
Why this model:
• Open weights → easy to fine-tune with parameter-efficient methods on our domain corpus; a closed API model can't be adapted or pinned the same way.
• Sovereignty: can be hosted on NIC / MeghRaj so data stays in India — relevant to the DPDP Act.
• Efficient "Flash" mixture-of-experts: low inference cost and cheap adapter training.
• Very long context: whole handbooks in one call.
• Cost: ~$0.09 per million input tokens — per-officer, on-demand generation is viable for a workforce of tens of thousands.
• Strict JSON schema and tool calling.
• Swappable: MODEL_PRIMARY / PI_DEFAULT_MODEL; local Ollama path proven.
The fine-tuning dataset is a by-product of operation: ai_generations logs every call; questions carry source quotes, grounding flags and observed difficulty; distractor rationales and misconception events; trainer edits become preference data; review_logs enable FSRS weight optimisation.
Safety regardless of model: deterministic maths, strict schemas, mechanical grounding, disclosed sources, hedged and retried calls, audit, confirm-before-act.
If asked about scanned PDFs: pages with implausibly little text escalate to vision OCR when a vision model is configured, otherwise rejected with a clear message — never silently indexed as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running today, verified: the Supabase identity bridge; the competency loop in both directions; agent provisioning; adaptive assessment; FSRS review; quiz flow with page citations; AI practice (quiz, flashcards, mock test) from any assigned material; Samiksha AI for officers (tutor) and administrators (operator with confirm-before-act); both dashboards; department publishing; live presence; the release pipeline producing four signed APKs and the Windows installer.
Quality: mobile typecheck clean; workspace checks 20 passing; FSRS-6 identical to reference intervals; IRT parity between app and SQL.
Limitations, stated honestly: iGOT uses a simulator built on Karmayogi's documented production contract (one env var to go live once credentials are issued); the FRAC dictionary is reconstructed from published MoSPI/NSSTA/SQAF/NMDS material; FSRS uses population weights until enough reviews exist; IRT discrimination is held constant; the base model isn't fine-tuned yet; agent computers need Docker on the host; interface is English.
Likely questions: scale (set-based SQL, serverless functions, cached extraction, sub-cent quizzes); poor connectivity (on-device FSRS/IRT, offline demo builds, local model option); privacy (RLS, aggregate views, no secrets in APK, sovereign model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640080" y="548640"/>
            <a:ext cx="5852160" cy="274320"/>
          </a:xfrm>
          <a:prstGeom prst="rect">
            <a:avLst/>
          </a:prstGeom>
          <a:noFill/>
          <a:ln/>
        </p:spPr>
        <p:txBody>
          <a:bodyPr wrap="square" lIns="0" tIns="0" rIns="0" bIns="0" rtlCol="0" anchor="t"/>
          <a:lstStyle/>
          <a:p>
            <a:pPr indent="0" marL="0">
              <a:buNone/>
            </a:pPr>
            <a:r>
              <a:rPr lang="en-US" sz="1100" b="1" spc="300" kern="0" dirty="0">
                <a:solidFill>
                  <a:srgbClr val="A1A1AA"/>
                </a:solidFill>
                <a:latin typeface="Arial" pitchFamily="34" charset="0"/>
                <a:ea typeface="Arial" pitchFamily="34" charset="-122"/>
                <a:cs typeface="Arial" pitchFamily="34" charset="-120"/>
              </a:rPr>
              <a:t>SMART INDIA HACKATHON 2026  ·  SIH26101  ·  MoSPI</a:t>
            </a:r>
            <a:endParaRPr lang="en-US" sz="1100" dirty="0"/>
          </a:p>
        </p:txBody>
      </p:sp>
      <p:pic>
        <p:nvPicPr>
          <p:cNvPr id="3" name="Image 0" descr="/private/tmp/claude-501/-Users-bonny-Desktop-Adreej-projects-SIH-2026/9aad41f0-270d-4125-b657-0e332d72b56e/scratchpad/deck/img/devanagari.png">    </p:cNvPr>
          <p:cNvPicPr>
            <a:picLocks noChangeAspect="1"/>
          </p:cNvPicPr>
          <p:nvPr/>
        </p:nvPicPr>
        <p:blipFill>
          <a:blip r:embed="rId1"/>
          <a:stretch>
            <a:fillRect/>
          </a:stretch>
        </p:blipFill>
        <p:spPr>
          <a:xfrm>
            <a:off x="603504" y="1417320"/>
            <a:ext cx="1013233" cy="566928"/>
          </a:xfrm>
          <a:prstGeom prst="rect">
            <a:avLst/>
          </a:prstGeom>
        </p:spPr>
      </p:pic>
      <p:sp>
        <p:nvSpPr>
          <p:cNvPr id="4" name="Text 1"/>
          <p:cNvSpPr txBox="1"/>
          <p:nvPr/>
        </p:nvSpPr>
        <p:spPr>
          <a:xfrm>
            <a:off x="640080" y="2011680"/>
            <a:ext cx="5943600" cy="1188720"/>
          </a:xfrm>
          <a:prstGeom prst="rect">
            <a:avLst/>
          </a:prstGeom>
          <a:noFill/>
          <a:ln/>
        </p:spPr>
        <p:txBody>
          <a:bodyPr wrap="square" lIns="0" tIns="0" rIns="0" bIns="0" rtlCol="0" anchor="t"/>
          <a:lstStyle/>
          <a:p>
            <a:pPr indent="0" marL="0">
              <a:buNone/>
            </a:pPr>
            <a:r>
              <a:rPr lang="en-US" sz="8000" b="1" dirty="0">
                <a:solidFill>
                  <a:srgbClr val="FFFFFF"/>
                </a:solidFill>
                <a:latin typeface="Arial" pitchFamily="34" charset="0"/>
                <a:ea typeface="Arial" pitchFamily="34" charset="-122"/>
                <a:cs typeface="Arial" pitchFamily="34" charset="-120"/>
              </a:rPr>
              <a:t>Samiksha</a:t>
            </a:r>
            <a:endParaRPr lang="en-US" sz="8000" dirty="0"/>
          </a:p>
        </p:txBody>
      </p:sp>
      <p:sp>
        <p:nvSpPr>
          <p:cNvPr id="5" name="Text 2"/>
          <p:cNvSpPr txBox="1"/>
          <p:nvPr/>
        </p:nvSpPr>
        <p:spPr>
          <a:xfrm>
            <a:off x="640080" y="3246120"/>
            <a:ext cx="5760720" cy="822960"/>
          </a:xfrm>
          <a:prstGeom prst="rect">
            <a:avLst/>
          </a:prstGeom>
          <a:noFill/>
          <a:ln/>
        </p:spPr>
        <p:txBody>
          <a:bodyPr wrap="square" lIns="0" tIns="0" rIns="0" bIns="0" rtlCol="0" anchor="t"/>
          <a:lstStyle/>
          <a:p>
            <a:pPr indent="0" marL="0">
              <a:buNone/>
            </a:pPr>
            <a:r>
              <a:rPr lang="en-US" sz="2200" dirty="0">
                <a:solidFill>
                  <a:srgbClr val="FFFFFF"/>
                </a:solidFill>
                <a:latin typeface="Arial" pitchFamily="34" charset="0"/>
                <a:ea typeface="Arial" pitchFamily="34" charset="-122"/>
                <a:cs typeface="Arial" pitchFamily="34" charset="-120"/>
              </a:rPr>
              <a:t>AI-enabled capacity building for India's Official Statistical System</a:t>
            </a:r>
            <a:endParaRPr lang="en-US" sz="2200" dirty="0"/>
          </a:p>
        </p:txBody>
      </p:sp>
      <p:sp>
        <p:nvSpPr>
          <p:cNvPr id="6" name="Text 3"/>
          <p:cNvSpPr txBox="1"/>
          <p:nvPr/>
        </p:nvSpPr>
        <p:spPr>
          <a:xfrm>
            <a:off x="640080" y="4114800"/>
            <a:ext cx="5577840" cy="1005840"/>
          </a:xfrm>
          <a:prstGeom prst="rect">
            <a:avLst/>
          </a:prstGeom>
          <a:noFill/>
          <a:ln/>
        </p:spPr>
        <p:txBody>
          <a:bodyPr wrap="square" lIns="0" tIns="0" rIns="0" bIns="0" rtlCol="0" anchor="t"/>
          <a:lstStyle/>
          <a:p>
            <a:pPr indent="0" marL="0">
              <a:lnSpc>
                <a:spcPct val="115000"/>
              </a:lnSpc>
              <a:buNone/>
            </a:pPr>
            <a:r>
              <a:rPr lang="en-US" sz="1350" dirty="0">
                <a:solidFill>
                  <a:srgbClr val="A1A1AA"/>
                </a:solidFill>
                <a:latin typeface="Arial" pitchFamily="34" charset="0"/>
                <a:ea typeface="Arial" pitchFamily="34" charset="-122"/>
                <a:cs typeface="Arial" pitchFamily="34" charset="-120"/>
              </a:rPr>
              <a:t>Measures every officer against the FRAC competencies their post requires, closes the gaps through iGOT Karmayogi and grounded practice from department material — and gives them AI agents that know where they are weak.</a:t>
            </a:r>
            <a:endParaRPr lang="en-US" sz="1350" dirty="0"/>
          </a:p>
        </p:txBody>
      </p:sp>
      <p:sp>
        <p:nvSpPr>
          <p:cNvPr id="7" name="Shape 4"/>
          <p:cNvSpPr/>
          <p:nvPr/>
        </p:nvSpPr>
        <p:spPr>
          <a:xfrm>
            <a:off x="640080" y="5349240"/>
            <a:ext cx="1143000" cy="347472"/>
          </a:xfrm>
          <a:prstGeom prst="roundRect">
            <a:avLst>
              <a:gd name="adj" fmla="val 50000"/>
            </a:avLst>
          </a:prstGeom>
          <a:solidFill>
            <a:srgbClr val="1E1E21"/>
          </a:solidFill>
          <a:ln w="9525">
            <a:solidFill>
              <a:srgbClr val="2C2C30"/>
            </a:solidFill>
            <a:prstDash val="solid"/>
          </a:ln>
        </p:spPr>
      </p:sp>
      <p:sp>
        <p:nvSpPr>
          <p:cNvPr id="8" name="Text 5"/>
          <p:cNvSpPr txBox="1"/>
          <p:nvPr/>
        </p:nvSpPr>
        <p:spPr>
          <a:xfrm>
            <a:off x="640080" y="5349240"/>
            <a:ext cx="1143000" cy="347472"/>
          </a:xfrm>
          <a:prstGeom prst="rect">
            <a:avLst/>
          </a:prstGeom>
          <a:noFill/>
          <a:ln/>
        </p:spPr>
        <p:txBody>
          <a:bodyPr wrap="square" lIns="0" tIns="0" rIns="0" bIns="0" rtlCol="0" anchor="ctr"/>
          <a:lstStyle/>
          <a:p>
            <a:pPr algn="ctr" indent="0" marL="0">
              <a:buNone/>
            </a:pPr>
            <a:r>
              <a:rPr lang="en-US" sz="1050" b="1" dirty="0">
                <a:solidFill>
                  <a:srgbClr val="E4E4E7"/>
                </a:solidFill>
                <a:latin typeface="Arial" pitchFamily="34" charset="0"/>
                <a:ea typeface="Arial" pitchFamily="34" charset="-122"/>
                <a:cs typeface="Arial" pitchFamily="34" charset="-120"/>
              </a:rPr>
              <a:t>Officer app</a:t>
            </a:r>
            <a:endParaRPr lang="en-US" sz="1050" dirty="0"/>
          </a:p>
        </p:txBody>
      </p:sp>
      <p:sp>
        <p:nvSpPr>
          <p:cNvPr id="9" name="Shape 6"/>
          <p:cNvSpPr/>
          <p:nvPr/>
        </p:nvSpPr>
        <p:spPr>
          <a:xfrm>
            <a:off x="1911096" y="5349240"/>
            <a:ext cx="1051560" cy="347472"/>
          </a:xfrm>
          <a:prstGeom prst="roundRect">
            <a:avLst>
              <a:gd name="adj" fmla="val 50000"/>
            </a:avLst>
          </a:prstGeom>
          <a:solidFill>
            <a:srgbClr val="1E1E21"/>
          </a:solidFill>
          <a:ln w="9525">
            <a:solidFill>
              <a:srgbClr val="2C2C30"/>
            </a:solidFill>
            <a:prstDash val="solid"/>
          </a:ln>
        </p:spPr>
      </p:sp>
      <p:sp>
        <p:nvSpPr>
          <p:cNvPr id="10" name="Text 7"/>
          <p:cNvSpPr txBox="1"/>
          <p:nvPr/>
        </p:nvSpPr>
        <p:spPr>
          <a:xfrm>
            <a:off x="1911096" y="5349240"/>
            <a:ext cx="1051560" cy="347472"/>
          </a:xfrm>
          <a:prstGeom prst="rect">
            <a:avLst/>
          </a:prstGeom>
          <a:noFill/>
          <a:ln/>
        </p:spPr>
        <p:txBody>
          <a:bodyPr wrap="square" lIns="0" tIns="0" rIns="0" bIns="0" rtlCol="0" anchor="ctr"/>
          <a:lstStyle/>
          <a:p>
            <a:pPr algn="ctr" indent="0" marL="0">
              <a:buNone/>
            </a:pPr>
            <a:r>
              <a:rPr lang="en-US" sz="1050" b="1" dirty="0">
                <a:solidFill>
                  <a:srgbClr val="E4E4E7"/>
                </a:solidFill>
                <a:latin typeface="Arial" pitchFamily="34" charset="0"/>
                <a:ea typeface="Arial" pitchFamily="34" charset="-122"/>
                <a:cs typeface="Arial" pitchFamily="34" charset="-120"/>
              </a:rPr>
              <a:t>Admin app</a:t>
            </a:r>
            <a:endParaRPr lang="en-US" sz="1050" dirty="0"/>
          </a:p>
        </p:txBody>
      </p:sp>
      <p:sp>
        <p:nvSpPr>
          <p:cNvPr id="11" name="Shape 8"/>
          <p:cNvSpPr/>
          <p:nvPr/>
        </p:nvSpPr>
        <p:spPr>
          <a:xfrm>
            <a:off x="3090672" y="5349240"/>
            <a:ext cx="1234440" cy="347472"/>
          </a:xfrm>
          <a:prstGeom prst="roundRect">
            <a:avLst>
              <a:gd name="adj" fmla="val 50000"/>
            </a:avLst>
          </a:prstGeom>
          <a:solidFill>
            <a:srgbClr val="1E1E21"/>
          </a:solidFill>
          <a:ln w="9525">
            <a:solidFill>
              <a:srgbClr val="2C2C30"/>
            </a:solidFill>
            <a:prstDash val="solid"/>
          </a:ln>
        </p:spPr>
      </p:sp>
      <p:sp>
        <p:nvSpPr>
          <p:cNvPr id="12" name="Text 9"/>
          <p:cNvSpPr txBox="1"/>
          <p:nvPr/>
        </p:nvSpPr>
        <p:spPr>
          <a:xfrm>
            <a:off x="3090672" y="5349240"/>
            <a:ext cx="1234440" cy="347472"/>
          </a:xfrm>
          <a:prstGeom prst="rect">
            <a:avLst/>
          </a:prstGeom>
          <a:noFill/>
          <a:ln/>
        </p:spPr>
        <p:txBody>
          <a:bodyPr wrap="square" lIns="0" tIns="0" rIns="0" bIns="0" rtlCol="0" anchor="ctr"/>
          <a:lstStyle/>
          <a:p>
            <a:pPr algn="ctr" indent="0" marL="0">
              <a:buNone/>
            </a:pPr>
            <a:r>
              <a:rPr lang="en-US" sz="1050" b="1" dirty="0">
                <a:solidFill>
                  <a:srgbClr val="E4E4E7"/>
                </a:solidFill>
                <a:latin typeface="Arial" pitchFamily="34" charset="0"/>
                <a:ea typeface="Arial" pitchFamily="34" charset="-122"/>
                <a:cs typeface="Arial" pitchFamily="34" charset="-120"/>
              </a:rPr>
              <a:t>AI Workspace</a:t>
            </a:r>
            <a:endParaRPr lang="en-US" sz="1050" dirty="0"/>
          </a:p>
        </p:txBody>
      </p:sp>
      <p:sp>
        <p:nvSpPr>
          <p:cNvPr id="13" name="Shape 10"/>
          <p:cNvSpPr/>
          <p:nvPr/>
        </p:nvSpPr>
        <p:spPr>
          <a:xfrm>
            <a:off x="4453128" y="5349240"/>
            <a:ext cx="1143000" cy="347472"/>
          </a:xfrm>
          <a:prstGeom prst="roundRect">
            <a:avLst>
              <a:gd name="adj" fmla="val 50000"/>
            </a:avLst>
          </a:prstGeom>
          <a:solidFill>
            <a:srgbClr val="1E1E21"/>
          </a:solidFill>
          <a:ln w="9525">
            <a:solidFill>
              <a:srgbClr val="2C2C30"/>
            </a:solidFill>
            <a:prstDash val="solid"/>
          </a:ln>
        </p:spPr>
      </p:sp>
      <p:sp>
        <p:nvSpPr>
          <p:cNvPr id="14" name="Text 11"/>
          <p:cNvSpPr txBox="1"/>
          <p:nvPr/>
        </p:nvSpPr>
        <p:spPr>
          <a:xfrm>
            <a:off x="4453128" y="5349240"/>
            <a:ext cx="1143000" cy="347472"/>
          </a:xfrm>
          <a:prstGeom prst="rect">
            <a:avLst/>
          </a:prstGeom>
          <a:noFill/>
          <a:ln/>
        </p:spPr>
        <p:txBody>
          <a:bodyPr wrap="square" lIns="0" tIns="0" rIns="0" bIns="0" rtlCol="0" anchor="ctr"/>
          <a:lstStyle/>
          <a:p>
            <a:pPr algn="ctr" indent="0" marL="0">
              <a:buNone/>
            </a:pPr>
            <a:r>
              <a:rPr lang="en-US" sz="1050" b="1" dirty="0">
                <a:solidFill>
                  <a:srgbClr val="E4E4E7"/>
                </a:solidFill>
                <a:latin typeface="Arial" pitchFamily="34" charset="0"/>
                <a:ea typeface="Arial" pitchFamily="34" charset="-122"/>
                <a:cs typeface="Arial" pitchFamily="34" charset="-120"/>
              </a:rPr>
              <a:t>Samiksha AI</a:t>
            </a:r>
            <a:endParaRPr lang="en-US" sz="1050" dirty="0"/>
          </a:p>
        </p:txBody>
      </p:sp>
      <p:pic>
        <p:nvPicPr>
          <p:cNvPr id="15" name="Image 1" descr="/Users/bonny/Desktop/Adreej projects/SIH 2026/docs/assets/mascot.png">    </p:cNvPr>
          <p:cNvPicPr>
            <a:picLocks noChangeAspect="1"/>
          </p:cNvPicPr>
          <p:nvPr/>
        </p:nvPicPr>
        <p:blipFill>
          <a:blip r:embed="rId2"/>
          <a:stretch>
            <a:fillRect/>
          </a:stretch>
        </p:blipFill>
        <p:spPr>
          <a:xfrm>
            <a:off x="4892040" y="914400"/>
            <a:ext cx="1188720" cy="1188720"/>
          </a:xfrm>
          <a:prstGeom prst="rect">
            <a:avLst/>
          </a:prstGeom>
        </p:spPr>
      </p:pic>
      <p:pic>
        <p:nvPicPr>
          <p:cNvPr id="16" name="Image 2" descr="/private/tmp/claude-501/-Users-bonny-Desktop-Adreej-projects-SIH-2026/9aad41f0-270d-4125-b657-0e332d72b56e/scratchpad/deck/img/03-today.png">    </p:cNvPr>
          <p:cNvPicPr>
            <a:picLocks noChangeAspect="1"/>
          </p:cNvPicPr>
          <p:nvPr/>
        </p:nvPicPr>
        <p:blipFill>
          <a:blip r:embed="rId3"/>
          <a:stretch>
            <a:fillRect/>
          </a:stretch>
        </p:blipFill>
        <p:spPr>
          <a:xfrm>
            <a:off x="6537960" y="1783080"/>
            <a:ext cx="1900600" cy="4114800"/>
          </a:xfrm>
          <a:prstGeom prst="rect">
            <a:avLst/>
          </a:prstGeom>
        </p:spPr>
      </p:pic>
      <p:pic>
        <p:nvPicPr>
          <p:cNvPr id="17" name="Image 3" descr="/private/tmp/claude-501/-Users-bonny-Desktop-Adreej-projects-SIH-2026/9aad41f0-270d-4125-b657-0e332d72b56e/scratchpad/deck/img/26-admin-dashboard.png">    </p:cNvPr>
          <p:cNvPicPr>
            <a:picLocks noChangeAspect="1"/>
          </p:cNvPicPr>
          <p:nvPr/>
        </p:nvPicPr>
        <p:blipFill>
          <a:blip r:embed="rId4"/>
          <a:stretch>
            <a:fillRect/>
          </a:stretch>
        </p:blipFill>
        <p:spPr>
          <a:xfrm>
            <a:off x="10104120" y="1783080"/>
            <a:ext cx="1900600" cy="4114800"/>
          </a:xfrm>
          <a:prstGeom prst="rect">
            <a:avLst/>
          </a:prstGeom>
        </p:spPr>
      </p:pic>
      <p:pic>
        <p:nvPicPr>
          <p:cNvPr id="18" name="Image 4" descr="/private/tmp/claude-501/-Users-bonny-Desktop-Adreej-projects-SIH-2026/9aad41f0-270d-4125-b657-0e332d72b56e/scratchpad/deck/img/04-insights-radar.png">    </p:cNvPr>
          <p:cNvPicPr>
            <a:picLocks noChangeAspect="1"/>
          </p:cNvPicPr>
          <p:nvPr/>
        </p:nvPicPr>
        <p:blipFill>
          <a:blip r:embed="rId5"/>
          <a:stretch>
            <a:fillRect/>
          </a:stretch>
        </p:blipFill>
        <p:spPr>
          <a:xfrm>
            <a:off x="8275320" y="1234440"/>
            <a:ext cx="2154014" cy="4663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THE PROBLEM</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Capacity building that cannot see the gap</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02</a:t>
            </a:r>
            <a:endParaRPr lang="en-US" sz="900" dirty="0"/>
          </a:p>
        </p:txBody>
      </p:sp>
      <p:sp>
        <p:nvSpPr>
          <p:cNvPr id="6" name="Shape 4"/>
          <p:cNvSpPr/>
          <p:nvPr/>
        </p:nvSpPr>
        <p:spPr>
          <a:xfrm>
            <a:off x="548640" y="1508760"/>
            <a:ext cx="3749040" cy="4526280"/>
          </a:xfrm>
          <a:prstGeom prst="roundRect">
            <a:avLst>
              <a:gd name="adj" fmla="val 2927"/>
            </a:avLst>
          </a:prstGeom>
          <a:solidFill>
            <a:srgbClr val="161618"/>
          </a:solidFill>
          <a:ln w="9525">
            <a:solidFill>
              <a:srgbClr val="2C2C30"/>
            </a:solidFill>
            <a:prstDash val="solid"/>
          </a:ln>
        </p:spPr>
      </p:sp>
      <p:sp>
        <p:nvSpPr>
          <p:cNvPr id="7" name="Text 5"/>
          <p:cNvSpPr txBox="1"/>
          <p:nvPr/>
        </p:nvSpPr>
        <p:spPr>
          <a:xfrm>
            <a:off x="822960" y="1737360"/>
            <a:ext cx="3291840" cy="228600"/>
          </a:xfrm>
          <a:prstGeom prst="rect">
            <a:avLst/>
          </a:prstGeom>
          <a:noFill/>
          <a:ln/>
        </p:spPr>
        <p:txBody>
          <a:bodyPr wrap="square" lIns="0" tIns="0" rIns="0" bIns="0" rtlCol="0" anchor="t"/>
          <a:lstStyle/>
          <a:p>
            <a:pPr indent="0" marL="0">
              <a:buNone/>
            </a:pPr>
            <a:r>
              <a:rPr lang="en-US" sz="950" b="1" spc="200" kern="0" dirty="0">
                <a:solidFill>
                  <a:srgbClr val="A1A1AA"/>
                </a:solidFill>
                <a:latin typeface="Arial" pitchFamily="34" charset="0"/>
                <a:ea typeface="Arial" pitchFamily="34" charset="-122"/>
                <a:cs typeface="Arial" pitchFamily="34" charset="-120"/>
              </a:rPr>
              <a:t>SIH26101  ·  MoSPI</a:t>
            </a:r>
            <a:endParaRPr lang="en-US" sz="950" dirty="0"/>
          </a:p>
        </p:txBody>
      </p:sp>
      <p:sp>
        <p:nvSpPr>
          <p:cNvPr id="8" name="Text 6"/>
          <p:cNvSpPr txBox="1"/>
          <p:nvPr/>
        </p:nvSpPr>
        <p:spPr>
          <a:xfrm>
            <a:off x="822960" y="2057400"/>
            <a:ext cx="3246120" cy="2651760"/>
          </a:xfrm>
          <a:prstGeom prst="rect">
            <a:avLst/>
          </a:prstGeom>
          <a:noFill/>
          <a:ln/>
        </p:spPr>
        <p:txBody>
          <a:bodyPr wrap="square" lIns="0" tIns="0" rIns="0" bIns="0" rtlCol="0" anchor="t"/>
          <a:lstStyle/>
          <a:p>
            <a:pPr indent="0" marL="0">
              <a:lnSpc>
                <a:spcPct val="120000"/>
              </a:lnSpc>
              <a:buNone/>
            </a:pPr>
            <a:r>
              <a:rPr lang="en-US" sz="1300" i="1" dirty="0">
                <a:solidFill>
                  <a:srgbClr val="FFFFFF"/>
                </a:solidFill>
                <a:latin typeface="Arial" pitchFamily="34" charset="0"/>
                <a:ea typeface="Arial" pitchFamily="34" charset="-122"/>
                <a:cs typeface="Arial" pitchFamily="34" charset="-120"/>
              </a:rPr>
              <a:t>“Develop an AI enabled learning platform that identifies competency gaps, recommends personalized training through integration with the iGOT Karmayogi ecosystem, and capable of generating Quizzes and MCQs from uploaded learning materials to strengthen capacity building in India's Official Statistical System.”</a:t>
            </a:r>
            <a:endParaRPr lang="en-US" sz="1300" dirty="0"/>
          </a:p>
        </p:txBody>
      </p:sp>
      <p:sp>
        <p:nvSpPr>
          <p:cNvPr id="9" name="Text 7"/>
          <p:cNvSpPr txBox="1"/>
          <p:nvPr/>
        </p:nvSpPr>
        <p:spPr>
          <a:xfrm>
            <a:off x="822960" y="4892040"/>
            <a:ext cx="3246120" cy="914400"/>
          </a:xfrm>
          <a:prstGeom prst="rect">
            <a:avLst/>
          </a:prstGeom>
          <a:noFill/>
          <a:ln/>
        </p:spPr>
        <p:txBody>
          <a:bodyPr wrap="square" lIns="0" tIns="0" rIns="0" bIns="0" rtlCol="0" anchor="t"/>
          <a:lstStyle/>
          <a:p>
            <a:pPr indent="0" marL="0">
              <a:lnSpc>
                <a:spcPct val="115000"/>
              </a:lnSpc>
              <a:buNone/>
            </a:pPr>
            <a:r>
              <a:rPr lang="en-US" sz="1100" dirty="0">
                <a:solidFill>
                  <a:srgbClr val="A1A1AA"/>
                </a:solidFill>
                <a:latin typeface="Arial" pitchFamily="34" charset="0"/>
                <a:ea typeface="Arial" pitchFamily="34" charset="-122"/>
                <a:cs typeface="Arial" pitchFamily="34" charset="-120"/>
              </a:rPr>
              <a:t>Thousands of officers across MoSPI, NSO, NSSTA and every state DES produce the figures behind budgets, monetary policy and welfare.</a:t>
            </a:r>
            <a:endParaRPr lang="en-US" sz="1100" dirty="0"/>
          </a:p>
        </p:txBody>
      </p:sp>
      <p:sp>
        <p:nvSpPr>
          <p:cNvPr id="10" name="Shape 8"/>
          <p:cNvSpPr/>
          <p:nvPr/>
        </p:nvSpPr>
        <p:spPr>
          <a:xfrm>
            <a:off x="4572000" y="1508760"/>
            <a:ext cx="3401568" cy="1216152"/>
          </a:xfrm>
          <a:prstGeom prst="roundRect">
            <a:avLst>
              <a:gd name="adj" fmla="val 9023"/>
            </a:avLst>
          </a:prstGeom>
          <a:solidFill>
            <a:srgbClr val="161618"/>
          </a:solidFill>
          <a:ln w="9525">
            <a:solidFill>
              <a:srgbClr val="2C2C30"/>
            </a:solidFill>
            <a:prstDash val="solid"/>
          </a:ln>
        </p:spPr>
      </p:sp>
      <p:sp>
        <p:nvSpPr>
          <p:cNvPr id="11" name="Shape 9"/>
          <p:cNvSpPr/>
          <p:nvPr/>
        </p:nvSpPr>
        <p:spPr>
          <a:xfrm>
            <a:off x="4773168" y="1728216"/>
            <a:ext cx="457200" cy="457200"/>
          </a:xfrm>
          <a:prstGeom prst="ellipse">
            <a:avLst/>
          </a:prstGeom>
          <a:solidFill>
            <a:srgbClr val="1E1E21"/>
          </a:solidFill>
          <a:ln w="9525">
            <a:solidFill>
              <a:srgbClr val="2C2C30"/>
            </a:solidFill>
            <a:prstDash val="solid"/>
          </a:ln>
        </p:spPr>
      </p:sp>
      <p:pic>
        <p:nvPicPr>
          <p:cNvPr id="12" name="Image 0" descr="preencoded.png">    </p:cNvPr>
          <p:cNvPicPr>
            <a:picLocks noChangeAspect="1"/>
          </p:cNvPicPr>
          <p:nvPr/>
        </p:nvPicPr>
        <p:blipFill>
          <a:blip r:embed="rId1"/>
          <a:stretch>
            <a:fillRect/>
          </a:stretch>
        </p:blipFill>
        <p:spPr>
          <a:xfrm>
            <a:off x="4882896" y="1837944"/>
            <a:ext cx="237744" cy="237744"/>
          </a:xfrm>
          <a:prstGeom prst="rect">
            <a:avLst/>
          </a:prstGeom>
        </p:spPr>
      </p:pic>
      <p:sp>
        <p:nvSpPr>
          <p:cNvPr id="13" name="Text 10"/>
          <p:cNvSpPr txBox="1"/>
          <p:nvPr/>
        </p:nvSpPr>
        <p:spPr>
          <a:xfrm>
            <a:off x="5376672" y="1709928"/>
            <a:ext cx="24688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Skills are shifting</a:t>
            </a:r>
            <a:endParaRPr lang="en-US" sz="1400" dirty="0"/>
          </a:p>
        </p:txBody>
      </p:sp>
      <p:sp>
        <p:nvSpPr>
          <p:cNvPr id="14" name="Text 11"/>
          <p:cNvSpPr txBox="1"/>
          <p:nvPr/>
        </p:nvSpPr>
        <p:spPr>
          <a:xfrm>
            <a:off x="5376672" y="2020824"/>
            <a:ext cx="2432304" cy="640080"/>
          </a:xfrm>
          <a:prstGeom prst="rect">
            <a:avLst/>
          </a:prstGeom>
          <a:noFill/>
          <a:ln/>
        </p:spPr>
        <p:txBody>
          <a:bodyPr wrap="square" lIns="0" tIns="0" rIns="0" bIns="0" rtlCol="0" anchor="t"/>
          <a:lstStyle/>
          <a:p>
            <a:pPr indent="0" marL="0">
              <a:lnSpc>
                <a:spcPct val="110000"/>
              </a:lnSpc>
              <a:buNone/>
            </a:pPr>
            <a:r>
              <a:rPr lang="en-US" sz="1050" dirty="0">
                <a:solidFill>
                  <a:srgbClr val="A1A1AA"/>
                </a:solidFill>
                <a:latin typeface="Arial" pitchFamily="34" charset="0"/>
                <a:ea typeface="Arial" pitchFamily="34" charset="-122"/>
                <a:cs typeface="Arial" pitchFamily="34" charset="-120"/>
              </a:rPr>
              <a:t>Python, SQL, GIS and the DPDP Act are now expected alongside sampling and estimation.</a:t>
            </a:r>
            <a:endParaRPr lang="en-US" sz="1050" dirty="0"/>
          </a:p>
        </p:txBody>
      </p:sp>
      <p:sp>
        <p:nvSpPr>
          <p:cNvPr id="15" name="Shape 12"/>
          <p:cNvSpPr/>
          <p:nvPr/>
        </p:nvSpPr>
        <p:spPr>
          <a:xfrm>
            <a:off x="8138160" y="1508760"/>
            <a:ext cx="3401568" cy="1216152"/>
          </a:xfrm>
          <a:prstGeom prst="roundRect">
            <a:avLst>
              <a:gd name="adj" fmla="val 9023"/>
            </a:avLst>
          </a:prstGeom>
          <a:solidFill>
            <a:srgbClr val="161618"/>
          </a:solidFill>
          <a:ln w="9525">
            <a:solidFill>
              <a:srgbClr val="2C2C30"/>
            </a:solidFill>
            <a:prstDash val="solid"/>
          </a:ln>
        </p:spPr>
      </p:sp>
      <p:sp>
        <p:nvSpPr>
          <p:cNvPr id="16" name="Shape 13"/>
          <p:cNvSpPr/>
          <p:nvPr/>
        </p:nvSpPr>
        <p:spPr>
          <a:xfrm>
            <a:off x="8339328" y="1728216"/>
            <a:ext cx="457200" cy="457200"/>
          </a:xfrm>
          <a:prstGeom prst="ellipse">
            <a:avLst/>
          </a:prstGeom>
          <a:solidFill>
            <a:srgbClr val="1E1E21"/>
          </a:solidFill>
          <a:ln w="9525">
            <a:solidFill>
              <a:srgbClr val="2C2C30"/>
            </a:solidFill>
            <a:prstDash val="solid"/>
          </a:ln>
        </p:spPr>
      </p:sp>
      <p:pic>
        <p:nvPicPr>
          <p:cNvPr id="17" name="Image 1" descr="preencoded.png">    </p:cNvPr>
          <p:cNvPicPr>
            <a:picLocks noChangeAspect="1"/>
          </p:cNvPicPr>
          <p:nvPr/>
        </p:nvPicPr>
        <p:blipFill>
          <a:blip r:embed="rId2"/>
          <a:stretch>
            <a:fillRect/>
          </a:stretch>
        </p:blipFill>
        <p:spPr>
          <a:xfrm>
            <a:off x="8449056" y="1837944"/>
            <a:ext cx="237744" cy="237744"/>
          </a:xfrm>
          <a:prstGeom prst="rect">
            <a:avLst/>
          </a:prstGeom>
        </p:spPr>
      </p:pic>
      <p:sp>
        <p:nvSpPr>
          <p:cNvPr id="18" name="Text 14"/>
          <p:cNvSpPr txBox="1"/>
          <p:nvPr/>
        </p:nvSpPr>
        <p:spPr>
          <a:xfrm>
            <a:off x="8942832" y="1709928"/>
            <a:ext cx="24688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Gaps are self-reported</a:t>
            </a:r>
            <a:endParaRPr lang="en-US" sz="1400" dirty="0"/>
          </a:p>
        </p:txBody>
      </p:sp>
      <p:sp>
        <p:nvSpPr>
          <p:cNvPr id="19" name="Text 15"/>
          <p:cNvSpPr txBox="1"/>
          <p:nvPr/>
        </p:nvSpPr>
        <p:spPr>
          <a:xfrm>
            <a:off x="8942832" y="2020824"/>
            <a:ext cx="2432304" cy="640080"/>
          </a:xfrm>
          <a:prstGeom prst="rect">
            <a:avLst/>
          </a:prstGeom>
          <a:noFill/>
          <a:ln/>
        </p:spPr>
        <p:txBody>
          <a:bodyPr wrap="square" lIns="0" tIns="0" rIns="0" bIns="0" rtlCol="0" anchor="t"/>
          <a:lstStyle/>
          <a:p>
            <a:pPr indent="0" marL="0">
              <a:lnSpc>
                <a:spcPct val="110000"/>
              </a:lnSpc>
              <a:buNone/>
            </a:pPr>
            <a:r>
              <a:rPr lang="en-US" sz="1050" dirty="0">
                <a:solidFill>
                  <a:srgbClr val="A1A1AA"/>
                </a:solidFill>
                <a:latin typeface="Arial" pitchFamily="34" charset="0"/>
                <a:ea typeface="Arial" pitchFamily="34" charset="-122"/>
                <a:cs typeface="Arial" pitchFamily="34" charset="-120"/>
              </a:rPr>
              <a:t>Nominations and forms — and people systematically misjudge their own skill.</a:t>
            </a:r>
            <a:endParaRPr lang="en-US" sz="1050" dirty="0"/>
          </a:p>
        </p:txBody>
      </p:sp>
      <p:sp>
        <p:nvSpPr>
          <p:cNvPr id="20" name="Shape 16"/>
          <p:cNvSpPr/>
          <p:nvPr/>
        </p:nvSpPr>
        <p:spPr>
          <a:xfrm>
            <a:off x="4572000" y="2852928"/>
            <a:ext cx="3401568" cy="1216152"/>
          </a:xfrm>
          <a:prstGeom prst="roundRect">
            <a:avLst>
              <a:gd name="adj" fmla="val 9023"/>
            </a:avLst>
          </a:prstGeom>
          <a:solidFill>
            <a:srgbClr val="161618"/>
          </a:solidFill>
          <a:ln w="9525">
            <a:solidFill>
              <a:srgbClr val="2C2C30"/>
            </a:solidFill>
            <a:prstDash val="solid"/>
          </a:ln>
        </p:spPr>
      </p:sp>
      <p:sp>
        <p:nvSpPr>
          <p:cNvPr id="21" name="Shape 17"/>
          <p:cNvSpPr/>
          <p:nvPr/>
        </p:nvSpPr>
        <p:spPr>
          <a:xfrm>
            <a:off x="4773168" y="3072384"/>
            <a:ext cx="457200" cy="457200"/>
          </a:xfrm>
          <a:prstGeom prst="ellipse">
            <a:avLst/>
          </a:prstGeom>
          <a:solidFill>
            <a:srgbClr val="1E1E21"/>
          </a:solidFill>
          <a:ln w="9525">
            <a:solidFill>
              <a:srgbClr val="2C2C30"/>
            </a:solidFill>
            <a:prstDash val="solid"/>
          </a:ln>
        </p:spPr>
      </p:sp>
      <p:pic>
        <p:nvPicPr>
          <p:cNvPr id="22" name="Image 2" descr="preencoded.png">    </p:cNvPr>
          <p:cNvPicPr>
            <a:picLocks noChangeAspect="1"/>
          </p:cNvPicPr>
          <p:nvPr/>
        </p:nvPicPr>
        <p:blipFill>
          <a:blip r:embed="rId3"/>
          <a:stretch>
            <a:fillRect/>
          </a:stretch>
        </p:blipFill>
        <p:spPr>
          <a:xfrm>
            <a:off x="4882896" y="3182112"/>
            <a:ext cx="237744" cy="237744"/>
          </a:xfrm>
          <a:prstGeom prst="rect">
            <a:avLst/>
          </a:prstGeom>
        </p:spPr>
      </p:pic>
      <p:sp>
        <p:nvSpPr>
          <p:cNvPr id="23" name="Text 18"/>
          <p:cNvSpPr txBox="1"/>
          <p:nvPr/>
        </p:nvSpPr>
        <p:spPr>
          <a:xfrm>
            <a:off x="5376672" y="3054096"/>
            <a:ext cx="24688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Training is generic</a:t>
            </a:r>
            <a:endParaRPr lang="en-US" sz="1400" dirty="0"/>
          </a:p>
        </p:txBody>
      </p:sp>
      <p:sp>
        <p:nvSpPr>
          <p:cNvPr id="24" name="Text 19"/>
          <p:cNvSpPr txBox="1"/>
          <p:nvPr/>
        </p:nvSpPr>
        <p:spPr>
          <a:xfrm>
            <a:off x="5376672" y="3364992"/>
            <a:ext cx="2432304" cy="640080"/>
          </a:xfrm>
          <a:prstGeom prst="rect">
            <a:avLst/>
          </a:prstGeom>
          <a:noFill/>
          <a:ln/>
        </p:spPr>
        <p:txBody>
          <a:bodyPr wrap="square" lIns="0" tIns="0" rIns="0" bIns="0" rtlCol="0" anchor="t"/>
          <a:lstStyle/>
          <a:p>
            <a:pPr indent="0" marL="0">
              <a:lnSpc>
                <a:spcPct val="110000"/>
              </a:lnSpc>
              <a:buNone/>
            </a:pPr>
            <a:r>
              <a:rPr lang="en-US" sz="1050" dirty="0">
                <a:solidFill>
                  <a:srgbClr val="A1A1AA"/>
                </a:solidFill>
                <a:latin typeface="Arial" pitchFamily="34" charset="0"/>
                <a:ea typeface="Arial" pitchFamily="34" charset="-122"/>
                <a:cs typeface="Arial" pitchFamily="34" charset="-120"/>
              </a:rPr>
              <a:t>Large catalogues, but no order and no link to an individual's gap.</a:t>
            </a:r>
            <a:endParaRPr lang="en-US" sz="1050" dirty="0"/>
          </a:p>
        </p:txBody>
      </p:sp>
      <p:sp>
        <p:nvSpPr>
          <p:cNvPr id="25" name="Shape 20"/>
          <p:cNvSpPr/>
          <p:nvPr/>
        </p:nvSpPr>
        <p:spPr>
          <a:xfrm>
            <a:off x="8138160" y="2852928"/>
            <a:ext cx="3401568" cy="1216152"/>
          </a:xfrm>
          <a:prstGeom prst="roundRect">
            <a:avLst>
              <a:gd name="adj" fmla="val 9023"/>
            </a:avLst>
          </a:prstGeom>
          <a:solidFill>
            <a:srgbClr val="161618"/>
          </a:solidFill>
          <a:ln w="9525">
            <a:solidFill>
              <a:srgbClr val="2C2C30"/>
            </a:solidFill>
            <a:prstDash val="solid"/>
          </a:ln>
        </p:spPr>
      </p:sp>
      <p:sp>
        <p:nvSpPr>
          <p:cNvPr id="26" name="Shape 21"/>
          <p:cNvSpPr/>
          <p:nvPr/>
        </p:nvSpPr>
        <p:spPr>
          <a:xfrm>
            <a:off x="8339328" y="3072384"/>
            <a:ext cx="457200" cy="457200"/>
          </a:xfrm>
          <a:prstGeom prst="ellipse">
            <a:avLst/>
          </a:prstGeom>
          <a:solidFill>
            <a:srgbClr val="1E1E21"/>
          </a:solidFill>
          <a:ln w="9525">
            <a:solidFill>
              <a:srgbClr val="2C2C30"/>
            </a:solidFill>
            <a:prstDash val="solid"/>
          </a:ln>
        </p:spPr>
      </p:sp>
      <p:pic>
        <p:nvPicPr>
          <p:cNvPr id="27" name="Image 3" descr="preencoded.png">    </p:cNvPr>
          <p:cNvPicPr>
            <a:picLocks noChangeAspect="1"/>
          </p:cNvPicPr>
          <p:nvPr/>
        </p:nvPicPr>
        <p:blipFill>
          <a:blip r:embed="rId4"/>
          <a:stretch>
            <a:fillRect/>
          </a:stretch>
        </p:blipFill>
        <p:spPr>
          <a:xfrm>
            <a:off x="8449056" y="3182112"/>
            <a:ext cx="237744" cy="237744"/>
          </a:xfrm>
          <a:prstGeom prst="rect">
            <a:avLst/>
          </a:prstGeom>
        </p:spPr>
      </p:pic>
      <p:sp>
        <p:nvSpPr>
          <p:cNvPr id="28" name="Text 22"/>
          <p:cNvSpPr txBox="1"/>
          <p:nvPr/>
        </p:nvSpPr>
        <p:spPr>
          <a:xfrm>
            <a:off x="8942832" y="3054096"/>
            <a:ext cx="24688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MCQs are hand-written</a:t>
            </a:r>
            <a:endParaRPr lang="en-US" sz="1400" dirty="0"/>
          </a:p>
        </p:txBody>
      </p:sp>
      <p:sp>
        <p:nvSpPr>
          <p:cNvPr id="29" name="Text 23"/>
          <p:cNvSpPr txBox="1"/>
          <p:nvPr/>
        </p:nvSpPr>
        <p:spPr>
          <a:xfrm>
            <a:off x="8942832" y="3364992"/>
            <a:ext cx="2432304" cy="640080"/>
          </a:xfrm>
          <a:prstGeom prst="rect">
            <a:avLst/>
          </a:prstGeom>
          <a:noFill/>
          <a:ln/>
        </p:spPr>
        <p:txBody>
          <a:bodyPr wrap="square" lIns="0" tIns="0" rIns="0" bIns="0" rtlCol="0" anchor="t"/>
          <a:lstStyle/>
          <a:p>
            <a:pPr indent="0" marL="0">
              <a:lnSpc>
                <a:spcPct val="110000"/>
              </a:lnSpc>
              <a:buNone/>
            </a:pPr>
            <a:r>
              <a:rPr lang="en-US" sz="1050" dirty="0">
                <a:solidFill>
                  <a:srgbClr val="A1A1AA"/>
                </a:solidFill>
                <a:latin typeface="Arial" pitchFamily="34" charset="0"/>
                <a:ea typeface="Arial" pitchFamily="34" charset="-122"/>
                <a:cs typeface="Arial" pitchFamily="34" charset="-120"/>
              </a:rPr>
              <a:t>Few assessments exist; handbooks and circulars are read once and forgotten.</a:t>
            </a:r>
            <a:endParaRPr lang="en-US" sz="1050" dirty="0"/>
          </a:p>
        </p:txBody>
      </p:sp>
      <p:sp>
        <p:nvSpPr>
          <p:cNvPr id="30" name="Shape 24"/>
          <p:cNvSpPr/>
          <p:nvPr/>
        </p:nvSpPr>
        <p:spPr>
          <a:xfrm>
            <a:off x="4572000" y="4197096"/>
            <a:ext cx="3401568" cy="1216152"/>
          </a:xfrm>
          <a:prstGeom prst="roundRect">
            <a:avLst>
              <a:gd name="adj" fmla="val 9023"/>
            </a:avLst>
          </a:prstGeom>
          <a:solidFill>
            <a:srgbClr val="161618"/>
          </a:solidFill>
          <a:ln w="9525">
            <a:solidFill>
              <a:srgbClr val="2C2C30"/>
            </a:solidFill>
            <a:prstDash val="solid"/>
          </a:ln>
        </p:spPr>
      </p:sp>
      <p:sp>
        <p:nvSpPr>
          <p:cNvPr id="31" name="Shape 25"/>
          <p:cNvSpPr/>
          <p:nvPr/>
        </p:nvSpPr>
        <p:spPr>
          <a:xfrm>
            <a:off x="4773168" y="4416552"/>
            <a:ext cx="457200" cy="457200"/>
          </a:xfrm>
          <a:prstGeom prst="ellipse">
            <a:avLst/>
          </a:prstGeom>
          <a:solidFill>
            <a:srgbClr val="1E1E21"/>
          </a:solidFill>
          <a:ln w="9525">
            <a:solidFill>
              <a:srgbClr val="2C2C30"/>
            </a:solidFill>
            <a:prstDash val="solid"/>
          </a:ln>
        </p:spPr>
      </p:sp>
      <p:pic>
        <p:nvPicPr>
          <p:cNvPr id="32" name="Image 4" descr="preencoded.png">    </p:cNvPr>
          <p:cNvPicPr>
            <a:picLocks noChangeAspect="1"/>
          </p:cNvPicPr>
          <p:nvPr/>
        </p:nvPicPr>
        <p:blipFill>
          <a:blip r:embed="rId5"/>
          <a:stretch>
            <a:fillRect/>
          </a:stretch>
        </p:blipFill>
        <p:spPr>
          <a:xfrm>
            <a:off x="4882896" y="4526280"/>
            <a:ext cx="237744" cy="237744"/>
          </a:xfrm>
          <a:prstGeom prst="rect">
            <a:avLst/>
          </a:prstGeom>
        </p:spPr>
      </p:pic>
      <p:sp>
        <p:nvSpPr>
          <p:cNvPr id="33" name="Text 26"/>
          <p:cNvSpPr txBox="1"/>
          <p:nvPr/>
        </p:nvSpPr>
        <p:spPr>
          <a:xfrm>
            <a:off x="5376672" y="4398264"/>
            <a:ext cx="24688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No workforce view</a:t>
            </a:r>
            <a:endParaRPr lang="en-US" sz="1400" dirty="0"/>
          </a:p>
        </p:txBody>
      </p:sp>
      <p:sp>
        <p:nvSpPr>
          <p:cNvPr id="34" name="Text 27"/>
          <p:cNvSpPr txBox="1"/>
          <p:nvPr/>
        </p:nvSpPr>
        <p:spPr>
          <a:xfrm>
            <a:off x="5376672" y="4709160"/>
            <a:ext cx="2432304" cy="640080"/>
          </a:xfrm>
          <a:prstGeom prst="rect">
            <a:avLst/>
          </a:prstGeom>
          <a:noFill/>
          <a:ln/>
        </p:spPr>
        <p:txBody>
          <a:bodyPr wrap="square" lIns="0" tIns="0" rIns="0" bIns="0" rtlCol="0" anchor="t"/>
          <a:lstStyle/>
          <a:p>
            <a:pPr indent="0" marL="0">
              <a:lnSpc>
                <a:spcPct val="110000"/>
              </a:lnSpc>
              <a:buNone/>
            </a:pPr>
            <a:r>
              <a:rPr lang="en-US" sz="1050" dirty="0">
                <a:solidFill>
                  <a:srgbClr val="A1A1AA"/>
                </a:solidFill>
                <a:latin typeface="Arial" pitchFamily="34" charset="0"/>
                <a:ea typeface="Arial" pitchFamily="34" charset="-122"/>
                <a:cs typeface="Arial" pitchFamily="34" charset="-120"/>
              </a:rPr>
              <a:t>Enrolment counts, not where a directorate is collectively weak.</a:t>
            </a:r>
            <a:endParaRPr lang="en-US" sz="1050" dirty="0"/>
          </a:p>
        </p:txBody>
      </p:sp>
      <p:sp>
        <p:nvSpPr>
          <p:cNvPr id="35" name="Shape 28"/>
          <p:cNvSpPr/>
          <p:nvPr/>
        </p:nvSpPr>
        <p:spPr>
          <a:xfrm>
            <a:off x="8138160" y="4197096"/>
            <a:ext cx="3401568" cy="1216152"/>
          </a:xfrm>
          <a:prstGeom prst="roundRect">
            <a:avLst>
              <a:gd name="adj" fmla="val 9023"/>
            </a:avLst>
          </a:prstGeom>
          <a:solidFill>
            <a:srgbClr val="161618"/>
          </a:solidFill>
          <a:ln w="9525">
            <a:solidFill>
              <a:srgbClr val="2C2C30"/>
            </a:solidFill>
            <a:prstDash val="solid"/>
          </a:ln>
        </p:spPr>
      </p:sp>
      <p:sp>
        <p:nvSpPr>
          <p:cNvPr id="36" name="Shape 29"/>
          <p:cNvSpPr/>
          <p:nvPr/>
        </p:nvSpPr>
        <p:spPr>
          <a:xfrm>
            <a:off x="8339328" y="4416552"/>
            <a:ext cx="457200" cy="457200"/>
          </a:xfrm>
          <a:prstGeom prst="ellipse">
            <a:avLst/>
          </a:prstGeom>
          <a:solidFill>
            <a:srgbClr val="1E1E21"/>
          </a:solidFill>
          <a:ln w="9525">
            <a:solidFill>
              <a:srgbClr val="2C2C30"/>
            </a:solidFill>
            <a:prstDash val="solid"/>
          </a:ln>
        </p:spPr>
      </p:sp>
      <p:pic>
        <p:nvPicPr>
          <p:cNvPr id="37" name="Image 5" descr="preencoded.png">    </p:cNvPr>
          <p:cNvPicPr>
            <a:picLocks noChangeAspect="1"/>
          </p:cNvPicPr>
          <p:nvPr/>
        </p:nvPicPr>
        <p:blipFill>
          <a:blip r:embed="rId6"/>
          <a:stretch>
            <a:fillRect/>
          </a:stretch>
        </p:blipFill>
        <p:spPr>
          <a:xfrm>
            <a:off x="8449056" y="4526280"/>
            <a:ext cx="237744" cy="237744"/>
          </a:xfrm>
          <a:prstGeom prst="rect">
            <a:avLst/>
          </a:prstGeom>
        </p:spPr>
      </p:pic>
      <p:sp>
        <p:nvSpPr>
          <p:cNvPr id="38" name="Text 30"/>
          <p:cNvSpPr txBox="1"/>
          <p:nvPr/>
        </p:nvSpPr>
        <p:spPr>
          <a:xfrm>
            <a:off x="8942832" y="4398264"/>
            <a:ext cx="24688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AI does work, not learning</a:t>
            </a:r>
            <a:endParaRPr lang="en-US" sz="1400" dirty="0"/>
          </a:p>
        </p:txBody>
      </p:sp>
      <p:sp>
        <p:nvSpPr>
          <p:cNvPr id="39" name="Text 31"/>
          <p:cNvSpPr txBox="1"/>
          <p:nvPr/>
        </p:nvSpPr>
        <p:spPr>
          <a:xfrm>
            <a:off x="8942832" y="4709160"/>
            <a:ext cx="2432304" cy="640080"/>
          </a:xfrm>
          <a:prstGeom prst="rect">
            <a:avLst/>
          </a:prstGeom>
          <a:noFill/>
          <a:ln/>
        </p:spPr>
        <p:txBody>
          <a:bodyPr wrap="square" lIns="0" tIns="0" rIns="0" bIns="0" rtlCol="0" anchor="t"/>
          <a:lstStyle/>
          <a:p>
            <a:pPr indent="0" marL="0">
              <a:lnSpc>
                <a:spcPct val="110000"/>
              </a:lnSpc>
              <a:buNone/>
            </a:pPr>
            <a:r>
              <a:rPr lang="en-US" sz="1050" dirty="0">
                <a:solidFill>
                  <a:srgbClr val="A1A1AA"/>
                </a:solidFill>
                <a:latin typeface="Arial" pitchFamily="34" charset="0"/>
                <a:ea typeface="Arial" pitchFamily="34" charset="-122"/>
                <a:cs typeface="Arial" pitchFamily="34" charset="-120"/>
              </a:rPr>
              <a:t>Productivity rises while capability — and dependency — stay invisible.</a:t>
            </a:r>
            <a:endParaRPr lang="en-US" sz="1050" dirty="0"/>
          </a:p>
        </p:txBody>
      </p:sp>
      <p:sp>
        <p:nvSpPr>
          <p:cNvPr id="40" name="Shape 32"/>
          <p:cNvSpPr/>
          <p:nvPr/>
        </p:nvSpPr>
        <p:spPr>
          <a:xfrm>
            <a:off x="4572000" y="5596128"/>
            <a:ext cx="6967728" cy="457200"/>
          </a:xfrm>
          <a:prstGeom prst="roundRect">
            <a:avLst>
              <a:gd name="adj" fmla="val 24000"/>
            </a:avLst>
          </a:prstGeom>
          <a:solidFill>
            <a:srgbClr val="1E1E21"/>
          </a:solidFill>
          <a:ln w="9525">
            <a:solidFill>
              <a:srgbClr val="2C2C30"/>
            </a:solidFill>
            <a:prstDash val="solid"/>
          </a:ln>
        </p:spPr>
      </p:sp>
      <p:sp>
        <p:nvSpPr>
          <p:cNvPr id="41" name="Text 33"/>
          <p:cNvSpPr txBox="1"/>
          <p:nvPr/>
        </p:nvSpPr>
        <p:spPr>
          <a:xfrm>
            <a:off x="4754880" y="5596128"/>
            <a:ext cx="6675120" cy="457200"/>
          </a:xfrm>
          <a:prstGeom prst="rect">
            <a:avLst/>
          </a:prstGeom>
          <a:noFill/>
          <a:ln/>
        </p:spPr>
        <p:txBody>
          <a:bodyPr wrap="square" lIns="0" tIns="0" rIns="0" bIns="0" rtlCol="0" anchor="ctr"/>
          <a:lstStyle/>
          <a:p>
            <a:pPr indent="0" marL="0">
              <a:buNone/>
            </a:pPr>
            <a:r>
              <a:rPr lang="en-US" sz="1250" dirty="0">
                <a:solidFill>
                  <a:srgbClr val="A1A1AA"/>
                </a:solidFill>
                <a:latin typeface="Arial" pitchFamily="34" charset="0"/>
                <a:ea typeface="Arial" pitchFamily="34" charset="-122"/>
                <a:cs typeface="Arial" pitchFamily="34" charset="-120"/>
              </a:rPr>
              <a:t>The statement hides </a:t>
            </a:r>
            <a:pPr indent="0" marL="0">
              <a:buNone/>
            </a:pPr>
            <a:r>
              <a:rPr lang="en-US" sz="1250" b="1" dirty="0">
                <a:solidFill>
                  <a:srgbClr val="FFFFFF"/>
                </a:solidFill>
                <a:latin typeface="Arial" pitchFamily="34" charset="0"/>
                <a:ea typeface="Arial" pitchFamily="34" charset="-122"/>
                <a:cs typeface="Arial" pitchFamily="34" charset="-120"/>
              </a:rPr>
              <a:t>two AI engines × two audiences</a:t>
            </a:r>
            <a:pPr indent="0" marL="0">
              <a:buNone/>
            </a:pPr>
            <a:r>
              <a:rPr lang="en-US" sz="1250" dirty="0">
                <a:solidFill>
                  <a:srgbClr val="A1A1AA"/>
                </a:solidFill>
                <a:latin typeface="Arial" pitchFamily="34" charset="0"/>
                <a:ea typeface="Arial" pitchFamily="34" charset="-122"/>
                <a:cs typeface="Arial" pitchFamily="34" charset="-120"/>
              </a:rPr>
              <a:t> — most solutions build only half.</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THE SOLUTION</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Two halves that feed each other — the loop is the point</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03</a:t>
            </a:r>
            <a:endParaRPr lang="en-US" sz="900" dirty="0"/>
          </a:p>
        </p:txBody>
      </p:sp>
      <p:sp>
        <p:nvSpPr>
          <p:cNvPr id="6" name="Shape 4"/>
          <p:cNvSpPr/>
          <p:nvPr/>
        </p:nvSpPr>
        <p:spPr>
          <a:xfrm>
            <a:off x="548640" y="1508760"/>
            <a:ext cx="4206240" cy="3246120"/>
          </a:xfrm>
          <a:prstGeom prst="roundRect">
            <a:avLst>
              <a:gd name="adj" fmla="val 3380"/>
            </a:avLst>
          </a:prstGeom>
          <a:solidFill>
            <a:srgbClr val="161618"/>
          </a:solidFill>
          <a:ln w="9525">
            <a:solidFill>
              <a:srgbClr val="2C2C30"/>
            </a:solidFill>
            <a:prstDash val="solid"/>
          </a:ln>
        </p:spPr>
      </p:sp>
      <p:sp>
        <p:nvSpPr>
          <p:cNvPr id="7" name="Text 5"/>
          <p:cNvSpPr txBox="1"/>
          <p:nvPr/>
        </p:nvSpPr>
        <p:spPr>
          <a:xfrm>
            <a:off x="822960" y="1719072"/>
            <a:ext cx="3657600" cy="228600"/>
          </a:xfrm>
          <a:prstGeom prst="rect">
            <a:avLst/>
          </a:prstGeom>
          <a:noFill/>
          <a:ln/>
        </p:spPr>
        <p:txBody>
          <a:bodyPr wrap="square" lIns="0" tIns="0" rIns="0" bIns="0" rtlCol="0" anchor="t"/>
          <a:lstStyle/>
          <a:p>
            <a:pPr indent="0" marL="0">
              <a:buNone/>
            </a:pPr>
            <a:r>
              <a:rPr lang="en-US" sz="1000" b="1" spc="200" kern="0" dirty="0">
                <a:solidFill>
                  <a:srgbClr val="A1A1AA"/>
                </a:solidFill>
                <a:latin typeface="Arial" pitchFamily="34" charset="0"/>
                <a:ea typeface="Arial" pitchFamily="34" charset="-122"/>
                <a:cs typeface="Arial" pitchFamily="34" charset="-120"/>
              </a:rPr>
              <a:t>LEARN  ·  MOBILE APP</a:t>
            </a:r>
            <a:endParaRPr lang="en-US" sz="1000" dirty="0"/>
          </a:p>
        </p:txBody>
      </p:sp>
      <p:sp>
        <p:nvSpPr>
          <p:cNvPr id="8" name="Text 6"/>
          <p:cNvSpPr txBox="1"/>
          <p:nvPr/>
        </p:nvSpPr>
        <p:spPr>
          <a:xfrm>
            <a:off x="822960" y="1965960"/>
            <a:ext cx="3657600" cy="4572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Measure &amp; teach</a:t>
            </a:r>
            <a:endParaRPr lang="en-US" sz="2200" dirty="0"/>
          </a:p>
        </p:txBody>
      </p:sp>
      <p:sp>
        <p:nvSpPr>
          <p:cNvPr id="9" name="Text 7"/>
          <p:cNvSpPr txBox="1"/>
          <p:nvPr/>
        </p:nvSpPr>
        <p:spPr>
          <a:xfrm>
            <a:off x="822960" y="2514600"/>
            <a:ext cx="3749040" cy="21031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E4E4E7"/>
                </a:solidFill>
                <a:latin typeface="Arial" pitchFamily="34" charset="0"/>
                <a:ea typeface="Arial" pitchFamily="34" charset="-122"/>
                <a:cs typeface="Arial" pitchFamily="34" charset="-120"/>
              </a:rPr>
              <a:t>Role → FRAC competency requirements</a:t>
            </a:r>
            <a:endParaRPr lang="en-US" sz="1200" dirty="0"/>
          </a:p>
          <a:p>
            <a:pPr marL="177800" indent="-177800">
              <a:spcAft>
                <a:spcPts val="500"/>
              </a:spcAft>
              <a:buSzPct val="100000"/>
              <a:buChar char="•"/>
            </a:pPr>
            <a:r>
              <a:rPr lang="en-US" sz="1200" dirty="0">
                <a:solidFill>
                  <a:srgbClr val="E4E4E7"/>
                </a:solidFill>
                <a:latin typeface="Arial" pitchFamily="34" charset="0"/>
                <a:ea typeface="Arial" pitchFamily="34" charset="-122"/>
                <a:cs typeface="Arial" pitchFamily="34" charset="-120"/>
              </a:rPr>
              <a:t>Adaptive test &amp; quizzes → evidence</a:t>
            </a:r>
            <a:endParaRPr lang="en-US" sz="1200" dirty="0"/>
          </a:p>
          <a:p>
            <a:pPr marL="177800" indent="-177800">
              <a:spcAft>
                <a:spcPts val="500"/>
              </a:spcAft>
              <a:buSzPct val="100000"/>
              <a:buChar char="•"/>
            </a:pPr>
            <a:r>
              <a:rPr lang="en-US" sz="1200" dirty="0">
                <a:solidFill>
                  <a:srgbClr val="E4E4E7"/>
                </a:solidFill>
                <a:latin typeface="Arial" pitchFamily="34" charset="0"/>
                <a:ea typeface="Arial" pitchFamily="34" charset="-122"/>
                <a:cs typeface="Arial" pitchFamily="34" charset="-120"/>
              </a:rPr>
              <a:t>SQL gap arithmetic with confidence</a:t>
            </a:r>
            <a:endParaRPr lang="en-US" sz="1200" dirty="0"/>
          </a:p>
          <a:p>
            <a:pPr marL="177800" indent="-177800">
              <a:spcAft>
                <a:spcPts val="500"/>
              </a:spcAft>
              <a:buSzPct val="100000"/>
              <a:buChar char="•"/>
            </a:pPr>
            <a:r>
              <a:rPr lang="en-US" sz="1200" dirty="0">
                <a:solidFill>
                  <a:srgbClr val="E4E4E7"/>
                </a:solidFill>
                <a:latin typeface="Arial" pitchFamily="34" charset="0"/>
                <a:ea typeface="Arial" pitchFamily="34" charset="-122"/>
                <a:cs typeface="Arial" pitchFamily="34" charset="-120"/>
              </a:rPr>
              <a:t>Prerequisite-aware plan via iGOT Karmayogi</a:t>
            </a:r>
            <a:endParaRPr lang="en-US" sz="1200" dirty="0"/>
          </a:p>
          <a:p>
            <a:pPr marL="177800" indent="-177800">
              <a:spcAft>
                <a:spcPts val="500"/>
              </a:spcAft>
              <a:buSzPct val="100000"/>
              <a:buChar char="•"/>
            </a:pPr>
            <a:r>
              <a:rPr lang="en-US" sz="1200" dirty="0">
                <a:solidFill>
                  <a:srgbClr val="E4E4E7"/>
                </a:solidFill>
                <a:latin typeface="Arial" pitchFamily="34" charset="0"/>
                <a:ea typeface="Arial" pitchFamily="34" charset="-122"/>
                <a:cs typeface="Arial" pitchFamily="34" charset="-120"/>
              </a:rPr>
              <a:t>Quizzes, flashcards, mock tests from material</a:t>
            </a:r>
            <a:endParaRPr lang="en-US" sz="1200" dirty="0"/>
          </a:p>
          <a:p>
            <a:pPr marL="177800" indent="-177800">
              <a:spcAft>
                <a:spcPts val="500"/>
              </a:spcAft>
              <a:buSzPct val="100000"/>
              <a:buChar char="•"/>
            </a:pPr>
            <a:r>
              <a:rPr lang="en-US" sz="1200" dirty="0">
                <a:solidFill>
                  <a:srgbClr val="E4E4E7"/>
                </a:solidFill>
                <a:latin typeface="Arial" pitchFamily="34" charset="0"/>
                <a:ea typeface="Arial" pitchFamily="34" charset="-122"/>
                <a:cs typeface="Arial" pitchFamily="34" charset="-120"/>
              </a:rPr>
              <a:t>Misconceptions, calibration, AI tutor</a:t>
            </a:r>
            <a:endParaRPr lang="en-US" sz="1200" dirty="0"/>
          </a:p>
        </p:txBody>
      </p:sp>
      <p:sp>
        <p:nvSpPr>
          <p:cNvPr id="10" name="Shape 8"/>
          <p:cNvSpPr/>
          <p:nvPr/>
        </p:nvSpPr>
        <p:spPr>
          <a:xfrm>
            <a:off x="7424928" y="1508760"/>
            <a:ext cx="4206240" cy="3246120"/>
          </a:xfrm>
          <a:prstGeom prst="roundRect">
            <a:avLst>
              <a:gd name="adj" fmla="val 3380"/>
            </a:avLst>
          </a:prstGeom>
          <a:solidFill>
            <a:srgbClr val="FFFFFF"/>
          </a:solidFill>
          <a:ln w="12700">
            <a:solidFill>
              <a:srgbClr val="FFFFFF"/>
            </a:solidFill>
            <a:prstDash val="solid"/>
          </a:ln>
        </p:spPr>
      </p:sp>
      <p:sp>
        <p:nvSpPr>
          <p:cNvPr id="11" name="Text 9"/>
          <p:cNvSpPr txBox="1"/>
          <p:nvPr/>
        </p:nvSpPr>
        <p:spPr>
          <a:xfrm>
            <a:off x="7699248" y="1719072"/>
            <a:ext cx="3657600" cy="228600"/>
          </a:xfrm>
          <a:prstGeom prst="rect">
            <a:avLst/>
          </a:prstGeom>
          <a:noFill/>
          <a:ln/>
        </p:spPr>
        <p:txBody>
          <a:bodyPr wrap="square" lIns="0" tIns="0" rIns="0" bIns="0" rtlCol="0" anchor="t"/>
          <a:lstStyle/>
          <a:p>
            <a:pPr indent="0" marL="0">
              <a:buNone/>
            </a:pPr>
            <a:r>
              <a:rPr lang="en-US" sz="1000" b="1" spc="200" kern="0" dirty="0">
                <a:solidFill>
                  <a:srgbClr val="52525B"/>
                </a:solidFill>
                <a:latin typeface="Arial" pitchFamily="34" charset="0"/>
                <a:ea typeface="Arial" pitchFamily="34" charset="-122"/>
                <a:cs typeface="Arial" pitchFamily="34" charset="-120"/>
              </a:rPr>
              <a:t>DO  ·  AI WORKSPACE</a:t>
            </a:r>
            <a:endParaRPr lang="en-US" sz="1000" dirty="0"/>
          </a:p>
        </p:txBody>
      </p:sp>
      <p:sp>
        <p:nvSpPr>
          <p:cNvPr id="12" name="Text 10"/>
          <p:cNvSpPr txBox="1"/>
          <p:nvPr/>
        </p:nvSpPr>
        <p:spPr>
          <a:xfrm>
            <a:off x="7699248" y="1965960"/>
            <a:ext cx="3657600" cy="457200"/>
          </a:xfrm>
          <a:prstGeom prst="rect">
            <a:avLst/>
          </a:prstGeom>
          <a:noFill/>
          <a:ln/>
        </p:spPr>
        <p:txBody>
          <a:bodyPr wrap="square" lIns="0" tIns="0" rIns="0" bIns="0" rtlCol="0" anchor="t"/>
          <a:lstStyle/>
          <a:p>
            <a:pPr indent="0" marL="0">
              <a:buNone/>
            </a:pPr>
            <a:r>
              <a:rPr lang="en-US" sz="2200" b="1" dirty="0">
                <a:solidFill>
                  <a:srgbClr val="0A0A0B"/>
                </a:solidFill>
                <a:latin typeface="Arial" pitchFamily="34" charset="0"/>
                <a:ea typeface="Arial" pitchFamily="34" charset="-122"/>
                <a:cs typeface="Arial" pitchFamily="34" charset="-120"/>
              </a:rPr>
              <a:t>Delegate &amp; do</a:t>
            </a:r>
            <a:endParaRPr lang="en-US" sz="2200" dirty="0"/>
          </a:p>
        </p:txBody>
      </p:sp>
      <p:sp>
        <p:nvSpPr>
          <p:cNvPr id="13" name="Text 11"/>
          <p:cNvSpPr txBox="1"/>
          <p:nvPr/>
        </p:nvSpPr>
        <p:spPr>
          <a:xfrm>
            <a:off x="7699248" y="2514600"/>
            <a:ext cx="3749040" cy="21031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7272A"/>
                </a:solidFill>
                <a:latin typeface="Arial" pitchFamily="34" charset="0"/>
                <a:ea typeface="Arial" pitchFamily="34" charset="-122"/>
                <a:cs typeface="Arial" pitchFamily="34" charset="-120"/>
              </a:rPr>
              <a:t>Data Quality · Data Analyst · Report Assistant</a:t>
            </a:r>
            <a:endParaRPr lang="en-US" sz="1200" dirty="0"/>
          </a:p>
          <a:p>
            <a:pPr marL="177800" indent="-177800">
              <a:spcAft>
                <a:spcPts val="500"/>
              </a:spcAft>
              <a:buSzPct val="100000"/>
              <a:buChar char="•"/>
            </a:pPr>
            <a:r>
              <a:rPr lang="en-US" sz="1200" dirty="0">
                <a:solidFill>
                  <a:srgbClr val="27272A"/>
                </a:solidFill>
                <a:latin typeface="Arial" pitchFamily="34" charset="0"/>
                <a:ea typeface="Arial" pitchFamily="34" charset="-122"/>
                <a:cs typeface="Arial" pitchFamily="34" charset="-120"/>
              </a:rPr>
              <a:t>Own computer: browser, terminal, files, desktop</a:t>
            </a:r>
            <a:endParaRPr lang="en-US" sz="1200" dirty="0"/>
          </a:p>
          <a:p>
            <a:pPr marL="177800" indent="-177800">
              <a:spcAft>
                <a:spcPts val="500"/>
              </a:spcAft>
              <a:buSzPct val="100000"/>
              <a:buChar char="•"/>
            </a:pPr>
            <a:r>
              <a:rPr lang="en-US" sz="1200" dirty="0">
                <a:solidFill>
                  <a:srgbClr val="27272A"/>
                </a:solidFill>
                <a:latin typeface="Arial" pitchFamily="34" charset="0"/>
                <a:ea typeface="Arial" pitchFamily="34" charset="-122"/>
                <a:cs typeface="Arial" pitchFamily="34" charset="-120"/>
              </a:rPr>
              <a:t>Same sign-in as the mobile app</a:t>
            </a:r>
            <a:endParaRPr lang="en-US" sz="1200" dirty="0"/>
          </a:p>
          <a:p>
            <a:pPr marL="177800" indent="-177800">
              <a:spcAft>
                <a:spcPts val="500"/>
              </a:spcAft>
              <a:buSzPct val="100000"/>
              <a:buChar char="•"/>
            </a:pPr>
            <a:r>
              <a:rPr lang="en-US" sz="1200" dirty="0">
                <a:solidFill>
                  <a:srgbClr val="27272A"/>
                </a:solidFill>
                <a:latin typeface="Arial" pitchFamily="34" charset="0"/>
                <a:ea typeface="Arial" pitchFamily="34" charset="-122"/>
                <a:cs typeface="Arial" pitchFamily="34" charset="-120"/>
              </a:rPr>
              <a:t>Told the officer's gaps before every run</a:t>
            </a:r>
            <a:endParaRPr lang="en-US" sz="1200" dirty="0"/>
          </a:p>
          <a:p>
            <a:pPr marL="177800" indent="-177800">
              <a:spcAft>
                <a:spcPts val="500"/>
              </a:spcAft>
              <a:buSzPct val="100000"/>
              <a:buChar char="•"/>
            </a:pPr>
            <a:r>
              <a:rPr lang="en-US" sz="1200" dirty="0">
                <a:solidFill>
                  <a:srgbClr val="27272A"/>
                </a:solidFill>
                <a:latin typeface="Arial" pitchFamily="34" charset="0"/>
                <a:ea typeface="Arial" pitchFamily="34" charset="-122"/>
                <a:cs typeface="Arial" pitchFamily="34" charset="-120"/>
              </a:rPr>
              <a:t>Explains the step that matters</a:t>
            </a:r>
            <a:endParaRPr lang="en-US" sz="1200" dirty="0"/>
          </a:p>
          <a:p>
            <a:pPr marL="177800" indent="-177800">
              <a:spcAft>
                <a:spcPts val="500"/>
              </a:spcAft>
              <a:buSzPct val="100000"/>
              <a:buChar char="•"/>
            </a:pPr>
            <a:r>
              <a:rPr lang="en-US" sz="1200" dirty="0">
                <a:solidFill>
                  <a:srgbClr val="27272A"/>
                </a:solidFill>
                <a:latin typeface="Arial" pitchFamily="34" charset="0"/>
                <a:ea typeface="Arial" pitchFamily="34" charset="-122"/>
                <a:cs typeface="Arial" pitchFamily="34" charset="-120"/>
              </a:rPr>
              <a:t>Every run ends at a draft — people decide</a:t>
            </a:r>
            <a:endParaRPr lang="en-US" sz="1200" dirty="0"/>
          </a:p>
        </p:txBody>
      </p:sp>
      <p:sp>
        <p:nvSpPr>
          <p:cNvPr id="14" name="Text 12"/>
          <p:cNvSpPr txBox="1"/>
          <p:nvPr/>
        </p:nvSpPr>
        <p:spPr>
          <a:xfrm>
            <a:off x="4846320" y="1737360"/>
            <a:ext cx="2487168" cy="274320"/>
          </a:xfrm>
          <a:prstGeom prst="rect">
            <a:avLst/>
          </a:prstGeom>
          <a:noFill/>
          <a:ln/>
        </p:spPr>
        <p:txBody>
          <a:bodyPr wrap="square" lIns="0" tIns="0" rIns="0" bIns="0" rtlCol="0" anchor="t"/>
          <a:lstStyle/>
          <a:p>
            <a:pPr algn="ctr" indent="0" marL="0">
              <a:buNone/>
            </a:pPr>
            <a:r>
              <a:rPr lang="en-US" sz="1050" b="1" spc="200" kern="0" dirty="0">
                <a:solidFill>
                  <a:srgbClr val="FFFFFF"/>
                </a:solidFill>
                <a:latin typeface="Arial" pitchFamily="34" charset="0"/>
                <a:ea typeface="Arial" pitchFamily="34" charset="-122"/>
                <a:cs typeface="Arial" pitchFamily="34" charset="-120"/>
              </a:rPr>
              <a:t>THE COMPETENCY LOOP</a:t>
            </a:r>
            <a:endParaRPr lang="en-US" sz="1050" dirty="0"/>
          </a:p>
        </p:txBody>
      </p:sp>
      <p:sp>
        <p:nvSpPr>
          <p:cNvPr id="15" name="Shape 13"/>
          <p:cNvSpPr/>
          <p:nvPr/>
        </p:nvSpPr>
        <p:spPr>
          <a:xfrm>
            <a:off x="4937760" y="2606040"/>
            <a:ext cx="2304288" cy="0"/>
          </a:xfrm>
          <a:prstGeom prst="line">
            <a:avLst/>
          </a:prstGeom>
          <a:noFill/>
          <a:ln w="25400">
            <a:solidFill>
              <a:srgbClr val="FFFFFF"/>
            </a:solidFill>
            <a:prstDash val="solid"/>
            <a:tailEnd type="triangle"/>
          </a:ln>
        </p:spPr>
      </p:sp>
      <p:sp>
        <p:nvSpPr>
          <p:cNvPr id="16" name="Text 14"/>
          <p:cNvSpPr txBox="1"/>
          <p:nvPr/>
        </p:nvSpPr>
        <p:spPr>
          <a:xfrm>
            <a:off x="4846320" y="2148840"/>
            <a:ext cx="2487168" cy="41148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Measured gaps → agent prompt</a:t>
            </a:r>
            <a:endParaRPr lang="en-US" sz="1100" dirty="0"/>
          </a:p>
        </p:txBody>
      </p:sp>
      <p:sp>
        <p:nvSpPr>
          <p:cNvPr id="17" name="Shape 15"/>
          <p:cNvSpPr/>
          <p:nvPr/>
        </p:nvSpPr>
        <p:spPr>
          <a:xfrm>
            <a:off x="4937760" y="3703320"/>
            <a:ext cx="2304288" cy="0"/>
          </a:xfrm>
          <a:prstGeom prst="line">
            <a:avLst/>
          </a:prstGeom>
          <a:noFill/>
          <a:ln w="25400">
            <a:solidFill>
              <a:srgbClr val="A1A1AA"/>
            </a:solidFill>
            <a:prstDash val="solid"/>
            <a:headEnd type="triangle"/>
          </a:ln>
        </p:spPr>
      </p:sp>
      <p:sp>
        <p:nvSpPr>
          <p:cNvPr id="18" name="Text 16"/>
          <p:cNvSpPr txBox="1"/>
          <p:nvPr/>
        </p:nvSpPr>
        <p:spPr>
          <a:xfrm>
            <a:off x="4846320" y="3794760"/>
            <a:ext cx="2487168" cy="457200"/>
          </a:xfrm>
          <a:prstGeom prst="rect">
            <a:avLst/>
          </a:prstGeom>
          <a:noFill/>
          <a:ln/>
        </p:spPr>
        <p:txBody>
          <a:bodyPr wrap="square" lIns="0" tIns="0" rIns="0" bIns="0" rtlCol="0" anchor="t"/>
          <a:lstStyle/>
          <a:p>
            <a:pPr algn="ctr" indent="0" marL="0">
              <a:buNone/>
            </a:pPr>
            <a:r>
              <a:rPr lang="en-US" sz="1100" b="1" dirty="0">
                <a:solidFill>
                  <a:srgbClr val="E4E4E7"/>
                </a:solidFill>
                <a:latin typeface="Arial" pitchFamily="34" charset="0"/>
                <a:ea typeface="Arial" pitchFamily="34" charset="-122"/>
                <a:cs typeface="Arial" pitchFamily="34" charset="-120"/>
              </a:rPr>
              <a:t>Delegations by competency → evidence</a:t>
            </a:r>
            <a:endParaRPr lang="en-US" sz="1100" dirty="0"/>
          </a:p>
        </p:txBody>
      </p:sp>
      <p:sp>
        <p:nvSpPr>
          <p:cNvPr id="19" name="Text 17"/>
          <p:cNvSpPr txBox="1"/>
          <p:nvPr/>
        </p:nvSpPr>
        <p:spPr>
          <a:xfrm>
            <a:off x="4846320" y="2761488"/>
            <a:ext cx="2487168" cy="822960"/>
          </a:xfrm>
          <a:prstGeom prst="rect">
            <a:avLst/>
          </a:prstGeom>
          <a:noFill/>
          <a:ln/>
        </p:spPr>
        <p:txBody>
          <a:bodyPr wrap="square" lIns="0" tIns="0" rIns="0" bIns="0" rtlCol="0" anchor="ctr"/>
          <a:lstStyle/>
          <a:p>
            <a:pPr algn="ctr" indent="0" marL="0">
              <a:buNone/>
            </a:pPr>
            <a:r>
              <a:rPr lang="en-US" sz="1000" i="1" dirty="0">
                <a:solidFill>
                  <a:srgbClr val="A1A1AA"/>
                </a:solidFill>
                <a:latin typeface="Arial" pitchFamily="34" charset="0"/>
                <a:ea typeface="Arial" pitchFamily="34" charset="-122"/>
                <a:cs typeface="Arial" pitchFamily="34" charset="-120"/>
              </a:rPr>
              <a:t>“You delegated 23 Python tasks this month — closing this gap gives that work back.”</a:t>
            </a:r>
            <a:endParaRPr lang="en-US" sz="1000" dirty="0"/>
          </a:p>
        </p:txBody>
      </p:sp>
      <p:sp>
        <p:nvSpPr>
          <p:cNvPr id="20" name="Shape 18"/>
          <p:cNvSpPr/>
          <p:nvPr/>
        </p:nvSpPr>
        <p:spPr>
          <a:xfrm>
            <a:off x="548640" y="4983480"/>
            <a:ext cx="2651760" cy="868680"/>
          </a:xfrm>
          <a:prstGeom prst="roundRect">
            <a:avLst>
              <a:gd name="adj" fmla="val 12632"/>
            </a:avLst>
          </a:prstGeom>
          <a:solidFill>
            <a:srgbClr val="161618"/>
          </a:solidFill>
          <a:ln w="9525">
            <a:solidFill>
              <a:srgbClr val="2C2C30"/>
            </a:solidFill>
            <a:prstDash val="solid"/>
          </a:ln>
        </p:spPr>
      </p:sp>
      <p:sp>
        <p:nvSpPr>
          <p:cNvPr id="21" name="Shape 19"/>
          <p:cNvSpPr/>
          <p:nvPr/>
        </p:nvSpPr>
        <p:spPr>
          <a:xfrm>
            <a:off x="731520" y="5202936"/>
            <a:ext cx="438912" cy="438912"/>
          </a:xfrm>
          <a:prstGeom prst="ellipse">
            <a:avLst/>
          </a:prstGeom>
          <a:solidFill>
            <a:srgbClr val="1E1E21"/>
          </a:solidFill>
          <a:ln w="9525">
            <a:solidFill>
              <a:srgbClr val="2C2C30"/>
            </a:solidFill>
            <a:prstDash val="solid"/>
          </a:ln>
        </p:spPr>
      </p:sp>
      <p:pic>
        <p:nvPicPr>
          <p:cNvPr id="22" name="Image 0" descr="preencoded.png">    </p:cNvPr>
          <p:cNvPicPr>
            <a:picLocks noChangeAspect="1"/>
          </p:cNvPicPr>
          <p:nvPr/>
        </p:nvPicPr>
        <p:blipFill>
          <a:blip r:embed="rId1"/>
          <a:stretch>
            <a:fillRect/>
          </a:stretch>
        </p:blipFill>
        <p:spPr>
          <a:xfrm>
            <a:off x="836859" y="5308275"/>
            <a:ext cx="228234" cy="228234"/>
          </a:xfrm>
          <a:prstGeom prst="rect">
            <a:avLst/>
          </a:prstGeom>
        </p:spPr>
      </p:pic>
      <p:sp>
        <p:nvSpPr>
          <p:cNvPr id="23" name="Text 20"/>
          <p:cNvSpPr txBox="1"/>
          <p:nvPr/>
        </p:nvSpPr>
        <p:spPr>
          <a:xfrm>
            <a:off x="1298448" y="5138928"/>
            <a:ext cx="1828800" cy="29260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Samiksha</a:t>
            </a:r>
            <a:endParaRPr lang="en-US" sz="1300" dirty="0"/>
          </a:p>
        </p:txBody>
      </p:sp>
      <p:sp>
        <p:nvSpPr>
          <p:cNvPr id="24" name="Text 21"/>
          <p:cNvSpPr txBox="1"/>
          <p:nvPr/>
        </p:nvSpPr>
        <p:spPr>
          <a:xfrm>
            <a:off x="1298448" y="5440680"/>
            <a:ext cx="1828800" cy="274320"/>
          </a:xfrm>
          <a:prstGeom prst="rect">
            <a:avLst/>
          </a:prstGeom>
          <a:noFill/>
          <a:ln/>
        </p:spPr>
        <p:txBody>
          <a:bodyPr wrap="square" lIns="0" tIns="0" rIns="0" bIns="0" rtlCol="0" anchor="t"/>
          <a:lstStyle/>
          <a:p>
            <a:pPr indent="0" marL="0">
              <a:buNone/>
            </a:pPr>
            <a:r>
              <a:rPr lang="en-US" sz="1000" dirty="0">
                <a:solidFill>
                  <a:srgbClr val="A1A1AA"/>
                </a:solidFill>
                <a:latin typeface="Arial" pitchFamily="34" charset="0"/>
                <a:ea typeface="Arial" pitchFamily="34" charset="-122"/>
                <a:cs typeface="Arial" pitchFamily="34" charset="-120"/>
              </a:rPr>
              <a:t>Officer app · Android</a:t>
            </a:r>
            <a:endParaRPr lang="en-US" sz="1000" dirty="0"/>
          </a:p>
        </p:txBody>
      </p:sp>
      <p:sp>
        <p:nvSpPr>
          <p:cNvPr id="25" name="Shape 22"/>
          <p:cNvSpPr/>
          <p:nvPr/>
        </p:nvSpPr>
        <p:spPr>
          <a:xfrm>
            <a:off x="3346704" y="4983480"/>
            <a:ext cx="2651760" cy="868680"/>
          </a:xfrm>
          <a:prstGeom prst="roundRect">
            <a:avLst>
              <a:gd name="adj" fmla="val 12632"/>
            </a:avLst>
          </a:prstGeom>
          <a:solidFill>
            <a:srgbClr val="161618"/>
          </a:solidFill>
          <a:ln w="9525">
            <a:solidFill>
              <a:srgbClr val="2C2C30"/>
            </a:solidFill>
            <a:prstDash val="solid"/>
          </a:ln>
        </p:spPr>
      </p:sp>
      <p:sp>
        <p:nvSpPr>
          <p:cNvPr id="26" name="Shape 23"/>
          <p:cNvSpPr/>
          <p:nvPr/>
        </p:nvSpPr>
        <p:spPr>
          <a:xfrm>
            <a:off x="3529584" y="5202936"/>
            <a:ext cx="438912" cy="438912"/>
          </a:xfrm>
          <a:prstGeom prst="ellipse">
            <a:avLst/>
          </a:prstGeom>
          <a:solidFill>
            <a:srgbClr val="1E1E21"/>
          </a:solidFill>
          <a:ln w="9525">
            <a:solidFill>
              <a:srgbClr val="2C2C30"/>
            </a:solidFill>
            <a:prstDash val="solid"/>
          </a:ln>
        </p:spPr>
      </p:sp>
      <p:pic>
        <p:nvPicPr>
          <p:cNvPr id="27" name="Image 1" descr="preencoded.png">    </p:cNvPr>
          <p:cNvPicPr>
            <a:picLocks noChangeAspect="1"/>
          </p:cNvPicPr>
          <p:nvPr/>
        </p:nvPicPr>
        <p:blipFill>
          <a:blip r:embed="rId2"/>
          <a:stretch>
            <a:fillRect/>
          </a:stretch>
        </p:blipFill>
        <p:spPr>
          <a:xfrm>
            <a:off x="3634923" y="5308275"/>
            <a:ext cx="228234" cy="228234"/>
          </a:xfrm>
          <a:prstGeom prst="rect">
            <a:avLst/>
          </a:prstGeom>
        </p:spPr>
      </p:pic>
      <p:sp>
        <p:nvSpPr>
          <p:cNvPr id="28" name="Text 24"/>
          <p:cNvSpPr txBox="1"/>
          <p:nvPr/>
        </p:nvSpPr>
        <p:spPr>
          <a:xfrm>
            <a:off x="4096512" y="5138928"/>
            <a:ext cx="1828800" cy="29260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Samiksha Admin</a:t>
            </a:r>
            <a:endParaRPr lang="en-US" sz="1300" dirty="0"/>
          </a:p>
        </p:txBody>
      </p:sp>
      <p:sp>
        <p:nvSpPr>
          <p:cNvPr id="29" name="Text 25"/>
          <p:cNvSpPr txBox="1"/>
          <p:nvPr/>
        </p:nvSpPr>
        <p:spPr>
          <a:xfrm>
            <a:off x="4096512" y="5440680"/>
            <a:ext cx="1828800" cy="274320"/>
          </a:xfrm>
          <a:prstGeom prst="rect">
            <a:avLst/>
          </a:prstGeom>
          <a:noFill/>
          <a:ln/>
        </p:spPr>
        <p:txBody>
          <a:bodyPr wrap="square" lIns="0" tIns="0" rIns="0" bIns="0" rtlCol="0" anchor="t"/>
          <a:lstStyle/>
          <a:p>
            <a:pPr indent="0" marL="0">
              <a:buNone/>
            </a:pPr>
            <a:r>
              <a:rPr lang="en-US" sz="1000" dirty="0">
                <a:solidFill>
                  <a:srgbClr val="A1A1AA"/>
                </a:solidFill>
                <a:latin typeface="Arial" pitchFamily="34" charset="0"/>
                <a:ea typeface="Arial" pitchFamily="34" charset="-122"/>
                <a:cs typeface="Arial" pitchFamily="34" charset="-120"/>
              </a:rPr>
              <a:t>Administrator app · Android</a:t>
            </a:r>
            <a:endParaRPr lang="en-US" sz="1000" dirty="0"/>
          </a:p>
        </p:txBody>
      </p:sp>
      <p:sp>
        <p:nvSpPr>
          <p:cNvPr id="30" name="Shape 26"/>
          <p:cNvSpPr/>
          <p:nvPr/>
        </p:nvSpPr>
        <p:spPr>
          <a:xfrm>
            <a:off x="6144768" y="4983480"/>
            <a:ext cx="2651760" cy="868680"/>
          </a:xfrm>
          <a:prstGeom prst="roundRect">
            <a:avLst>
              <a:gd name="adj" fmla="val 12632"/>
            </a:avLst>
          </a:prstGeom>
          <a:solidFill>
            <a:srgbClr val="161618"/>
          </a:solidFill>
          <a:ln w="9525">
            <a:solidFill>
              <a:srgbClr val="2C2C30"/>
            </a:solidFill>
            <a:prstDash val="solid"/>
          </a:ln>
        </p:spPr>
      </p:sp>
      <p:sp>
        <p:nvSpPr>
          <p:cNvPr id="31" name="Shape 27"/>
          <p:cNvSpPr/>
          <p:nvPr/>
        </p:nvSpPr>
        <p:spPr>
          <a:xfrm>
            <a:off x="6327648" y="5202936"/>
            <a:ext cx="438912" cy="438912"/>
          </a:xfrm>
          <a:prstGeom prst="ellipse">
            <a:avLst/>
          </a:prstGeom>
          <a:solidFill>
            <a:srgbClr val="1E1E21"/>
          </a:solidFill>
          <a:ln w="9525">
            <a:solidFill>
              <a:srgbClr val="2C2C30"/>
            </a:solidFill>
            <a:prstDash val="solid"/>
          </a:ln>
        </p:spPr>
      </p:sp>
      <p:pic>
        <p:nvPicPr>
          <p:cNvPr id="32" name="Image 2" descr="preencoded.png">    </p:cNvPr>
          <p:cNvPicPr>
            <a:picLocks noChangeAspect="1"/>
          </p:cNvPicPr>
          <p:nvPr/>
        </p:nvPicPr>
        <p:blipFill>
          <a:blip r:embed="rId3"/>
          <a:stretch>
            <a:fillRect/>
          </a:stretch>
        </p:blipFill>
        <p:spPr>
          <a:xfrm>
            <a:off x="6432987" y="5308275"/>
            <a:ext cx="228234" cy="228234"/>
          </a:xfrm>
          <a:prstGeom prst="rect">
            <a:avLst/>
          </a:prstGeom>
        </p:spPr>
      </p:pic>
      <p:sp>
        <p:nvSpPr>
          <p:cNvPr id="33" name="Text 28"/>
          <p:cNvSpPr txBox="1"/>
          <p:nvPr/>
        </p:nvSpPr>
        <p:spPr>
          <a:xfrm>
            <a:off x="6894576" y="5138928"/>
            <a:ext cx="1828800" cy="29260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Demo apps</a:t>
            </a:r>
            <a:endParaRPr lang="en-US" sz="1300" dirty="0"/>
          </a:p>
        </p:txBody>
      </p:sp>
      <p:sp>
        <p:nvSpPr>
          <p:cNvPr id="34" name="Text 29"/>
          <p:cNvSpPr txBox="1"/>
          <p:nvPr/>
        </p:nvSpPr>
        <p:spPr>
          <a:xfrm>
            <a:off x="6894576" y="5440680"/>
            <a:ext cx="1828800" cy="274320"/>
          </a:xfrm>
          <a:prstGeom prst="rect">
            <a:avLst/>
          </a:prstGeom>
          <a:noFill/>
          <a:ln/>
        </p:spPr>
        <p:txBody>
          <a:bodyPr wrap="square" lIns="0" tIns="0" rIns="0" bIns="0" rtlCol="0" anchor="t"/>
          <a:lstStyle/>
          <a:p>
            <a:pPr indent="0" marL="0">
              <a:buNone/>
            </a:pPr>
            <a:r>
              <a:rPr lang="en-US" sz="1000" dirty="0">
                <a:solidFill>
                  <a:srgbClr val="A1A1AA"/>
                </a:solidFill>
                <a:latin typeface="Arial" pitchFamily="34" charset="0"/>
                <a:ea typeface="Arial" pitchFamily="34" charset="-122"/>
                <a:cs typeface="Arial" pitchFamily="34" charset="-120"/>
              </a:rPr>
              <a:t>Both journeys, no account</a:t>
            </a:r>
            <a:endParaRPr lang="en-US" sz="1000" dirty="0"/>
          </a:p>
        </p:txBody>
      </p:sp>
      <p:sp>
        <p:nvSpPr>
          <p:cNvPr id="35" name="Shape 30"/>
          <p:cNvSpPr/>
          <p:nvPr/>
        </p:nvSpPr>
        <p:spPr>
          <a:xfrm>
            <a:off x="8942832" y="4983480"/>
            <a:ext cx="2651760" cy="868680"/>
          </a:xfrm>
          <a:prstGeom prst="roundRect">
            <a:avLst>
              <a:gd name="adj" fmla="val 12632"/>
            </a:avLst>
          </a:prstGeom>
          <a:solidFill>
            <a:srgbClr val="161618"/>
          </a:solidFill>
          <a:ln w="9525">
            <a:solidFill>
              <a:srgbClr val="2C2C30"/>
            </a:solidFill>
            <a:prstDash val="solid"/>
          </a:ln>
        </p:spPr>
      </p:sp>
      <p:sp>
        <p:nvSpPr>
          <p:cNvPr id="36" name="Shape 31"/>
          <p:cNvSpPr/>
          <p:nvPr/>
        </p:nvSpPr>
        <p:spPr>
          <a:xfrm>
            <a:off x="9125712" y="5202936"/>
            <a:ext cx="438912" cy="438912"/>
          </a:xfrm>
          <a:prstGeom prst="ellipse">
            <a:avLst/>
          </a:prstGeom>
          <a:solidFill>
            <a:srgbClr val="1E1E21"/>
          </a:solidFill>
          <a:ln w="9525">
            <a:solidFill>
              <a:srgbClr val="2C2C30"/>
            </a:solidFill>
            <a:prstDash val="solid"/>
          </a:ln>
        </p:spPr>
      </p:sp>
      <p:pic>
        <p:nvPicPr>
          <p:cNvPr id="37" name="Image 3" descr="preencoded.png">    </p:cNvPr>
          <p:cNvPicPr>
            <a:picLocks noChangeAspect="1"/>
          </p:cNvPicPr>
          <p:nvPr/>
        </p:nvPicPr>
        <p:blipFill>
          <a:blip r:embed="rId4"/>
          <a:stretch>
            <a:fillRect/>
          </a:stretch>
        </p:blipFill>
        <p:spPr>
          <a:xfrm>
            <a:off x="9231051" y="5308275"/>
            <a:ext cx="228234" cy="228234"/>
          </a:xfrm>
          <a:prstGeom prst="rect">
            <a:avLst/>
          </a:prstGeom>
        </p:spPr>
      </p:pic>
      <p:sp>
        <p:nvSpPr>
          <p:cNvPr id="38" name="Text 32"/>
          <p:cNvSpPr txBox="1"/>
          <p:nvPr/>
        </p:nvSpPr>
        <p:spPr>
          <a:xfrm>
            <a:off x="9692640" y="5138928"/>
            <a:ext cx="1828800" cy="29260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Samiksha Workspace</a:t>
            </a:r>
            <a:endParaRPr lang="en-US" sz="1300" dirty="0"/>
          </a:p>
        </p:txBody>
      </p:sp>
      <p:sp>
        <p:nvSpPr>
          <p:cNvPr id="39" name="Text 33"/>
          <p:cNvSpPr txBox="1"/>
          <p:nvPr/>
        </p:nvSpPr>
        <p:spPr>
          <a:xfrm>
            <a:off x="9692640" y="5440680"/>
            <a:ext cx="1828800" cy="274320"/>
          </a:xfrm>
          <a:prstGeom prst="rect">
            <a:avLst/>
          </a:prstGeom>
          <a:noFill/>
          <a:ln/>
        </p:spPr>
        <p:txBody>
          <a:bodyPr wrap="square" lIns="0" tIns="0" rIns="0" bIns="0" rtlCol="0" anchor="t"/>
          <a:lstStyle/>
          <a:p>
            <a:pPr indent="0" marL="0">
              <a:buNone/>
            </a:pPr>
            <a:r>
              <a:rPr lang="en-US" sz="1000" dirty="0">
                <a:solidFill>
                  <a:srgbClr val="A1A1AA"/>
                </a:solidFill>
                <a:latin typeface="Arial" pitchFamily="34" charset="0"/>
                <a:ea typeface="Arial" pitchFamily="34" charset="-122"/>
                <a:cs typeface="Arial" pitchFamily="34" charset="-120"/>
              </a:rPr>
              <a:t>AI agents · Windows</a:t>
            </a:r>
            <a:endParaRPr lang="en-US" sz="1000" dirty="0"/>
          </a:p>
        </p:txBody>
      </p:sp>
      <p:sp>
        <p:nvSpPr>
          <p:cNvPr id="40" name="Text 34"/>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Principles  </a:t>
            </a:r>
            <a:pPr indent="0" marL="0">
              <a:buNone/>
            </a:pPr>
            <a:r>
              <a:rPr lang="en-US" sz="1100" dirty="0">
                <a:solidFill>
                  <a:srgbClr val="A1A1AA"/>
                </a:solidFill>
                <a:latin typeface="Arial" pitchFamily="34" charset="0"/>
                <a:ea typeface="Arial" pitchFamily="34" charset="-122"/>
                <a:cs typeface="Arial" pitchFamily="34" charset="-120"/>
              </a:rPr>
              <a:t>Evidence over opinion  ·  Deterministic core, AI at the edges  ·  Agents draft, people decide  ·  One identity everywhere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HOW IT WORKS · THE OFFICER</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Measured, planned, practised — in minutes a day</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04</a:t>
            </a:r>
            <a:endParaRPr lang="en-US" sz="900" dirty="0"/>
          </a:p>
        </p:txBody>
      </p:sp>
      <p:pic>
        <p:nvPicPr>
          <p:cNvPr id="6" name="Image 0" descr="/private/tmp/claude-501/-Users-bonny-Desktop-Adreej-projects-SIH-2026/9aad41f0-270d-4125-b657-0e332d72b56e/scratchpad/deck/img/02-onboarding.png">    </p:cNvPr>
          <p:cNvPicPr>
            <a:picLocks noChangeAspect="1"/>
          </p:cNvPicPr>
          <p:nvPr/>
        </p:nvPicPr>
        <p:blipFill>
          <a:blip r:embed="rId1"/>
          <a:stretch>
            <a:fillRect/>
          </a:stretch>
        </p:blipFill>
        <p:spPr>
          <a:xfrm>
            <a:off x="548640" y="1463040"/>
            <a:ext cx="1795012" cy="3886200"/>
          </a:xfrm>
          <a:prstGeom prst="rect">
            <a:avLst/>
          </a:prstGeom>
        </p:spPr>
      </p:pic>
      <p:sp>
        <p:nvSpPr>
          <p:cNvPr id="7" name="Text 4"/>
          <p:cNvSpPr txBox="1"/>
          <p:nvPr/>
        </p:nvSpPr>
        <p:spPr>
          <a:xfrm>
            <a:off x="548640" y="5468112"/>
            <a:ext cx="2023612"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1  Two-tap onboarding</a:t>
            </a:r>
            <a:endParaRPr lang="en-US" sz="1250" dirty="0"/>
          </a:p>
        </p:txBody>
      </p:sp>
      <p:sp>
        <p:nvSpPr>
          <p:cNvPr id="8" name="Text 5"/>
          <p:cNvSpPr txBox="1"/>
          <p:nvPr/>
        </p:nvSpPr>
        <p:spPr>
          <a:xfrm>
            <a:off x="548640" y="5760720"/>
            <a:ext cx="1977892" cy="658368"/>
          </a:xfrm>
          <a:prstGeom prst="rect">
            <a:avLst/>
          </a:prstGeom>
          <a:noFill/>
          <a:ln/>
        </p:spPr>
        <p:txBody>
          <a:bodyPr wrap="square" lIns="0" tIns="0" rIns="0" bIns="0" rtlCol="0" anchor="t"/>
          <a:lstStyle/>
          <a:p>
            <a:pPr indent="0" marL="0">
              <a:lnSpc>
                <a:spcPct val="105000"/>
              </a:lnSpc>
              <a:buNone/>
            </a:pPr>
            <a:r>
              <a:rPr lang="en-US" sz="950" dirty="0">
                <a:solidFill>
                  <a:srgbClr val="A1A1AA"/>
                </a:solidFill>
                <a:latin typeface="Arial" pitchFamily="34" charset="0"/>
                <a:ea typeface="Arial" pitchFamily="34" charset="-122"/>
                <a:cs typeface="Arial" pitchFamily="34" charset="-120"/>
              </a:rPr>
              <a:t>Account provisioned against an employee ID; confirm role &amp; daily goal.</a:t>
            </a:r>
            <a:endParaRPr lang="en-US" sz="950" dirty="0"/>
          </a:p>
        </p:txBody>
      </p:sp>
      <p:pic>
        <p:nvPicPr>
          <p:cNvPr id="9" name="Image 1" descr="preencoded.png">    </p:cNvPr>
          <p:cNvPicPr>
            <a:picLocks noChangeAspect="1"/>
          </p:cNvPicPr>
          <p:nvPr/>
        </p:nvPicPr>
        <p:blipFill>
          <a:blip r:embed="rId2"/>
          <a:stretch>
            <a:fillRect/>
          </a:stretch>
        </p:blipFill>
        <p:spPr>
          <a:xfrm>
            <a:off x="2489356" y="3291840"/>
            <a:ext cx="237744" cy="237744"/>
          </a:xfrm>
          <a:prstGeom prst="rect">
            <a:avLst/>
          </a:prstGeom>
        </p:spPr>
      </p:pic>
      <p:pic>
        <p:nvPicPr>
          <p:cNvPr id="10" name="Image 2" descr="/private/tmp/claude-501/-Users-bonny-Desktop-Adreej-projects-SIH-2026/9aad41f0-270d-4125-b657-0e332d72b56e/scratchpad/deck/img/19-adaptive-test.png">    </p:cNvPr>
          <p:cNvPicPr>
            <a:picLocks noChangeAspect="1"/>
          </p:cNvPicPr>
          <p:nvPr/>
        </p:nvPicPr>
        <p:blipFill>
          <a:blip r:embed="rId3"/>
          <a:stretch>
            <a:fillRect/>
          </a:stretch>
        </p:blipFill>
        <p:spPr>
          <a:xfrm>
            <a:off x="2872805" y="1463040"/>
            <a:ext cx="1795012" cy="3886200"/>
          </a:xfrm>
          <a:prstGeom prst="rect">
            <a:avLst/>
          </a:prstGeom>
        </p:spPr>
      </p:pic>
      <p:sp>
        <p:nvSpPr>
          <p:cNvPr id="11" name="Text 6"/>
          <p:cNvSpPr txBox="1"/>
          <p:nvPr/>
        </p:nvSpPr>
        <p:spPr>
          <a:xfrm>
            <a:off x="2872805" y="5468112"/>
            <a:ext cx="2023612"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2  Adaptive diagnostic</a:t>
            </a:r>
            <a:endParaRPr lang="en-US" sz="1250" dirty="0"/>
          </a:p>
        </p:txBody>
      </p:sp>
      <p:sp>
        <p:nvSpPr>
          <p:cNvPr id="12" name="Text 7"/>
          <p:cNvSpPr txBox="1"/>
          <p:nvPr/>
        </p:nvSpPr>
        <p:spPr>
          <a:xfrm>
            <a:off x="2872805" y="5760720"/>
            <a:ext cx="1977892" cy="658368"/>
          </a:xfrm>
          <a:prstGeom prst="rect">
            <a:avLst/>
          </a:prstGeom>
          <a:noFill/>
          <a:ln/>
        </p:spPr>
        <p:txBody>
          <a:bodyPr wrap="square" lIns="0" tIns="0" rIns="0" bIns="0" rtlCol="0" anchor="t"/>
          <a:lstStyle/>
          <a:p>
            <a:pPr indent="0" marL="0">
              <a:lnSpc>
                <a:spcPct val="105000"/>
              </a:lnSpc>
              <a:buNone/>
            </a:pPr>
            <a:r>
              <a:rPr lang="en-US" sz="950" dirty="0">
                <a:solidFill>
                  <a:srgbClr val="A1A1AA"/>
                </a:solidFill>
                <a:latin typeface="Arial" pitchFamily="34" charset="0"/>
                <a:ea typeface="Arial" pitchFamily="34" charset="-122"/>
                <a:cs typeface="Arial" pitchFamily="34" charset="-120"/>
              </a:rPr>
              <a:t>IRT picks the most informative question; uncertainty band narrows live.</a:t>
            </a:r>
            <a:endParaRPr lang="en-US" sz="950" dirty="0"/>
          </a:p>
        </p:txBody>
      </p:sp>
      <p:pic>
        <p:nvPicPr>
          <p:cNvPr id="13" name="Image 3" descr="preencoded.png">    </p:cNvPr>
          <p:cNvPicPr>
            <a:picLocks noChangeAspect="1"/>
          </p:cNvPicPr>
          <p:nvPr/>
        </p:nvPicPr>
        <p:blipFill>
          <a:blip r:embed="rId4"/>
          <a:stretch>
            <a:fillRect/>
          </a:stretch>
        </p:blipFill>
        <p:spPr>
          <a:xfrm>
            <a:off x="4813521" y="3291840"/>
            <a:ext cx="237744" cy="237744"/>
          </a:xfrm>
          <a:prstGeom prst="rect">
            <a:avLst/>
          </a:prstGeom>
        </p:spPr>
      </p:pic>
      <p:pic>
        <p:nvPicPr>
          <p:cNvPr id="14" name="Image 4" descr="/private/tmp/claude-501/-Users-bonny-Desktop-Adreej-projects-SIH-2026/9aad41f0-270d-4125-b657-0e332d72b56e/scratchpad/deck/img/04-insights-radar.png">    </p:cNvPr>
          <p:cNvPicPr>
            <a:picLocks noChangeAspect="1"/>
          </p:cNvPicPr>
          <p:nvPr/>
        </p:nvPicPr>
        <p:blipFill>
          <a:blip r:embed="rId5"/>
          <a:stretch>
            <a:fillRect/>
          </a:stretch>
        </p:blipFill>
        <p:spPr>
          <a:xfrm>
            <a:off x="5196970" y="1463040"/>
            <a:ext cx="1795012" cy="3886200"/>
          </a:xfrm>
          <a:prstGeom prst="rect">
            <a:avLst/>
          </a:prstGeom>
        </p:spPr>
      </p:pic>
      <p:sp>
        <p:nvSpPr>
          <p:cNvPr id="15" name="Text 8"/>
          <p:cNvSpPr txBox="1"/>
          <p:nvPr/>
        </p:nvSpPr>
        <p:spPr>
          <a:xfrm>
            <a:off x="5196970" y="5468112"/>
            <a:ext cx="2023612"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3  Competency profile</a:t>
            </a:r>
            <a:endParaRPr lang="en-US" sz="1250" dirty="0"/>
          </a:p>
        </p:txBody>
      </p:sp>
      <p:sp>
        <p:nvSpPr>
          <p:cNvPr id="16" name="Text 9"/>
          <p:cNvSpPr txBox="1"/>
          <p:nvPr/>
        </p:nvSpPr>
        <p:spPr>
          <a:xfrm>
            <a:off x="5196970" y="5760720"/>
            <a:ext cx="1977892" cy="658368"/>
          </a:xfrm>
          <a:prstGeom prst="rect">
            <a:avLst/>
          </a:prstGeom>
          <a:noFill/>
          <a:ln/>
        </p:spPr>
        <p:txBody>
          <a:bodyPr wrap="square" lIns="0" tIns="0" rIns="0" bIns="0" rtlCol="0" anchor="t"/>
          <a:lstStyle/>
          <a:p>
            <a:pPr indent="0" marL="0">
              <a:lnSpc>
                <a:spcPct val="105000"/>
              </a:lnSpc>
              <a:buNone/>
            </a:pPr>
            <a:r>
              <a:rPr lang="en-US" sz="950" dirty="0">
                <a:solidFill>
                  <a:srgbClr val="A1A1AA"/>
                </a:solidFill>
                <a:latin typeface="Arial" pitchFamily="34" charset="0"/>
                <a:ea typeface="Arial" pitchFamily="34" charset="-122"/>
                <a:cs typeface="Arial" pitchFamily="34" charset="-120"/>
              </a:rPr>
              <a:t>Readiness, radar vs role requirement, AI diagnosis, misconceptions.</a:t>
            </a:r>
            <a:endParaRPr lang="en-US" sz="950" dirty="0"/>
          </a:p>
        </p:txBody>
      </p:sp>
      <p:pic>
        <p:nvPicPr>
          <p:cNvPr id="17" name="Image 5" descr="preencoded.png">    </p:cNvPr>
          <p:cNvPicPr>
            <a:picLocks noChangeAspect="1"/>
          </p:cNvPicPr>
          <p:nvPr/>
        </p:nvPicPr>
        <p:blipFill>
          <a:blip r:embed="rId6"/>
          <a:stretch>
            <a:fillRect/>
          </a:stretch>
        </p:blipFill>
        <p:spPr>
          <a:xfrm>
            <a:off x="7137687" y="3291840"/>
            <a:ext cx="237744" cy="237744"/>
          </a:xfrm>
          <a:prstGeom prst="rect">
            <a:avLst/>
          </a:prstGeom>
        </p:spPr>
      </p:pic>
      <p:pic>
        <p:nvPicPr>
          <p:cNvPr id="18" name="Image 6" descr="/private/tmp/claude-501/-Users-bonny-Desktop-Adreej-projects-SIH-2026/9aad41f0-270d-4125-b657-0e332d72b56e/scratchpad/deck/img/10-learning-plan.png">    </p:cNvPr>
          <p:cNvPicPr>
            <a:picLocks noChangeAspect="1"/>
          </p:cNvPicPr>
          <p:nvPr/>
        </p:nvPicPr>
        <p:blipFill>
          <a:blip r:embed="rId7"/>
          <a:stretch>
            <a:fillRect/>
          </a:stretch>
        </p:blipFill>
        <p:spPr>
          <a:xfrm>
            <a:off x="7521135" y="1463040"/>
            <a:ext cx="1795012" cy="3886200"/>
          </a:xfrm>
          <a:prstGeom prst="rect">
            <a:avLst/>
          </a:prstGeom>
        </p:spPr>
      </p:pic>
      <p:sp>
        <p:nvSpPr>
          <p:cNvPr id="19" name="Text 10"/>
          <p:cNvSpPr txBox="1"/>
          <p:nvPr/>
        </p:nvSpPr>
        <p:spPr>
          <a:xfrm>
            <a:off x="7521135" y="5468112"/>
            <a:ext cx="2023612"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4  Personalised plan</a:t>
            </a:r>
            <a:endParaRPr lang="en-US" sz="1250" dirty="0"/>
          </a:p>
        </p:txBody>
      </p:sp>
      <p:sp>
        <p:nvSpPr>
          <p:cNvPr id="20" name="Text 11"/>
          <p:cNvSpPr txBox="1"/>
          <p:nvPr/>
        </p:nvSpPr>
        <p:spPr>
          <a:xfrm>
            <a:off x="7521135" y="5760720"/>
            <a:ext cx="1977892" cy="658368"/>
          </a:xfrm>
          <a:prstGeom prst="rect">
            <a:avLst/>
          </a:prstGeom>
          <a:noFill/>
          <a:ln/>
        </p:spPr>
        <p:txBody>
          <a:bodyPr wrap="square" lIns="0" tIns="0" rIns="0" bIns="0" rtlCol="0" anchor="t"/>
          <a:lstStyle/>
          <a:p>
            <a:pPr indent="0" marL="0">
              <a:lnSpc>
                <a:spcPct val="105000"/>
              </a:lnSpc>
              <a:buNone/>
            </a:pPr>
            <a:r>
              <a:rPr lang="en-US" sz="950" dirty="0">
                <a:solidFill>
                  <a:srgbClr val="A1A1AA"/>
                </a:solidFill>
                <a:latin typeface="Arial" pitchFamily="34" charset="0"/>
                <a:ea typeface="Arial" pitchFamily="34" charset="-122"/>
                <a:cs typeface="Arial" pitchFamily="34" charset="-120"/>
              </a:rPr>
              <a:t>iGOT courses sequenced by prerequisites, each step with its reason.</a:t>
            </a:r>
            <a:endParaRPr lang="en-US" sz="950" dirty="0"/>
          </a:p>
        </p:txBody>
      </p:sp>
      <p:pic>
        <p:nvPicPr>
          <p:cNvPr id="21" name="Image 7" descr="preencoded.png">    </p:cNvPr>
          <p:cNvPicPr>
            <a:picLocks noChangeAspect="1"/>
          </p:cNvPicPr>
          <p:nvPr/>
        </p:nvPicPr>
        <p:blipFill>
          <a:blip r:embed="rId8"/>
          <a:stretch>
            <a:fillRect/>
          </a:stretch>
        </p:blipFill>
        <p:spPr>
          <a:xfrm>
            <a:off x="9461852" y="3291840"/>
            <a:ext cx="237744" cy="237744"/>
          </a:xfrm>
          <a:prstGeom prst="rect">
            <a:avLst/>
          </a:prstGeom>
        </p:spPr>
      </p:pic>
      <p:pic>
        <p:nvPicPr>
          <p:cNvPr id="22" name="Image 8" descr="/private/tmp/claude-501/-Users-bonny-Desktop-Adreej-projects-SIH-2026/9aad41f0-270d-4125-b657-0e332d72b56e/scratchpad/deck/img/13-practice-quiz.png">    </p:cNvPr>
          <p:cNvPicPr>
            <a:picLocks noChangeAspect="1"/>
          </p:cNvPicPr>
          <p:nvPr/>
        </p:nvPicPr>
        <p:blipFill>
          <a:blip r:embed="rId9"/>
          <a:stretch>
            <a:fillRect/>
          </a:stretch>
        </p:blipFill>
        <p:spPr>
          <a:xfrm>
            <a:off x="9845300" y="1463040"/>
            <a:ext cx="1795012" cy="3886200"/>
          </a:xfrm>
          <a:prstGeom prst="rect">
            <a:avLst/>
          </a:prstGeom>
        </p:spPr>
      </p:pic>
      <p:sp>
        <p:nvSpPr>
          <p:cNvPr id="23" name="Text 12"/>
          <p:cNvSpPr txBox="1"/>
          <p:nvPr/>
        </p:nvSpPr>
        <p:spPr>
          <a:xfrm>
            <a:off x="9845300" y="5468112"/>
            <a:ext cx="2023612"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5  Practise on material</a:t>
            </a:r>
            <a:endParaRPr lang="en-US" sz="1250" dirty="0"/>
          </a:p>
        </p:txBody>
      </p:sp>
      <p:sp>
        <p:nvSpPr>
          <p:cNvPr id="24" name="Text 13"/>
          <p:cNvSpPr txBox="1"/>
          <p:nvPr/>
        </p:nvSpPr>
        <p:spPr>
          <a:xfrm>
            <a:off x="9845300" y="5760720"/>
            <a:ext cx="1977892" cy="658368"/>
          </a:xfrm>
          <a:prstGeom prst="rect">
            <a:avLst/>
          </a:prstGeom>
          <a:noFill/>
          <a:ln/>
        </p:spPr>
        <p:txBody>
          <a:bodyPr wrap="square" lIns="0" tIns="0" rIns="0" bIns="0" rtlCol="0" anchor="t"/>
          <a:lstStyle/>
          <a:p>
            <a:pPr indent="0" marL="0">
              <a:lnSpc>
                <a:spcPct val="105000"/>
              </a:lnSpc>
              <a:buNone/>
            </a:pPr>
            <a:r>
              <a:rPr lang="en-US" sz="950" dirty="0">
                <a:solidFill>
                  <a:srgbClr val="A1A1AA"/>
                </a:solidFill>
                <a:latin typeface="Arial" pitchFamily="34" charset="0"/>
                <a:ea typeface="Arial" pitchFamily="34" charset="-122"/>
                <a:cs typeface="Arial" pitchFamily="34" charset="-120"/>
              </a:rPr>
              <a:t>Quiz, flashcards or mock test written from department material.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ASSESSMENT &amp; GAP ENGINES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Trustworthy by construction: the maths is not the model's</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05</a:t>
            </a:r>
            <a:endParaRPr lang="en-US" sz="900" dirty="0"/>
          </a:p>
        </p:txBody>
      </p:sp>
      <p:sp>
        <p:nvSpPr>
          <p:cNvPr id="6" name="Shape 4"/>
          <p:cNvSpPr/>
          <p:nvPr/>
        </p:nvSpPr>
        <p:spPr>
          <a:xfrm>
            <a:off x="548640" y="1508760"/>
            <a:ext cx="6812280" cy="1481328"/>
          </a:xfrm>
          <a:prstGeom prst="roundRect">
            <a:avLst>
              <a:gd name="adj" fmla="val 7407"/>
            </a:avLst>
          </a:prstGeom>
          <a:solidFill>
            <a:srgbClr val="161618"/>
          </a:solidFill>
          <a:ln w="9525">
            <a:solidFill>
              <a:srgbClr val="2C2C30"/>
            </a:solidFill>
            <a:prstDash val="solid"/>
          </a:ln>
        </p:spPr>
      </p:sp>
      <p:sp>
        <p:nvSpPr>
          <p:cNvPr id="7" name="Shape 5"/>
          <p:cNvSpPr/>
          <p:nvPr/>
        </p:nvSpPr>
        <p:spPr>
          <a:xfrm>
            <a:off x="777240" y="1709928"/>
            <a:ext cx="457200" cy="457200"/>
          </a:xfrm>
          <a:prstGeom prst="ellipse">
            <a:avLst/>
          </a:prstGeom>
          <a:solidFill>
            <a:srgbClr val="1E1E21"/>
          </a:solidFill>
          <a:ln w="9525">
            <a:solidFill>
              <a:srgbClr val="2C2C30"/>
            </a:solidFill>
            <a:prstDash val="solid"/>
          </a:ln>
        </p:spPr>
      </p:sp>
      <p:pic>
        <p:nvPicPr>
          <p:cNvPr id="8" name="Image 0" descr="preencoded.png">    </p:cNvPr>
          <p:cNvPicPr>
            <a:picLocks noChangeAspect="1"/>
          </p:cNvPicPr>
          <p:nvPr/>
        </p:nvPicPr>
        <p:blipFill>
          <a:blip r:embed="rId1"/>
          <a:stretch>
            <a:fillRect/>
          </a:stretch>
        </p:blipFill>
        <p:spPr>
          <a:xfrm>
            <a:off x="886968" y="1819656"/>
            <a:ext cx="237744" cy="237744"/>
          </a:xfrm>
          <a:prstGeom prst="rect">
            <a:avLst/>
          </a:prstGeom>
        </p:spPr>
      </p:pic>
      <p:sp>
        <p:nvSpPr>
          <p:cNvPr id="9" name="Text 6"/>
          <p:cNvSpPr txBox="1"/>
          <p:nvPr/>
        </p:nvSpPr>
        <p:spPr>
          <a:xfrm>
            <a:off x="1371600" y="1691640"/>
            <a:ext cx="5943600"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Gap analysis is SQL — AI only explains it</a:t>
            </a:r>
            <a:endParaRPr lang="en-US" sz="1500" dirty="0"/>
          </a:p>
        </p:txBody>
      </p:sp>
      <p:sp>
        <p:nvSpPr>
          <p:cNvPr id="10" name="Shape 7"/>
          <p:cNvSpPr/>
          <p:nvPr/>
        </p:nvSpPr>
        <p:spPr>
          <a:xfrm>
            <a:off x="1371600" y="2084832"/>
            <a:ext cx="5806440" cy="457200"/>
          </a:xfrm>
          <a:prstGeom prst="roundRect">
            <a:avLst>
              <a:gd name="adj" fmla="val 16000"/>
            </a:avLst>
          </a:prstGeom>
          <a:solidFill>
            <a:srgbClr val="0A0A0B"/>
          </a:solidFill>
          <a:ln w="9525">
            <a:solidFill>
              <a:srgbClr val="2C2C30"/>
            </a:solidFill>
            <a:prstDash val="solid"/>
          </a:ln>
        </p:spPr>
      </p:sp>
      <p:sp>
        <p:nvSpPr>
          <p:cNvPr id="11" name="Text 8"/>
          <p:cNvSpPr txBox="1"/>
          <p:nvPr/>
        </p:nvSpPr>
        <p:spPr>
          <a:xfrm>
            <a:off x="1481328" y="2084832"/>
            <a:ext cx="5760720" cy="45720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priority = max(0, required − score) × weight × criticality × (0.5 + 0.5·confidence)</a:t>
            </a:r>
            <a:endParaRPr lang="en-US" sz="1000" dirty="0"/>
          </a:p>
        </p:txBody>
      </p:sp>
      <p:sp>
        <p:nvSpPr>
          <p:cNvPr id="12" name="Text 9"/>
          <p:cNvSpPr txBox="1"/>
          <p:nvPr/>
        </p:nvSpPr>
        <p:spPr>
          <a:xfrm>
            <a:off x="1371600" y="2606040"/>
            <a:ext cx="5943600" cy="347472"/>
          </a:xfrm>
          <a:prstGeom prst="rect">
            <a:avLst/>
          </a:prstGeom>
          <a:noFill/>
          <a:ln/>
        </p:spPr>
        <p:txBody>
          <a:bodyPr wrap="square" lIns="0" tIns="0" rIns="0" bIns="0" rtlCol="0" anchor="t"/>
          <a:lstStyle/>
          <a:p>
            <a:pPr indent="0" marL="0">
              <a:buNone/>
            </a:pPr>
            <a:r>
              <a:rPr lang="en-US" sz="1050" dirty="0">
                <a:solidFill>
                  <a:srgbClr val="A1A1AA"/>
                </a:solidFill>
                <a:latin typeface="Arial" pitchFamily="34" charset="0"/>
                <a:ea typeface="Arial" pitchFamily="34" charset="-122"/>
                <a:cs typeface="Arial" pitchFamily="34" charset="-120"/>
              </a:rPr>
              <a:t>Reproducible and auditable. Low confidence means “assess first”, not “train” — no budget spent on unmeasured skills.</a:t>
            </a:r>
            <a:endParaRPr lang="en-US" sz="1050" dirty="0"/>
          </a:p>
        </p:txBody>
      </p:sp>
      <p:sp>
        <p:nvSpPr>
          <p:cNvPr id="13" name="Shape 10"/>
          <p:cNvSpPr/>
          <p:nvPr/>
        </p:nvSpPr>
        <p:spPr>
          <a:xfrm>
            <a:off x="548640" y="3127248"/>
            <a:ext cx="6812280" cy="1572768"/>
          </a:xfrm>
          <a:prstGeom prst="roundRect">
            <a:avLst>
              <a:gd name="adj" fmla="val 6977"/>
            </a:avLst>
          </a:prstGeom>
          <a:solidFill>
            <a:srgbClr val="161618"/>
          </a:solidFill>
          <a:ln w="9525">
            <a:solidFill>
              <a:srgbClr val="2C2C30"/>
            </a:solidFill>
            <a:prstDash val="solid"/>
          </a:ln>
        </p:spPr>
      </p:sp>
      <p:sp>
        <p:nvSpPr>
          <p:cNvPr id="14" name="Shape 11"/>
          <p:cNvSpPr/>
          <p:nvPr/>
        </p:nvSpPr>
        <p:spPr>
          <a:xfrm>
            <a:off x="777240" y="3319272"/>
            <a:ext cx="457200" cy="457200"/>
          </a:xfrm>
          <a:prstGeom prst="ellipse">
            <a:avLst/>
          </a:prstGeom>
          <a:solidFill>
            <a:srgbClr val="1E1E21"/>
          </a:solidFill>
          <a:ln w="9525">
            <a:solidFill>
              <a:srgbClr val="2C2C30"/>
            </a:solidFill>
            <a:prstDash val="solid"/>
          </a:ln>
        </p:spPr>
      </p:sp>
      <p:pic>
        <p:nvPicPr>
          <p:cNvPr id="15" name="Image 1" descr="preencoded.png">    </p:cNvPr>
          <p:cNvPicPr>
            <a:picLocks noChangeAspect="1"/>
          </p:cNvPicPr>
          <p:nvPr/>
        </p:nvPicPr>
        <p:blipFill>
          <a:blip r:embed="rId2"/>
          <a:stretch>
            <a:fillRect/>
          </a:stretch>
        </p:blipFill>
        <p:spPr>
          <a:xfrm>
            <a:off x="886968" y="3429000"/>
            <a:ext cx="237744" cy="237744"/>
          </a:xfrm>
          <a:prstGeom prst="rect">
            <a:avLst/>
          </a:prstGeom>
        </p:spPr>
      </p:pic>
      <p:sp>
        <p:nvSpPr>
          <p:cNvPr id="16" name="Text 12"/>
          <p:cNvSpPr txBox="1"/>
          <p:nvPr/>
        </p:nvSpPr>
        <p:spPr>
          <a:xfrm>
            <a:off x="1371600" y="3310128"/>
            <a:ext cx="5943600"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Grounded MCQs from any upload</a:t>
            </a:r>
            <a:endParaRPr lang="en-US" sz="1500" dirty="0"/>
          </a:p>
        </p:txBody>
      </p:sp>
      <p:sp>
        <p:nvSpPr>
          <p:cNvPr id="17" name="Shape 13"/>
          <p:cNvSpPr/>
          <p:nvPr/>
        </p:nvSpPr>
        <p:spPr>
          <a:xfrm>
            <a:off x="749808" y="3767328"/>
            <a:ext cx="932688" cy="384048"/>
          </a:xfrm>
          <a:prstGeom prst="roundRect">
            <a:avLst>
              <a:gd name="adj" fmla="val 50000"/>
            </a:avLst>
          </a:prstGeom>
          <a:solidFill>
            <a:srgbClr val="1E1E21"/>
          </a:solidFill>
          <a:ln w="9525">
            <a:solidFill>
              <a:srgbClr val="2C2C30"/>
            </a:solidFill>
            <a:prstDash val="solid"/>
          </a:ln>
        </p:spPr>
      </p:sp>
      <p:sp>
        <p:nvSpPr>
          <p:cNvPr id="18" name="Text 14"/>
          <p:cNvSpPr txBox="1"/>
          <p:nvPr/>
        </p:nvSpPr>
        <p:spPr>
          <a:xfrm>
            <a:off x="749808" y="3767328"/>
            <a:ext cx="932688" cy="384048"/>
          </a:xfrm>
          <a:prstGeom prst="rect">
            <a:avLst/>
          </a:prstGeom>
          <a:noFill/>
          <a:ln/>
        </p:spPr>
        <p:txBody>
          <a:bodyPr wrap="square" lIns="0" tIns="0" rIns="0" bIns="0" rtlCol="0" anchor="ctr"/>
          <a:lstStyle/>
          <a:p>
            <a:pPr algn="ctr" indent="0" marL="0">
              <a:buNone/>
            </a:pPr>
            <a:r>
              <a:rPr lang="en-US" sz="900" b="1" dirty="0">
                <a:solidFill>
                  <a:srgbClr val="E4E4E7"/>
                </a:solidFill>
                <a:latin typeface="Arial" pitchFamily="34" charset="0"/>
                <a:ea typeface="Arial" pitchFamily="34" charset="-122"/>
                <a:cs typeface="Arial" pitchFamily="34" charset="-120"/>
              </a:rPr>
              <a:t>Upload</a:t>
            </a:r>
            <a:endParaRPr lang="en-US" sz="900" dirty="0"/>
          </a:p>
        </p:txBody>
      </p:sp>
      <p:pic>
        <p:nvPicPr>
          <p:cNvPr id="19" name="Image 2" descr="preencoded.png">    </p:cNvPr>
          <p:cNvPicPr>
            <a:picLocks noChangeAspect="1"/>
          </p:cNvPicPr>
          <p:nvPr/>
        </p:nvPicPr>
        <p:blipFill>
          <a:blip r:embed="rId3"/>
          <a:stretch>
            <a:fillRect/>
          </a:stretch>
        </p:blipFill>
        <p:spPr>
          <a:xfrm>
            <a:off x="1691640" y="3877056"/>
            <a:ext cx="137160" cy="137160"/>
          </a:xfrm>
          <a:prstGeom prst="rect">
            <a:avLst/>
          </a:prstGeom>
        </p:spPr>
      </p:pic>
      <p:sp>
        <p:nvSpPr>
          <p:cNvPr id="20" name="Shape 15"/>
          <p:cNvSpPr/>
          <p:nvPr/>
        </p:nvSpPr>
        <p:spPr>
          <a:xfrm>
            <a:off x="1828800" y="3767328"/>
            <a:ext cx="932688" cy="384048"/>
          </a:xfrm>
          <a:prstGeom prst="roundRect">
            <a:avLst>
              <a:gd name="adj" fmla="val 50000"/>
            </a:avLst>
          </a:prstGeom>
          <a:solidFill>
            <a:srgbClr val="1E1E21"/>
          </a:solidFill>
          <a:ln w="9525">
            <a:solidFill>
              <a:srgbClr val="2C2C30"/>
            </a:solidFill>
            <a:prstDash val="solid"/>
          </a:ln>
        </p:spPr>
      </p:sp>
      <p:sp>
        <p:nvSpPr>
          <p:cNvPr id="21" name="Text 16"/>
          <p:cNvSpPr txBox="1"/>
          <p:nvPr/>
        </p:nvSpPr>
        <p:spPr>
          <a:xfrm>
            <a:off x="1828800" y="3767328"/>
            <a:ext cx="932688" cy="384048"/>
          </a:xfrm>
          <a:prstGeom prst="rect">
            <a:avLst/>
          </a:prstGeom>
          <a:noFill/>
          <a:ln/>
        </p:spPr>
        <p:txBody>
          <a:bodyPr wrap="square" lIns="0" tIns="0" rIns="0" bIns="0" rtlCol="0" anchor="ctr"/>
          <a:lstStyle/>
          <a:p>
            <a:pPr algn="ctr" indent="0" marL="0">
              <a:buNone/>
            </a:pPr>
            <a:r>
              <a:rPr lang="en-US" sz="900" b="1" dirty="0">
                <a:solidFill>
                  <a:srgbClr val="E4E4E7"/>
                </a:solidFill>
                <a:latin typeface="Arial" pitchFamily="34" charset="0"/>
                <a:ea typeface="Arial" pitchFamily="34" charset="-122"/>
                <a:cs typeface="Arial" pitchFamily="34" charset="-120"/>
              </a:rPr>
              <a:t>Extract text</a:t>
            </a:r>
            <a:endParaRPr lang="en-US" sz="900" dirty="0"/>
          </a:p>
        </p:txBody>
      </p:sp>
      <p:pic>
        <p:nvPicPr>
          <p:cNvPr id="22" name="Image 3" descr="preencoded.png">    </p:cNvPr>
          <p:cNvPicPr>
            <a:picLocks noChangeAspect="1"/>
          </p:cNvPicPr>
          <p:nvPr/>
        </p:nvPicPr>
        <p:blipFill>
          <a:blip r:embed="rId4"/>
          <a:stretch>
            <a:fillRect/>
          </a:stretch>
        </p:blipFill>
        <p:spPr>
          <a:xfrm>
            <a:off x="2770632" y="3877056"/>
            <a:ext cx="137160" cy="137160"/>
          </a:xfrm>
          <a:prstGeom prst="rect">
            <a:avLst/>
          </a:prstGeom>
        </p:spPr>
      </p:pic>
      <p:sp>
        <p:nvSpPr>
          <p:cNvPr id="23" name="Shape 17"/>
          <p:cNvSpPr/>
          <p:nvPr/>
        </p:nvSpPr>
        <p:spPr>
          <a:xfrm>
            <a:off x="2907792" y="3767328"/>
            <a:ext cx="932688" cy="384048"/>
          </a:xfrm>
          <a:prstGeom prst="roundRect">
            <a:avLst>
              <a:gd name="adj" fmla="val 50000"/>
            </a:avLst>
          </a:prstGeom>
          <a:solidFill>
            <a:srgbClr val="1E1E21"/>
          </a:solidFill>
          <a:ln w="9525">
            <a:solidFill>
              <a:srgbClr val="2C2C30"/>
            </a:solidFill>
            <a:prstDash val="solid"/>
          </a:ln>
        </p:spPr>
      </p:sp>
      <p:sp>
        <p:nvSpPr>
          <p:cNvPr id="24" name="Text 18"/>
          <p:cNvSpPr txBox="1"/>
          <p:nvPr/>
        </p:nvSpPr>
        <p:spPr>
          <a:xfrm>
            <a:off x="2907792" y="3767328"/>
            <a:ext cx="932688" cy="384048"/>
          </a:xfrm>
          <a:prstGeom prst="rect">
            <a:avLst/>
          </a:prstGeom>
          <a:noFill/>
          <a:ln/>
        </p:spPr>
        <p:txBody>
          <a:bodyPr wrap="square" lIns="0" tIns="0" rIns="0" bIns="0" rtlCol="0" anchor="ctr"/>
          <a:lstStyle/>
          <a:p>
            <a:pPr algn="ctr" indent="0" marL="0">
              <a:buNone/>
            </a:pPr>
            <a:r>
              <a:rPr lang="en-US" sz="900" b="1" dirty="0">
                <a:solidFill>
                  <a:srgbClr val="E4E4E7"/>
                </a:solidFill>
                <a:latin typeface="Arial" pitchFamily="34" charset="0"/>
                <a:ea typeface="Arial" pitchFamily="34" charset="-122"/>
                <a:cs typeface="Arial" pitchFamily="34" charset="-120"/>
              </a:rPr>
              <a:t>Chunk + embed</a:t>
            </a:r>
            <a:endParaRPr lang="en-US" sz="900" dirty="0"/>
          </a:p>
        </p:txBody>
      </p:sp>
      <p:pic>
        <p:nvPicPr>
          <p:cNvPr id="25" name="Image 4" descr="preencoded.png">    </p:cNvPr>
          <p:cNvPicPr>
            <a:picLocks noChangeAspect="1"/>
          </p:cNvPicPr>
          <p:nvPr/>
        </p:nvPicPr>
        <p:blipFill>
          <a:blip r:embed="rId5"/>
          <a:stretch>
            <a:fillRect/>
          </a:stretch>
        </p:blipFill>
        <p:spPr>
          <a:xfrm>
            <a:off x="3849624" y="3877056"/>
            <a:ext cx="137160" cy="137160"/>
          </a:xfrm>
          <a:prstGeom prst="rect">
            <a:avLst/>
          </a:prstGeom>
        </p:spPr>
      </p:pic>
      <p:sp>
        <p:nvSpPr>
          <p:cNvPr id="26" name="Shape 19"/>
          <p:cNvSpPr/>
          <p:nvPr/>
        </p:nvSpPr>
        <p:spPr>
          <a:xfrm>
            <a:off x="3986784" y="3767328"/>
            <a:ext cx="932688" cy="384048"/>
          </a:xfrm>
          <a:prstGeom prst="roundRect">
            <a:avLst>
              <a:gd name="adj" fmla="val 50000"/>
            </a:avLst>
          </a:prstGeom>
          <a:solidFill>
            <a:srgbClr val="1E1E21"/>
          </a:solidFill>
          <a:ln w="9525">
            <a:solidFill>
              <a:srgbClr val="2C2C30"/>
            </a:solidFill>
            <a:prstDash val="solid"/>
          </a:ln>
        </p:spPr>
      </p:sp>
      <p:sp>
        <p:nvSpPr>
          <p:cNvPr id="27" name="Text 20"/>
          <p:cNvSpPr txBox="1"/>
          <p:nvPr/>
        </p:nvSpPr>
        <p:spPr>
          <a:xfrm>
            <a:off x="3986784" y="3767328"/>
            <a:ext cx="932688" cy="384048"/>
          </a:xfrm>
          <a:prstGeom prst="rect">
            <a:avLst/>
          </a:prstGeom>
          <a:noFill/>
          <a:ln/>
        </p:spPr>
        <p:txBody>
          <a:bodyPr wrap="square" lIns="0" tIns="0" rIns="0" bIns="0" rtlCol="0" anchor="ctr"/>
          <a:lstStyle/>
          <a:p>
            <a:pPr algn="ctr" indent="0" marL="0">
              <a:buNone/>
            </a:pPr>
            <a:r>
              <a:rPr lang="en-US" sz="900" b="1" dirty="0">
                <a:solidFill>
                  <a:srgbClr val="E4E4E7"/>
                </a:solidFill>
                <a:latin typeface="Arial" pitchFamily="34" charset="0"/>
                <a:ea typeface="Arial" pitchFamily="34" charset="-122"/>
                <a:cs typeface="Arial" pitchFamily="34" charset="-120"/>
              </a:rPr>
              <a:t>Strict JSON</a:t>
            </a:r>
            <a:endParaRPr lang="en-US" sz="900" dirty="0"/>
          </a:p>
        </p:txBody>
      </p:sp>
      <p:pic>
        <p:nvPicPr>
          <p:cNvPr id="28" name="Image 5" descr="preencoded.png">    </p:cNvPr>
          <p:cNvPicPr>
            <a:picLocks noChangeAspect="1"/>
          </p:cNvPicPr>
          <p:nvPr/>
        </p:nvPicPr>
        <p:blipFill>
          <a:blip r:embed="rId6"/>
          <a:stretch>
            <a:fillRect/>
          </a:stretch>
        </p:blipFill>
        <p:spPr>
          <a:xfrm>
            <a:off x="4928616" y="3877056"/>
            <a:ext cx="137160" cy="137160"/>
          </a:xfrm>
          <a:prstGeom prst="rect">
            <a:avLst/>
          </a:prstGeom>
        </p:spPr>
      </p:pic>
      <p:sp>
        <p:nvSpPr>
          <p:cNvPr id="29" name="Shape 21"/>
          <p:cNvSpPr/>
          <p:nvPr/>
        </p:nvSpPr>
        <p:spPr>
          <a:xfrm>
            <a:off x="5065776" y="3767328"/>
            <a:ext cx="932688" cy="384048"/>
          </a:xfrm>
          <a:prstGeom prst="roundRect">
            <a:avLst>
              <a:gd name="adj" fmla="val 50000"/>
            </a:avLst>
          </a:prstGeom>
          <a:solidFill>
            <a:srgbClr val="1E1E21"/>
          </a:solidFill>
          <a:ln w="9525">
            <a:solidFill>
              <a:srgbClr val="2C2C30"/>
            </a:solidFill>
            <a:prstDash val="solid"/>
          </a:ln>
        </p:spPr>
      </p:sp>
      <p:sp>
        <p:nvSpPr>
          <p:cNvPr id="30" name="Text 22"/>
          <p:cNvSpPr txBox="1"/>
          <p:nvPr/>
        </p:nvSpPr>
        <p:spPr>
          <a:xfrm>
            <a:off x="5065776" y="3767328"/>
            <a:ext cx="932688" cy="384048"/>
          </a:xfrm>
          <a:prstGeom prst="rect">
            <a:avLst/>
          </a:prstGeom>
          <a:noFill/>
          <a:ln/>
        </p:spPr>
        <p:txBody>
          <a:bodyPr wrap="square" lIns="0" tIns="0" rIns="0" bIns="0" rtlCol="0" anchor="ctr"/>
          <a:lstStyle/>
          <a:p>
            <a:pPr algn="ctr" indent="0" marL="0">
              <a:buNone/>
            </a:pPr>
            <a:r>
              <a:rPr lang="en-US" sz="900" b="1" dirty="0">
                <a:solidFill>
                  <a:srgbClr val="E4E4E7"/>
                </a:solidFill>
                <a:latin typeface="Arial" pitchFamily="34" charset="0"/>
                <a:ea typeface="Arial" pitchFamily="34" charset="-122"/>
                <a:cs typeface="Arial" pitchFamily="34" charset="-120"/>
              </a:rPr>
              <a:t>Verify quote</a:t>
            </a:r>
            <a:endParaRPr lang="en-US" sz="900" dirty="0"/>
          </a:p>
        </p:txBody>
      </p:sp>
      <p:pic>
        <p:nvPicPr>
          <p:cNvPr id="31" name="Image 6" descr="preencoded.png">    </p:cNvPr>
          <p:cNvPicPr>
            <a:picLocks noChangeAspect="1"/>
          </p:cNvPicPr>
          <p:nvPr/>
        </p:nvPicPr>
        <p:blipFill>
          <a:blip r:embed="rId7"/>
          <a:stretch>
            <a:fillRect/>
          </a:stretch>
        </p:blipFill>
        <p:spPr>
          <a:xfrm>
            <a:off x="6007608" y="3877056"/>
            <a:ext cx="137160" cy="137160"/>
          </a:xfrm>
          <a:prstGeom prst="rect">
            <a:avLst/>
          </a:prstGeom>
        </p:spPr>
      </p:pic>
      <p:sp>
        <p:nvSpPr>
          <p:cNvPr id="32" name="Shape 23"/>
          <p:cNvSpPr/>
          <p:nvPr/>
        </p:nvSpPr>
        <p:spPr>
          <a:xfrm>
            <a:off x="6144768" y="3767328"/>
            <a:ext cx="932688" cy="384048"/>
          </a:xfrm>
          <a:prstGeom prst="roundRect">
            <a:avLst>
              <a:gd name="adj" fmla="val 50000"/>
            </a:avLst>
          </a:prstGeom>
          <a:solidFill>
            <a:srgbClr val="FFFFFF"/>
          </a:solidFill>
          <a:ln w="9525">
            <a:solidFill>
              <a:srgbClr val="2C2C30"/>
            </a:solidFill>
            <a:prstDash val="solid"/>
          </a:ln>
        </p:spPr>
      </p:sp>
      <p:sp>
        <p:nvSpPr>
          <p:cNvPr id="33" name="Text 24"/>
          <p:cNvSpPr txBox="1"/>
          <p:nvPr/>
        </p:nvSpPr>
        <p:spPr>
          <a:xfrm>
            <a:off x="6144768" y="3767328"/>
            <a:ext cx="932688" cy="384048"/>
          </a:xfrm>
          <a:prstGeom prst="rect">
            <a:avLst/>
          </a:prstGeom>
          <a:noFill/>
          <a:ln/>
        </p:spPr>
        <p:txBody>
          <a:bodyPr wrap="square" lIns="0" tIns="0" rIns="0" bIns="0" rtlCol="0" anchor="ctr"/>
          <a:lstStyle/>
          <a:p>
            <a:pPr algn="ctr" indent="0" marL="0">
              <a:buNone/>
            </a:pPr>
            <a:r>
              <a:rPr lang="en-US" sz="900" b="1" dirty="0">
                <a:solidFill>
                  <a:srgbClr val="0A0A0B"/>
                </a:solidFill>
                <a:latin typeface="Arial" pitchFamily="34" charset="0"/>
                <a:ea typeface="Arial" pitchFamily="34" charset="-122"/>
                <a:cs typeface="Arial" pitchFamily="34" charset="-120"/>
              </a:rPr>
              <a:t>Page-cited</a:t>
            </a:r>
            <a:endParaRPr lang="en-US" sz="900" dirty="0"/>
          </a:p>
        </p:txBody>
      </p:sp>
      <p:sp>
        <p:nvSpPr>
          <p:cNvPr id="34" name="Text 25"/>
          <p:cNvSpPr txBox="1"/>
          <p:nvPr/>
        </p:nvSpPr>
        <p:spPr>
          <a:xfrm>
            <a:off x="777240" y="4224528"/>
            <a:ext cx="6583680" cy="438912"/>
          </a:xfrm>
          <a:prstGeom prst="rect">
            <a:avLst/>
          </a:prstGeom>
          <a:noFill/>
          <a:ln/>
        </p:spPr>
        <p:txBody>
          <a:bodyPr wrap="square" lIns="0" tIns="0" rIns="0" bIns="0" rtlCol="0" anchor="t"/>
          <a:lstStyle/>
          <a:p>
            <a:pPr indent="0" marL="0">
              <a:buNone/>
            </a:pPr>
            <a:r>
              <a:rPr lang="en-US" sz="1050" dirty="0">
                <a:solidFill>
                  <a:srgbClr val="A1A1AA"/>
                </a:solidFill>
                <a:latin typeface="Arial" pitchFamily="34" charset="0"/>
                <a:ea typeface="Arial" pitchFamily="34" charset="-122"/>
                <a:cs typeface="Arial" pitchFamily="34" charset="-120"/>
              </a:rPr>
              <a:t>Every question quotes its source verbatim; the quote is checked in the document and mapped to a page or slide. Each distractor names the misconception it encodes.</a:t>
            </a:r>
            <a:endParaRPr lang="en-US" sz="1050" dirty="0"/>
          </a:p>
        </p:txBody>
      </p:sp>
      <p:sp>
        <p:nvSpPr>
          <p:cNvPr id="35" name="Shape 26"/>
          <p:cNvSpPr/>
          <p:nvPr/>
        </p:nvSpPr>
        <p:spPr>
          <a:xfrm>
            <a:off x="548640" y="4846320"/>
            <a:ext cx="2185416" cy="640080"/>
          </a:xfrm>
          <a:prstGeom prst="roundRect">
            <a:avLst>
              <a:gd name="adj" fmla="val 17143"/>
            </a:avLst>
          </a:prstGeom>
          <a:solidFill>
            <a:srgbClr val="161618"/>
          </a:solidFill>
          <a:ln w="9525">
            <a:solidFill>
              <a:srgbClr val="2C2C30"/>
            </a:solidFill>
            <a:prstDash val="solid"/>
          </a:ln>
        </p:spPr>
      </p:sp>
      <p:sp>
        <p:nvSpPr>
          <p:cNvPr id="36" name="Text 27"/>
          <p:cNvSpPr txBox="1"/>
          <p:nvPr/>
        </p:nvSpPr>
        <p:spPr>
          <a:xfrm>
            <a:off x="713232" y="4937760"/>
            <a:ext cx="2011680" cy="256032"/>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IRT adaptive test</a:t>
            </a:r>
            <a:endParaRPr lang="en-US" sz="1150" dirty="0"/>
          </a:p>
        </p:txBody>
      </p:sp>
      <p:sp>
        <p:nvSpPr>
          <p:cNvPr id="37" name="Text 28"/>
          <p:cNvSpPr txBox="1"/>
          <p:nvPr/>
        </p:nvSpPr>
        <p:spPr>
          <a:xfrm>
            <a:off x="713232" y="5193792"/>
            <a:ext cx="2011680" cy="237744"/>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 half the questions</a:t>
            </a:r>
            <a:endParaRPr lang="en-US" sz="950" dirty="0"/>
          </a:p>
        </p:txBody>
      </p:sp>
      <p:sp>
        <p:nvSpPr>
          <p:cNvPr id="38" name="Shape 29"/>
          <p:cNvSpPr/>
          <p:nvPr/>
        </p:nvSpPr>
        <p:spPr>
          <a:xfrm>
            <a:off x="2843784" y="4846320"/>
            <a:ext cx="2185416" cy="640080"/>
          </a:xfrm>
          <a:prstGeom prst="roundRect">
            <a:avLst>
              <a:gd name="adj" fmla="val 17143"/>
            </a:avLst>
          </a:prstGeom>
          <a:solidFill>
            <a:srgbClr val="161618"/>
          </a:solidFill>
          <a:ln w="9525">
            <a:solidFill>
              <a:srgbClr val="2C2C30"/>
            </a:solidFill>
            <a:prstDash val="solid"/>
          </a:ln>
        </p:spPr>
      </p:sp>
      <p:sp>
        <p:nvSpPr>
          <p:cNvPr id="39" name="Text 30"/>
          <p:cNvSpPr txBox="1"/>
          <p:nvPr/>
        </p:nvSpPr>
        <p:spPr>
          <a:xfrm>
            <a:off x="3008376" y="4937760"/>
            <a:ext cx="2011680" cy="256032"/>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FSRS-6 review</a:t>
            </a:r>
            <a:endParaRPr lang="en-US" sz="1150" dirty="0"/>
          </a:p>
        </p:txBody>
      </p:sp>
      <p:sp>
        <p:nvSpPr>
          <p:cNvPr id="40" name="Text 31"/>
          <p:cNvSpPr txBox="1"/>
          <p:nvPr/>
        </p:nvSpPr>
        <p:spPr>
          <a:xfrm>
            <a:off x="3008376" y="5193792"/>
            <a:ext cx="2011680" cy="237744"/>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matches reference intervals</a:t>
            </a:r>
            <a:endParaRPr lang="en-US" sz="950" dirty="0"/>
          </a:p>
        </p:txBody>
      </p:sp>
      <p:sp>
        <p:nvSpPr>
          <p:cNvPr id="41" name="Shape 32"/>
          <p:cNvSpPr/>
          <p:nvPr/>
        </p:nvSpPr>
        <p:spPr>
          <a:xfrm>
            <a:off x="5138928" y="4846320"/>
            <a:ext cx="2185416" cy="640080"/>
          </a:xfrm>
          <a:prstGeom prst="roundRect">
            <a:avLst>
              <a:gd name="adj" fmla="val 17143"/>
            </a:avLst>
          </a:prstGeom>
          <a:solidFill>
            <a:srgbClr val="161618"/>
          </a:solidFill>
          <a:ln w="9525">
            <a:solidFill>
              <a:srgbClr val="2C2C30"/>
            </a:solidFill>
            <a:prstDash val="solid"/>
          </a:ln>
        </p:spPr>
      </p:sp>
      <p:sp>
        <p:nvSpPr>
          <p:cNvPr id="42" name="Text 33"/>
          <p:cNvSpPr txBox="1"/>
          <p:nvPr/>
        </p:nvSpPr>
        <p:spPr>
          <a:xfrm>
            <a:off x="5303520" y="4937760"/>
            <a:ext cx="2011680" cy="256032"/>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Prerequisite graph</a:t>
            </a:r>
            <a:endParaRPr lang="en-US" sz="1150" dirty="0"/>
          </a:p>
        </p:txBody>
      </p:sp>
      <p:sp>
        <p:nvSpPr>
          <p:cNvPr id="43" name="Text 34"/>
          <p:cNvSpPr txBox="1"/>
          <p:nvPr/>
        </p:nvSpPr>
        <p:spPr>
          <a:xfrm>
            <a:off x="5303520" y="5193792"/>
            <a:ext cx="2011680" cy="237744"/>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learnable next, not biggest gap</a:t>
            </a:r>
            <a:endParaRPr lang="en-US" sz="950" dirty="0"/>
          </a:p>
        </p:txBody>
      </p:sp>
      <p:sp>
        <p:nvSpPr>
          <p:cNvPr id="44" name="Shape 35"/>
          <p:cNvSpPr/>
          <p:nvPr/>
        </p:nvSpPr>
        <p:spPr>
          <a:xfrm>
            <a:off x="548640" y="5596128"/>
            <a:ext cx="2185416" cy="640080"/>
          </a:xfrm>
          <a:prstGeom prst="roundRect">
            <a:avLst>
              <a:gd name="adj" fmla="val 17143"/>
            </a:avLst>
          </a:prstGeom>
          <a:solidFill>
            <a:srgbClr val="161618"/>
          </a:solidFill>
          <a:ln w="9525">
            <a:solidFill>
              <a:srgbClr val="2C2C30"/>
            </a:solidFill>
            <a:prstDash val="solid"/>
          </a:ln>
        </p:spPr>
      </p:sp>
      <p:sp>
        <p:nvSpPr>
          <p:cNvPr id="45" name="Text 36"/>
          <p:cNvSpPr txBox="1"/>
          <p:nvPr/>
        </p:nvSpPr>
        <p:spPr>
          <a:xfrm>
            <a:off x="713232" y="5687568"/>
            <a:ext cx="2011680" cy="256032"/>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Misconception tracking</a:t>
            </a:r>
            <a:endParaRPr lang="en-US" sz="1150" dirty="0"/>
          </a:p>
        </p:txBody>
      </p:sp>
      <p:sp>
        <p:nvSpPr>
          <p:cNvPr id="46" name="Text 37"/>
          <p:cNvSpPr txBox="1"/>
          <p:nvPr/>
        </p:nvSpPr>
        <p:spPr>
          <a:xfrm>
            <a:off x="713232" y="5943600"/>
            <a:ext cx="2011680" cy="237744"/>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which wrong answer, not just wrong</a:t>
            </a:r>
            <a:endParaRPr lang="en-US" sz="950" dirty="0"/>
          </a:p>
        </p:txBody>
      </p:sp>
      <p:sp>
        <p:nvSpPr>
          <p:cNvPr id="47" name="Shape 38"/>
          <p:cNvSpPr/>
          <p:nvPr/>
        </p:nvSpPr>
        <p:spPr>
          <a:xfrm>
            <a:off x="2843784" y="5596128"/>
            <a:ext cx="2185416" cy="640080"/>
          </a:xfrm>
          <a:prstGeom prst="roundRect">
            <a:avLst>
              <a:gd name="adj" fmla="val 17143"/>
            </a:avLst>
          </a:prstGeom>
          <a:solidFill>
            <a:srgbClr val="161618"/>
          </a:solidFill>
          <a:ln w="9525">
            <a:solidFill>
              <a:srgbClr val="2C2C30"/>
            </a:solidFill>
            <a:prstDash val="solid"/>
          </a:ln>
        </p:spPr>
      </p:sp>
      <p:sp>
        <p:nvSpPr>
          <p:cNvPr id="48" name="Text 39"/>
          <p:cNvSpPr txBox="1"/>
          <p:nvPr/>
        </p:nvSpPr>
        <p:spPr>
          <a:xfrm>
            <a:off x="3008376" y="5687568"/>
            <a:ext cx="2011680" cy="256032"/>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Confidence calibration</a:t>
            </a:r>
            <a:endParaRPr lang="en-US" sz="1150" dirty="0"/>
          </a:p>
        </p:txBody>
      </p:sp>
      <p:sp>
        <p:nvSpPr>
          <p:cNvPr id="49" name="Text 40"/>
          <p:cNvSpPr txBox="1"/>
          <p:nvPr/>
        </p:nvSpPr>
        <p:spPr>
          <a:xfrm>
            <a:off x="3008376" y="5943600"/>
            <a:ext cx="2011680" cy="237744"/>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overconfidence named</a:t>
            </a:r>
            <a:endParaRPr lang="en-US" sz="950" dirty="0"/>
          </a:p>
        </p:txBody>
      </p:sp>
      <p:sp>
        <p:nvSpPr>
          <p:cNvPr id="50" name="Shape 41"/>
          <p:cNvSpPr/>
          <p:nvPr/>
        </p:nvSpPr>
        <p:spPr>
          <a:xfrm>
            <a:off x="5138928" y="5596128"/>
            <a:ext cx="2185416" cy="640080"/>
          </a:xfrm>
          <a:prstGeom prst="roundRect">
            <a:avLst>
              <a:gd name="adj" fmla="val 17143"/>
            </a:avLst>
          </a:prstGeom>
          <a:solidFill>
            <a:srgbClr val="161618"/>
          </a:solidFill>
          <a:ln w="9525">
            <a:solidFill>
              <a:srgbClr val="2C2C30"/>
            </a:solidFill>
            <a:prstDash val="solid"/>
          </a:ln>
        </p:spPr>
      </p:sp>
      <p:sp>
        <p:nvSpPr>
          <p:cNvPr id="51" name="Text 42"/>
          <p:cNvSpPr txBox="1"/>
          <p:nvPr/>
        </p:nvSpPr>
        <p:spPr>
          <a:xfrm>
            <a:off x="5303520" y="5687568"/>
            <a:ext cx="2011680" cy="256032"/>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Bloom spread</a:t>
            </a:r>
            <a:endParaRPr lang="en-US" sz="1150" dirty="0"/>
          </a:p>
        </p:txBody>
      </p:sp>
      <p:sp>
        <p:nvSpPr>
          <p:cNvPr id="52" name="Text 43"/>
          <p:cNvSpPr txBox="1"/>
          <p:nvPr/>
        </p:nvSpPr>
        <p:spPr>
          <a:xfrm>
            <a:off x="5303520" y="5943600"/>
            <a:ext cx="2011680" cy="237744"/>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apply · analyse · evaluate</a:t>
            </a:r>
            <a:endParaRPr lang="en-US" sz="950" dirty="0"/>
          </a:p>
        </p:txBody>
      </p:sp>
      <p:pic>
        <p:nvPicPr>
          <p:cNvPr id="53" name="Image 7" descr="/private/tmp/claude-501/-Users-bonny-Desktop-Adreej-projects-SIH-2026/9aad41f0-270d-4125-b657-0e332d72b56e/scratchpad/deck/img/16-quiz-feedback.png">    </p:cNvPr>
          <p:cNvPicPr>
            <a:picLocks noChangeAspect="1"/>
          </p:cNvPicPr>
          <p:nvPr/>
        </p:nvPicPr>
        <p:blipFill>
          <a:blip r:embed="rId8"/>
          <a:stretch>
            <a:fillRect/>
          </a:stretch>
        </p:blipFill>
        <p:spPr>
          <a:xfrm>
            <a:off x="7589520" y="1508760"/>
            <a:ext cx="2090661" cy="4526280"/>
          </a:xfrm>
          <a:prstGeom prst="rect">
            <a:avLst/>
          </a:prstGeom>
        </p:spPr>
      </p:pic>
      <p:pic>
        <p:nvPicPr>
          <p:cNvPr id="54" name="Image 8" descr="/private/tmp/claude-501/-Users-bonny-Desktop-Adreej-projects-SIH-2026/9aad41f0-270d-4125-b657-0e332d72b56e/scratchpad/deck/img/05-ai-diagnosis.png">    </p:cNvPr>
          <p:cNvPicPr>
            <a:picLocks noChangeAspect="1"/>
          </p:cNvPicPr>
          <p:nvPr/>
        </p:nvPicPr>
        <p:blipFill>
          <a:blip r:embed="rId9"/>
          <a:stretch>
            <a:fillRect/>
          </a:stretch>
        </p:blipFill>
        <p:spPr>
          <a:xfrm>
            <a:off x="9802368" y="1508760"/>
            <a:ext cx="2090661" cy="4526280"/>
          </a:xfrm>
          <a:prstGeom prst="rect">
            <a:avLst/>
          </a:prstGeom>
        </p:spPr>
      </p:pic>
      <p:sp>
        <p:nvSpPr>
          <p:cNvPr id="55" name="Text 44"/>
          <p:cNvSpPr txBox="1"/>
          <p:nvPr/>
        </p:nvSpPr>
        <p:spPr>
          <a:xfrm>
            <a:off x="7589520" y="6108192"/>
            <a:ext cx="2093976" cy="237744"/>
          </a:xfrm>
          <a:prstGeom prst="rect">
            <a:avLst/>
          </a:prstGeom>
          <a:noFill/>
          <a:ln/>
        </p:spPr>
        <p:txBody>
          <a:bodyPr wrap="square" lIns="0" tIns="0" rIns="0" bIns="0" rtlCol="0" anchor="t"/>
          <a:lstStyle/>
          <a:p>
            <a:pPr algn="ctr" indent="0" marL="0">
              <a:buNone/>
            </a:pPr>
            <a:r>
              <a:rPr lang="en-US" sz="950" b="1" dirty="0">
                <a:solidFill>
                  <a:srgbClr val="E4E4E7"/>
                </a:solidFill>
                <a:latin typeface="Arial" pitchFamily="34" charset="0"/>
                <a:ea typeface="Arial" pitchFamily="34" charset="-122"/>
                <a:cs typeface="Arial" pitchFamily="34" charset="-120"/>
              </a:rPr>
              <a:t>Feedback: rationale &amp; source</a:t>
            </a:r>
            <a:endParaRPr lang="en-US" sz="950" dirty="0"/>
          </a:p>
        </p:txBody>
      </p:sp>
      <p:sp>
        <p:nvSpPr>
          <p:cNvPr id="56" name="Text 45"/>
          <p:cNvSpPr txBox="1"/>
          <p:nvPr/>
        </p:nvSpPr>
        <p:spPr>
          <a:xfrm>
            <a:off x="9802368" y="6108192"/>
            <a:ext cx="2093976" cy="237744"/>
          </a:xfrm>
          <a:prstGeom prst="rect">
            <a:avLst/>
          </a:prstGeom>
          <a:noFill/>
          <a:ln/>
        </p:spPr>
        <p:txBody>
          <a:bodyPr wrap="square" lIns="0" tIns="0" rIns="0" bIns="0" rtlCol="0" anchor="t"/>
          <a:lstStyle/>
          <a:p>
            <a:pPr algn="ctr" indent="0" marL="0">
              <a:buNone/>
            </a:pPr>
            <a:r>
              <a:rPr lang="en-US" sz="950" b="1" dirty="0">
                <a:solidFill>
                  <a:srgbClr val="E4E4E7"/>
                </a:solidFill>
                <a:latin typeface="Arial" pitchFamily="34" charset="0"/>
                <a:ea typeface="Arial" pitchFamily="34" charset="-122"/>
                <a:cs typeface="Arial" pitchFamily="34" charset="-120"/>
              </a:rPr>
              <a:t>AI diagnosis of computed gaps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HOW IT WORKS · THE ADMINISTRATOR</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See the workforce, not just enrolments</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06</a:t>
            </a:r>
            <a:endParaRPr lang="en-US" sz="900" dirty="0"/>
          </a:p>
        </p:txBody>
      </p:sp>
      <p:sp>
        <p:nvSpPr>
          <p:cNvPr id="6" name="Shape 4"/>
          <p:cNvSpPr/>
          <p:nvPr/>
        </p:nvSpPr>
        <p:spPr>
          <a:xfrm>
            <a:off x="548640" y="1517904"/>
            <a:ext cx="420624" cy="420624"/>
          </a:xfrm>
          <a:prstGeom prst="ellipse">
            <a:avLst/>
          </a:prstGeom>
          <a:solidFill>
            <a:srgbClr val="1E1E21"/>
          </a:solidFill>
          <a:ln w="9525">
            <a:solidFill>
              <a:srgbClr val="2C2C30"/>
            </a:solidFill>
            <a:prstDash val="solid"/>
          </a:ln>
        </p:spPr>
      </p:sp>
      <p:pic>
        <p:nvPicPr>
          <p:cNvPr id="7" name="Image 0" descr="preencoded.png">    </p:cNvPr>
          <p:cNvPicPr>
            <a:picLocks noChangeAspect="1"/>
          </p:cNvPicPr>
          <p:nvPr/>
        </p:nvPicPr>
        <p:blipFill>
          <a:blip r:embed="rId1"/>
          <a:stretch>
            <a:fillRect/>
          </a:stretch>
        </p:blipFill>
        <p:spPr>
          <a:xfrm>
            <a:off x="649590" y="1618854"/>
            <a:ext cx="218724" cy="218724"/>
          </a:xfrm>
          <a:prstGeom prst="rect">
            <a:avLst/>
          </a:prstGeom>
        </p:spPr>
      </p:pic>
      <p:sp>
        <p:nvSpPr>
          <p:cNvPr id="8" name="Text 5"/>
          <p:cNvSpPr txBox="1"/>
          <p:nvPr/>
        </p:nvSpPr>
        <p:spPr>
          <a:xfrm>
            <a:off x="1097280" y="1481328"/>
            <a:ext cx="22860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Workforce Intelligence</a:t>
            </a:r>
            <a:endParaRPr lang="en-US" sz="1250" dirty="0"/>
          </a:p>
        </p:txBody>
      </p:sp>
      <p:sp>
        <p:nvSpPr>
          <p:cNvPr id="9" name="Text 6"/>
          <p:cNvSpPr txBox="1"/>
          <p:nvPr/>
        </p:nvSpPr>
        <p:spPr>
          <a:xfrm>
            <a:off x="1097280" y="1764792"/>
            <a:ext cx="2240280" cy="658368"/>
          </a:xfrm>
          <a:prstGeom prst="rect">
            <a:avLst/>
          </a:prstGeom>
          <a:noFill/>
          <a:ln/>
        </p:spPr>
        <p:txBody>
          <a:bodyPr wrap="square" lIns="0" tIns="0" rIns="0" bIns="0" rtlCol="0" anchor="t"/>
          <a:lstStyle/>
          <a:p>
            <a:pPr indent="0" marL="0">
              <a:lnSpc>
                <a:spcPct val="105000"/>
              </a:lnSpc>
              <a:buNone/>
            </a:pPr>
            <a:r>
              <a:rPr lang="en-US" sz="930" dirty="0">
                <a:solidFill>
                  <a:srgbClr val="A1A1AA"/>
                </a:solidFill>
                <a:latin typeface="Arial" pitchFamily="34" charset="0"/>
                <a:ea typeface="Arial" pitchFamily="34" charset="-122"/>
                <a:cs typeface="Arial" pitchFamily="34" charset="-120"/>
              </a:rPr>
              <a:t>Where the directorate is weak, how many officials are below the bar, quarterly trend — aggregate by construction.</a:t>
            </a:r>
            <a:endParaRPr lang="en-US" sz="930" dirty="0"/>
          </a:p>
        </p:txBody>
      </p:sp>
      <p:sp>
        <p:nvSpPr>
          <p:cNvPr id="10" name="Shape 7"/>
          <p:cNvSpPr/>
          <p:nvPr/>
        </p:nvSpPr>
        <p:spPr>
          <a:xfrm>
            <a:off x="548640" y="2487168"/>
            <a:ext cx="420624" cy="420624"/>
          </a:xfrm>
          <a:prstGeom prst="ellipse">
            <a:avLst/>
          </a:prstGeom>
          <a:solidFill>
            <a:srgbClr val="1E1E21"/>
          </a:solidFill>
          <a:ln w="9525">
            <a:solidFill>
              <a:srgbClr val="2C2C30"/>
            </a:solidFill>
            <a:prstDash val="solid"/>
          </a:ln>
        </p:spPr>
      </p:sp>
      <p:pic>
        <p:nvPicPr>
          <p:cNvPr id="11" name="Image 1" descr="preencoded.png">    </p:cNvPr>
          <p:cNvPicPr>
            <a:picLocks noChangeAspect="1"/>
          </p:cNvPicPr>
          <p:nvPr/>
        </p:nvPicPr>
        <p:blipFill>
          <a:blip r:embed="rId2"/>
          <a:stretch>
            <a:fillRect/>
          </a:stretch>
        </p:blipFill>
        <p:spPr>
          <a:xfrm>
            <a:off x="649590" y="2588118"/>
            <a:ext cx="218724" cy="218724"/>
          </a:xfrm>
          <a:prstGeom prst="rect">
            <a:avLst/>
          </a:prstGeom>
        </p:spPr>
      </p:pic>
      <p:sp>
        <p:nvSpPr>
          <p:cNvPr id="12" name="Text 8"/>
          <p:cNvSpPr txBox="1"/>
          <p:nvPr/>
        </p:nvSpPr>
        <p:spPr>
          <a:xfrm>
            <a:off x="1097280" y="2450592"/>
            <a:ext cx="22860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Roster &amp; officer record</a:t>
            </a:r>
            <a:endParaRPr lang="en-US" sz="1250" dirty="0"/>
          </a:p>
        </p:txBody>
      </p:sp>
      <p:sp>
        <p:nvSpPr>
          <p:cNvPr id="13" name="Text 9"/>
          <p:cNvSpPr txBox="1"/>
          <p:nvPr/>
        </p:nvSpPr>
        <p:spPr>
          <a:xfrm>
            <a:off x="1097280" y="2734056"/>
            <a:ext cx="2240280" cy="658368"/>
          </a:xfrm>
          <a:prstGeom prst="rect">
            <a:avLst/>
          </a:prstGeom>
          <a:noFill/>
          <a:ln/>
        </p:spPr>
        <p:txBody>
          <a:bodyPr wrap="square" lIns="0" tIns="0" rIns="0" bIns="0" rtlCol="0" anchor="t"/>
          <a:lstStyle/>
          <a:p>
            <a:pPr indent="0" marL="0">
              <a:lnSpc>
                <a:spcPct val="105000"/>
              </a:lnSpc>
              <a:buNone/>
            </a:pPr>
            <a:r>
              <a:rPr lang="en-US" sz="930" dirty="0">
                <a:solidFill>
                  <a:srgbClr val="A1A1AA"/>
                </a:solidFill>
                <a:latin typeface="Arial" pitchFamily="34" charset="0"/>
                <a:ea typeface="Arial" pitchFamily="34" charset="-122"/>
                <a:cs typeface="Arial" pitchFamily="34" charset="-120"/>
              </a:rPr>
              <a:t>Presence, ranked gaps, repeated misconceptions and the prescribed next step on one screen.</a:t>
            </a:r>
            <a:endParaRPr lang="en-US" sz="930" dirty="0"/>
          </a:p>
        </p:txBody>
      </p:sp>
      <p:sp>
        <p:nvSpPr>
          <p:cNvPr id="14" name="Shape 10"/>
          <p:cNvSpPr/>
          <p:nvPr/>
        </p:nvSpPr>
        <p:spPr>
          <a:xfrm>
            <a:off x="548640" y="3456432"/>
            <a:ext cx="420624" cy="420624"/>
          </a:xfrm>
          <a:prstGeom prst="ellipse">
            <a:avLst/>
          </a:prstGeom>
          <a:solidFill>
            <a:srgbClr val="1E1E21"/>
          </a:solidFill>
          <a:ln w="9525">
            <a:solidFill>
              <a:srgbClr val="2C2C30"/>
            </a:solidFill>
            <a:prstDash val="solid"/>
          </a:ln>
        </p:spPr>
      </p:sp>
      <p:pic>
        <p:nvPicPr>
          <p:cNvPr id="15" name="Image 2" descr="preencoded.png">    </p:cNvPr>
          <p:cNvPicPr>
            <a:picLocks noChangeAspect="1"/>
          </p:cNvPicPr>
          <p:nvPr/>
        </p:nvPicPr>
        <p:blipFill>
          <a:blip r:embed="rId3"/>
          <a:stretch>
            <a:fillRect/>
          </a:stretch>
        </p:blipFill>
        <p:spPr>
          <a:xfrm>
            <a:off x="649590" y="3557382"/>
            <a:ext cx="218724" cy="218724"/>
          </a:xfrm>
          <a:prstGeom prst="rect">
            <a:avLst/>
          </a:prstGeom>
        </p:spPr>
      </p:pic>
      <p:sp>
        <p:nvSpPr>
          <p:cNvPr id="16" name="Text 11"/>
          <p:cNvSpPr txBox="1"/>
          <p:nvPr/>
        </p:nvSpPr>
        <p:spPr>
          <a:xfrm>
            <a:off x="1097280" y="3419856"/>
            <a:ext cx="22860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Publish study material</a:t>
            </a:r>
            <a:endParaRPr lang="en-US" sz="1250" dirty="0"/>
          </a:p>
        </p:txBody>
      </p:sp>
      <p:sp>
        <p:nvSpPr>
          <p:cNvPr id="17" name="Text 12"/>
          <p:cNvSpPr txBox="1"/>
          <p:nvPr/>
        </p:nvSpPr>
        <p:spPr>
          <a:xfrm>
            <a:off x="1097280" y="3703320"/>
            <a:ext cx="2240280" cy="658368"/>
          </a:xfrm>
          <a:prstGeom prst="rect">
            <a:avLst/>
          </a:prstGeom>
          <a:noFill/>
          <a:ln/>
        </p:spPr>
        <p:txBody>
          <a:bodyPr wrap="square" lIns="0" tIns="0" rIns="0" bIns="0" rtlCol="0" anchor="t"/>
          <a:lstStyle/>
          <a:p>
            <a:pPr indent="0" marL="0">
              <a:lnSpc>
                <a:spcPct val="105000"/>
              </a:lnSpc>
              <a:buNone/>
            </a:pPr>
            <a:r>
              <a:rPr lang="en-US" sz="930" dirty="0">
                <a:solidFill>
                  <a:srgbClr val="A1A1AA"/>
                </a:solidFill>
                <a:latin typeface="Arial" pitchFamily="34" charset="0"/>
                <a:ea typeface="Arial" pitchFamily="34" charset="-122"/>
                <a:cs typeface="Arial" pitchFamily="34" charset="-120"/>
              </a:rPr>
              <a:t>PDF, slides, docs, video or links to a department or named officers; open rates tracked.</a:t>
            </a:r>
            <a:endParaRPr lang="en-US" sz="930" dirty="0"/>
          </a:p>
        </p:txBody>
      </p:sp>
      <p:sp>
        <p:nvSpPr>
          <p:cNvPr id="18" name="Shape 13"/>
          <p:cNvSpPr/>
          <p:nvPr/>
        </p:nvSpPr>
        <p:spPr>
          <a:xfrm>
            <a:off x="548640" y="4425696"/>
            <a:ext cx="420624" cy="420624"/>
          </a:xfrm>
          <a:prstGeom prst="ellipse">
            <a:avLst/>
          </a:prstGeom>
          <a:solidFill>
            <a:srgbClr val="1E1E21"/>
          </a:solidFill>
          <a:ln w="9525">
            <a:solidFill>
              <a:srgbClr val="2C2C30"/>
            </a:solidFill>
            <a:prstDash val="solid"/>
          </a:ln>
        </p:spPr>
      </p:sp>
      <p:pic>
        <p:nvPicPr>
          <p:cNvPr id="19" name="Image 3" descr="preencoded.png">    </p:cNvPr>
          <p:cNvPicPr>
            <a:picLocks noChangeAspect="1"/>
          </p:cNvPicPr>
          <p:nvPr/>
        </p:nvPicPr>
        <p:blipFill>
          <a:blip r:embed="rId4"/>
          <a:stretch>
            <a:fillRect/>
          </a:stretch>
        </p:blipFill>
        <p:spPr>
          <a:xfrm>
            <a:off x="649590" y="4526646"/>
            <a:ext cx="218724" cy="218724"/>
          </a:xfrm>
          <a:prstGeom prst="rect">
            <a:avLst/>
          </a:prstGeom>
        </p:spPr>
      </p:pic>
      <p:sp>
        <p:nvSpPr>
          <p:cNvPr id="20" name="Text 14"/>
          <p:cNvSpPr txBox="1"/>
          <p:nvPr/>
        </p:nvSpPr>
        <p:spPr>
          <a:xfrm>
            <a:off x="1097280" y="4389120"/>
            <a:ext cx="22860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Samiksha AI operator</a:t>
            </a:r>
            <a:endParaRPr lang="en-US" sz="1250" dirty="0"/>
          </a:p>
        </p:txBody>
      </p:sp>
      <p:sp>
        <p:nvSpPr>
          <p:cNvPr id="21" name="Text 15"/>
          <p:cNvSpPr txBox="1"/>
          <p:nvPr/>
        </p:nvSpPr>
        <p:spPr>
          <a:xfrm>
            <a:off x="1097280" y="4672584"/>
            <a:ext cx="2240280" cy="658368"/>
          </a:xfrm>
          <a:prstGeom prst="rect">
            <a:avLst/>
          </a:prstGeom>
          <a:noFill/>
          <a:ln/>
        </p:spPr>
        <p:txBody>
          <a:bodyPr wrap="square" lIns="0" tIns="0" rIns="0" bIns="0" rtlCol="0" anchor="t"/>
          <a:lstStyle/>
          <a:p>
            <a:pPr indent="0" marL="0">
              <a:lnSpc>
                <a:spcPct val="105000"/>
              </a:lnSpc>
              <a:buNone/>
            </a:pPr>
            <a:r>
              <a:rPr lang="en-US" sz="930" dirty="0">
                <a:solidFill>
                  <a:srgbClr val="A1A1AA"/>
                </a:solidFill>
                <a:latin typeface="Arial" pitchFamily="34" charset="0"/>
                <a:ea typeface="Arial" pitchFamily="34" charset="-122"/>
                <a:cs typeface="Arial" pitchFamily="34" charset="-120"/>
              </a:rPr>
              <a:t>Asks for live data; publishing or account changes come back as actions to confirm.</a:t>
            </a:r>
            <a:endParaRPr lang="en-US" sz="930" dirty="0"/>
          </a:p>
        </p:txBody>
      </p:sp>
      <p:sp>
        <p:nvSpPr>
          <p:cNvPr id="22" name="Shape 16"/>
          <p:cNvSpPr/>
          <p:nvPr/>
        </p:nvSpPr>
        <p:spPr>
          <a:xfrm>
            <a:off x="548640" y="5394960"/>
            <a:ext cx="420624" cy="420624"/>
          </a:xfrm>
          <a:prstGeom prst="ellipse">
            <a:avLst/>
          </a:prstGeom>
          <a:solidFill>
            <a:srgbClr val="1E1E21"/>
          </a:solidFill>
          <a:ln w="9525">
            <a:solidFill>
              <a:srgbClr val="2C2C30"/>
            </a:solidFill>
            <a:prstDash val="solid"/>
          </a:ln>
        </p:spPr>
      </p:sp>
      <p:pic>
        <p:nvPicPr>
          <p:cNvPr id="23" name="Image 4" descr="preencoded.png">    </p:cNvPr>
          <p:cNvPicPr>
            <a:picLocks noChangeAspect="1"/>
          </p:cNvPicPr>
          <p:nvPr/>
        </p:nvPicPr>
        <p:blipFill>
          <a:blip r:embed="rId5"/>
          <a:stretch>
            <a:fillRect/>
          </a:stretch>
        </p:blipFill>
        <p:spPr>
          <a:xfrm>
            <a:off x="649590" y="5495910"/>
            <a:ext cx="218724" cy="218724"/>
          </a:xfrm>
          <a:prstGeom prst="rect">
            <a:avLst/>
          </a:prstGeom>
        </p:spPr>
      </p:pic>
      <p:sp>
        <p:nvSpPr>
          <p:cNvPr id="24" name="Text 17"/>
          <p:cNvSpPr txBox="1"/>
          <p:nvPr/>
        </p:nvSpPr>
        <p:spPr>
          <a:xfrm>
            <a:off x="1097280" y="5358384"/>
            <a:ext cx="22860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Provisioned accounts only</a:t>
            </a:r>
            <a:endParaRPr lang="en-US" sz="1250" dirty="0"/>
          </a:p>
        </p:txBody>
      </p:sp>
      <p:sp>
        <p:nvSpPr>
          <p:cNvPr id="25" name="Text 18"/>
          <p:cNvSpPr txBox="1"/>
          <p:nvPr/>
        </p:nvSpPr>
        <p:spPr>
          <a:xfrm>
            <a:off x="1097280" y="5641848"/>
            <a:ext cx="2240280" cy="658368"/>
          </a:xfrm>
          <a:prstGeom prst="rect">
            <a:avLst/>
          </a:prstGeom>
          <a:noFill/>
          <a:ln/>
        </p:spPr>
        <p:txBody>
          <a:bodyPr wrap="square" lIns="0" tIns="0" rIns="0" bIns="0" rtlCol="0" anchor="t"/>
          <a:lstStyle/>
          <a:p>
            <a:pPr indent="0" marL="0">
              <a:lnSpc>
                <a:spcPct val="105000"/>
              </a:lnSpc>
              <a:buNone/>
            </a:pPr>
            <a:r>
              <a:rPr lang="en-US" sz="930" dirty="0">
                <a:solidFill>
                  <a:srgbClr val="A1A1AA"/>
                </a:solidFill>
                <a:latin typeface="Arial" pitchFamily="34" charset="0"/>
                <a:ea typeface="Arial" pitchFamily="34" charset="-122"/>
                <a:cs typeface="Arial" pitchFamily="34" charset="-120"/>
              </a:rPr>
              <a:t>Created against verified employee IDs; reset, deactivate, reactivate.</a:t>
            </a:r>
            <a:endParaRPr lang="en-US" sz="930" dirty="0"/>
          </a:p>
        </p:txBody>
      </p:sp>
      <p:pic>
        <p:nvPicPr>
          <p:cNvPr id="26" name="Image 5" descr="/private/tmp/claude-501/-Users-bonny-Desktop-Adreej-projects-SIH-2026/9aad41f0-270d-4125-b657-0e332d72b56e/scratchpad/deck/img/26-admin-dashboard.png">    </p:cNvPr>
          <p:cNvPicPr>
            <a:picLocks noChangeAspect="1"/>
          </p:cNvPicPr>
          <p:nvPr/>
        </p:nvPicPr>
        <p:blipFill>
          <a:blip r:embed="rId6"/>
          <a:stretch>
            <a:fillRect/>
          </a:stretch>
        </p:blipFill>
        <p:spPr>
          <a:xfrm>
            <a:off x="3566160" y="1554480"/>
            <a:ext cx="1921718" cy="4160520"/>
          </a:xfrm>
          <a:prstGeom prst="rect">
            <a:avLst/>
          </a:prstGeom>
        </p:spPr>
      </p:pic>
      <p:sp>
        <p:nvSpPr>
          <p:cNvPr id="27" name="Text 19"/>
          <p:cNvSpPr txBox="1"/>
          <p:nvPr/>
        </p:nvSpPr>
        <p:spPr>
          <a:xfrm>
            <a:off x="3566160" y="5833872"/>
            <a:ext cx="1921718" cy="274320"/>
          </a:xfrm>
          <a:prstGeom prst="rect">
            <a:avLst/>
          </a:prstGeom>
          <a:noFill/>
          <a:ln/>
        </p:spPr>
        <p:txBody>
          <a:bodyPr wrap="square" lIns="0" tIns="0" rIns="0" bIns="0" rtlCol="0" anchor="t"/>
          <a:lstStyle/>
          <a:p>
            <a:pPr algn="ctr" indent="0" marL="0">
              <a:buNone/>
            </a:pPr>
            <a:r>
              <a:rPr lang="en-US" sz="1050" b="1" dirty="0">
                <a:solidFill>
                  <a:srgbClr val="E4E4E7"/>
                </a:solidFill>
                <a:latin typeface="Arial" pitchFamily="34" charset="0"/>
                <a:ea typeface="Arial" pitchFamily="34" charset="-122"/>
                <a:cs typeface="Arial" pitchFamily="34" charset="-120"/>
              </a:rPr>
              <a:t>Workforce Intelligence</a:t>
            </a:r>
            <a:endParaRPr lang="en-US" sz="1050" dirty="0"/>
          </a:p>
        </p:txBody>
      </p:sp>
      <p:pic>
        <p:nvPicPr>
          <p:cNvPr id="28" name="Image 6" descr="/private/tmp/claude-501/-Users-bonny-Desktop-Adreej-projects-SIH-2026/9aad41f0-270d-4125-b657-0e332d72b56e/scratchpad/deck/img/29-officer-detail.png">    </p:cNvPr>
          <p:cNvPicPr>
            <a:picLocks noChangeAspect="1"/>
          </p:cNvPicPr>
          <p:nvPr/>
        </p:nvPicPr>
        <p:blipFill>
          <a:blip r:embed="rId7"/>
          <a:stretch>
            <a:fillRect/>
          </a:stretch>
        </p:blipFill>
        <p:spPr>
          <a:xfrm>
            <a:off x="5616971" y="1554480"/>
            <a:ext cx="1921718" cy="4160520"/>
          </a:xfrm>
          <a:prstGeom prst="rect">
            <a:avLst/>
          </a:prstGeom>
        </p:spPr>
      </p:pic>
      <p:sp>
        <p:nvSpPr>
          <p:cNvPr id="29" name="Text 20"/>
          <p:cNvSpPr txBox="1"/>
          <p:nvPr/>
        </p:nvSpPr>
        <p:spPr>
          <a:xfrm>
            <a:off x="5616971" y="5833872"/>
            <a:ext cx="1921718" cy="274320"/>
          </a:xfrm>
          <a:prstGeom prst="rect">
            <a:avLst/>
          </a:prstGeom>
          <a:noFill/>
          <a:ln/>
        </p:spPr>
        <p:txBody>
          <a:bodyPr wrap="square" lIns="0" tIns="0" rIns="0" bIns="0" rtlCol="0" anchor="t"/>
          <a:lstStyle/>
          <a:p>
            <a:pPr algn="ctr" indent="0" marL="0">
              <a:buNone/>
            </a:pPr>
            <a:r>
              <a:rPr lang="en-US" sz="1050" b="1" dirty="0">
                <a:solidFill>
                  <a:srgbClr val="E4E4E7"/>
                </a:solidFill>
                <a:latin typeface="Arial" pitchFamily="34" charset="0"/>
                <a:ea typeface="Arial" pitchFamily="34" charset="-122"/>
                <a:cs typeface="Arial" pitchFamily="34" charset="-120"/>
              </a:rPr>
              <a:t>Officer record</a:t>
            </a:r>
            <a:endParaRPr lang="en-US" sz="1050" dirty="0"/>
          </a:p>
        </p:txBody>
      </p:sp>
      <p:pic>
        <p:nvPicPr>
          <p:cNvPr id="30" name="Image 7" descr="/private/tmp/claude-501/-Users-bonny-Desktop-Adreej-projects-SIH-2026/9aad41f0-270d-4125-b657-0e332d72b56e/scratchpad/deck/img/33-publish-material.png">    </p:cNvPr>
          <p:cNvPicPr>
            <a:picLocks noChangeAspect="1"/>
          </p:cNvPicPr>
          <p:nvPr/>
        </p:nvPicPr>
        <p:blipFill>
          <a:blip r:embed="rId8"/>
          <a:stretch>
            <a:fillRect/>
          </a:stretch>
        </p:blipFill>
        <p:spPr>
          <a:xfrm>
            <a:off x="7667783" y="1554480"/>
            <a:ext cx="1921718" cy="4160520"/>
          </a:xfrm>
          <a:prstGeom prst="rect">
            <a:avLst/>
          </a:prstGeom>
        </p:spPr>
      </p:pic>
      <p:sp>
        <p:nvSpPr>
          <p:cNvPr id="31" name="Text 21"/>
          <p:cNvSpPr txBox="1"/>
          <p:nvPr/>
        </p:nvSpPr>
        <p:spPr>
          <a:xfrm>
            <a:off x="7667783" y="5833872"/>
            <a:ext cx="1921718" cy="274320"/>
          </a:xfrm>
          <a:prstGeom prst="rect">
            <a:avLst/>
          </a:prstGeom>
          <a:noFill/>
          <a:ln/>
        </p:spPr>
        <p:txBody>
          <a:bodyPr wrap="square" lIns="0" tIns="0" rIns="0" bIns="0" rtlCol="0" anchor="t"/>
          <a:lstStyle/>
          <a:p>
            <a:pPr algn="ctr" indent="0" marL="0">
              <a:buNone/>
            </a:pPr>
            <a:r>
              <a:rPr lang="en-US" sz="1050" b="1" dirty="0">
                <a:solidFill>
                  <a:srgbClr val="E4E4E7"/>
                </a:solidFill>
                <a:latin typeface="Arial" pitchFamily="34" charset="0"/>
                <a:ea typeface="Arial" pitchFamily="34" charset="-122"/>
                <a:cs typeface="Arial" pitchFamily="34" charset="-120"/>
              </a:rPr>
              <a:t>Publish to officers</a:t>
            </a:r>
            <a:endParaRPr lang="en-US" sz="1050" dirty="0"/>
          </a:p>
        </p:txBody>
      </p:sp>
      <p:pic>
        <p:nvPicPr>
          <p:cNvPr id="32" name="Image 8" descr="/private/tmp/claude-501/-Users-bonny-Desktop-Adreej-projects-SIH-2026/9aad41f0-270d-4125-b657-0e332d72b56e/scratchpad/deck/img/22-samiksha-ai-admin.png">    </p:cNvPr>
          <p:cNvPicPr>
            <a:picLocks noChangeAspect="1"/>
          </p:cNvPicPr>
          <p:nvPr/>
        </p:nvPicPr>
        <p:blipFill>
          <a:blip r:embed="rId9"/>
          <a:stretch>
            <a:fillRect/>
          </a:stretch>
        </p:blipFill>
        <p:spPr>
          <a:xfrm>
            <a:off x="9718594" y="1554480"/>
            <a:ext cx="1921718" cy="4160520"/>
          </a:xfrm>
          <a:prstGeom prst="rect">
            <a:avLst/>
          </a:prstGeom>
        </p:spPr>
      </p:pic>
      <p:sp>
        <p:nvSpPr>
          <p:cNvPr id="33" name="Text 22"/>
          <p:cNvSpPr txBox="1"/>
          <p:nvPr/>
        </p:nvSpPr>
        <p:spPr>
          <a:xfrm>
            <a:off x="9718594" y="5833872"/>
            <a:ext cx="1921718" cy="274320"/>
          </a:xfrm>
          <a:prstGeom prst="rect">
            <a:avLst/>
          </a:prstGeom>
          <a:noFill/>
          <a:ln/>
        </p:spPr>
        <p:txBody>
          <a:bodyPr wrap="square" lIns="0" tIns="0" rIns="0" bIns="0" rtlCol="0" anchor="t"/>
          <a:lstStyle/>
          <a:p>
            <a:pPr algn="ctr" indent="0" marL="0">
              <a:buNone/>
            </a:pPr>
            <a:r>
              <a:rPr lang="en-US" sz="1050" b="1" dirty="0">
                <a:solidFill>
                  <a:srgbClr val="E4E4E7"/>
                </a:solidFill>
                <a:latin typeface="Arial" pitchFamily="34" charset="0"/>
                <a:ea typeface="Arial" pitchFamily="34" charset="-122"/>
                <a:cs typeface="Arial" pitchFamily="34" charset="-120"/>
              </a:rPr>
              <a:t>Samiksha AI · live data</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THE AI WORKSPACE</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Delegation becomes evidence about competency</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07</a:t>
            </a:r>
            <a:endParaRPr lang="en-US" sz="900" dirty="0"/>
          </a:p>
        </p:txBody>
      </p:sp>
      <p:sp>
        <p:nvSpPr>
          <p:cNvPr id="6" name="Shape 4"/>
          <p:cNvSpPr/>
          <p:nvPr/>
        </p:nvSpPr>
        <p:spPr>
          <a:xfrm>
            <a:off x="548640" y="1481328"/>
            <a:ext cx="2788920" cy="1874520"/>
          </a:xfrm>
          <a:prstGeom prst="roundRect">
            <a:avLst>
              <a:gd name="adj" fmla="val 5854"/>
            </a:avLst>
          </a:prstGeom>
          <a:solidFill>
            <a:srgbClr val="161618"/>
          </a:solidFill>
          <a:ln w="9525">
            <a:solidFill>
              <a:srgbClr val="2C2C30"/>
            </a:solidFill>
            <a:prstDash val="solid"/>
          </a:ln>
        </p:spPr>
      </p:sp>
      <p:sp>
        <p:nvSpPr>
          <p:cNvPr id="7" name="Shape 5"/>
          <p:cNvSpPr/>
          <p:nvPr/>
        </p:nvSpPr>
        <p:spPr>
          <a:xfrm>
            <a:off x="749808" y="1664208"/>
            <a:ext cx="420624" cy="420624"/>
          </a:xfrm>
          <a:prstGeom prst="ellipse">
            <a:avLst/>
          </a:prstGeom>
          <a:solidFill>
            <a:srgbClr val="1E1E21"/>
          </a:solidFill>
          <a:ln w="9525">
            <a:solidFill>
              <a:srgbClr val="2C2C30"/>
            </a:solidFill>
            <a:prstDash val="solid"/>
          </a:ln>
        </p:spPr>
      </p:sp>
      <p:pic>
        <p:nvPicPr>
          <p:cNvPr id="8" name="Image 0" descr="preencoded.png">    </p:cNvPr>
          <p:cNvPicPr>
            <a:picLocks noChangeAspect="1"/>
          </p:cNvPicPr>
          <p:nvPr/>
        </p:nvPicPr>
        <p:blipFill>
          <a:blip r:embed="rId1"/>
          <a:stretch>
            <a:fillRect/>
          </a:stretch>
        </p:blipFill>
        <p:spPr>
          <a:xfrm>
            <a:off x="850758" y="1765158"/>
            <a:ext cx="218724" cy="218724"/>
          </a:xfrm>
          <a:prstGeom prst="rect">
            <a:avLst/>
          </a:prstGeom>
        </p:spPr>
      </p:pic>
      <p:sp>
        <p:nvSpPr>
          <p:cNvPr id="9" name="Text 6"/>
          <p:cNvSpPr txBox="1"/>
          <p:nvPr/>
        </p:nvSpPr>
        <p:spPr>
          <a:xfrm>
            <a:off x="1298448" y="1700784"/>
            <a:ext cx="1920240" cy="32918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Data Quality</a:t>
            </a:r>
            <a:endParaRPr lang="en-US" sz="1500" dirty="0"/>
          </a:p>
        </p:txBody>
      </p:sp>
      <p:sp>
        <p:nvSpPr>
          <p:cNvPr id="10" name="Text 7"/>
          <p:cNvSpPr txBox="1"/>
          <p:nvPr/>
        </p:nvSpPr>
        <p:spPr>
          <a:xfrm>
            <a:off x="749808" y="2212848"/>
            <a:ext cx="2468880" cy="384048"/>
          </a:xfrm>
          <a:prstGeom prst="rect">
            <a:avLst/>
          </a:prstGeom>
          <a:noFill/>
          <a:ln/>
        </p:spPr>
        <p:txBody>
          <a:bodyPr wrap="square" lIns="0" tIns="0" rIns="0" bIns="0" rtlCol="0" anchor="t"/>
          <a:lstStyle/>
          <a:p>
            <a:pPr indent="0" marL="0">
              <a:buNone/>
            </a:pPr>
            <a:r>
              <a:rPr lang="en-US" sz="780" dirty="0">
                <a:solidFill>
                  <a:srgbClr val="A1A1AA"/>
                </a:solidFill>
                <a:latin typeface="Courier New" pitchFamily="34" charset="0"/>
                <a:ea typeface="Courier New" pitchFamily="34" charset="-122"/>
                <a:cs typeface="Courier New" pitchFamily="34" charset="-120"/>
              </a:rPr>
              <a:t>FUN-CLEAN-01 · FUN-QUAL-01</a:t>
            </a:r>
            <a:endParaRPr lang="en-US" sz="780" dirty="0"/>
          </a:p>
        </p:txBody>
      </p:sp>
      <p:sp>
        <p:nvSpPr>
          <p:cNvPr id="11" name="Text 8"/>
          <p:cNvSpPr txBox="1"/>
          <p:nvPr/>
        </p:nvSpPr>
        <p:spPr>
          <a:xfrm>
            <a:off x="749808" y="2606040"/>
            <a:ext cx="2423160" cy="713232"/>
          </a:xfrm>
          <a:prstGeom prst="rect">
            <a:avLst/>
          </a:prstGeom>
          <a:noFill/>
          <a:ln/>
        </p:spPr>
        <p:txBody>
          <a:bodyPr wrap="square" lIns="0" tIns="0" rIns="0" bIns="0" rtlCol="0" anchor="t"/>
          <a:lstStyle/>
          <a:p>
            <a:pPr indent="0" marL="0">
              <a:lnSpc>
                <a:spcPct val="105000"/>
              </a:lnSpc>
              <a:buNone/>
            </a:pPr>
            <a:r>
              <a:rPr lang="en-US" sz="1020" dirty="0">
                <a:solidFill>
                  <a:srgbClr val="E4E4E7"/>
                </a:solidFill>
                <a:latin typeface="Arial" pitchFamily="34" charset="0"/>
                <a:ea typeface="Arial" pitchFamily="34" charset="-122"/>
                <a:cs typeface="Arial" pitchFamily="34" charset="-120"/>
              </a:rPr>
              <a:t>Missing-data patterns, duplicates, units, implausible values. Proposes fixes — never repairs silently.</a:t>
            </a:r>
            <a:endParaRPr lang="en-US" sz="1020" dirty="0"/>
          </a:p>
        </p:txBody>
      </p:sp>
      <p:sp>
        <p:nvSpPr>
          <p:cNvPr id="12" name="Shape 9"/>
          <p:cNvSpPr/>
          <p:nvPr/>
        </p:nvSpPr>
        <p:spPr>
          <a:xfrm>
            <a:off x="3474720" y="1481328"/>
            <a:ext cx="2788920" cy="1874520"/>
          </a:xfrm>
          <a:prstGeom prst="roundRect">
            <a:avLst>
              <a:gd name="adj" fmla="val 5854"/>
            </a:avLst>
          </a:prstGeom>
          <a:solidFill>
            <a:srgbClr val="161618"/>
          </a:solidFill>
          <a:ln w="9525">
            <a:solidFill>
              <a:srgbClr val="2C2C30"/>
            </a:solidFill>
            <a:prstDash val="solid"/>
          </a:ln>
        </p:spPr>
      </p:sp>
      <p:sp>
        <p:nvSpPr>
          <p:cNvPr id="13" name="Shape 10"/>
          <p:cNvSpPr/>
          <p:nvPr/>
        </p:nvSpPr>
        <p:spPr>
          <a:xfrm>
            <a:off x="3675888" y="1664208"/>
            <a:ext cx="420624" cy="420624"/>
          </a:xfrm>
          <a:prstGeom prst="ellipse">
            <a:avLst/>
          </a:prstGeom>
          <a:solidFill>
            <a:srgbClr val="1E1E21"/>
          </a:solidFill>
          <a:ln w="9525">
            <a:solidFill>
              <a:srgbClr val="2C2C30"/>
            </a:solidFill>
            <a:prstDash val="solid"/>
          </a:ln>
        </p:spPr>
      </p:sp>
      <p:pic>
        <p:nvPicPr>
          <p:cNvPr id="14" name="Image 1" descr="preencoded.png">    </p:cNvPr>
          <p:cNvPicPr>
            <a:picLocks noChangeAspect="1"/>
          </p:cNvPicPr>
          <p:nvPr/>
        </p:nvPicPr>
        <p:blipFill>
          <a:blip r:embed="rId2"/>
          <a:stretch>
            <a:fillRect/>
          </a:stretch>
        </p:blipFill>
        <p:spPr>
          <a:xfrm>
            <a:off x="3776838" y="1765158"/>
            <a:ext cx="218724" cy="218724"/>
          </a:xfrm>
          <a:prstGeom prst="rect">
            <a:avLst/>
          </a:prstGeom>
        </p:spPr>
      </p:pic>
      <p:sp>
        <p:nvSpPr>
          <p:cNvPr id="15" name="Text 11"/>
          <p:cNvSpPr txBox="1"/>
          <p:nvPr/>
        </p:nvSpPr>
        <p:spPr>
          <a:xfrm>
            <a:off x="4224528" y="1700784"/>
            <a:ext cx="1920240" cy="32918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Data Analyst</a:t>
            </a:r>
            <a:endParaRPr lang="en-US" sz="1500" dirty="0"/>
          </a:p>
        </p:txBody>
      </p:sp>
      <p:sp>
        <p:nvSpPr>
          <p:cNvPr id="16" name="Text 12"/>
          <p:cNvSpPr txBox="1"/>
          <p:nvPr/>
        </p:nvSpPr>
        <p:spPr>
          <a:xfrm>
            <a:off x="3675888" y="2212848"/>
            <a:ext cx="2468880" cy="384048"/>
          </a:xfrm>
          <a:prstGeom prst="rect">
            <a:avLst/>
          </a:prstGeom>
          <a:noFill/>
          <a:ln/>
        </p:spPr>
        <p:txBody>
          <a:bodyPr wrap="square" lIns="0" tIns="0" rIns="0" bIns="0" rtlCol="0" anchor="t"/>
          <a:lstStyle/>
          <a:p>
            <a:pPr indent="0" marL="0">
              <a:buNone/>
            </a:pPr>
            <a:r>
              <a:rPr lang="en-US" sz="780" dirty="0">
                <a:solidFill>
                  <a:srgbClr val="A1A1AA"/>
                </a:solidFill>
                <a:latin typeface="Courier New" pitchFamily="34" charset="0"/>
                <a:ea typeface="Courier New" pitchFamily="34" charset="-122"/>
                <a:cs typeface="Courier New" pitchFamily="34" charset="-120"/>
              </a:rPr>
              <a:t>TEC-PY-01 · FUN-ANAL-01 · FUN-SAMP-01 · TEC-SQL-01</a:t>
            </a:r>
            <a:endParaRPr lang="en-US" sz="780" dirty="0"/>
          </a:p>
        </p:txBody>
      </p:sp>
      <p:sp>
        <p:nvSpPr>
          <p:cNvPr id="17" name="Text 13"/>
          <p:cNvSpPr txBox="1"/>
          <p:nvPr/>
        </p:nvSpPr>
        <p:spPr>
          <a:xfrm>
            <a:off x="3675888" y="2606040"/>
            <a:ext cx="2423160" cy="713232"/>
          </a:xfrm>
          <a:prstGeom prst="rect">
            <a:avLst/>
          </a:prstGeom>
          <a:noFill/>
          <a:ln/>
        </p:spPr>
        <p:txBody>
          <a:bodyPr wrap="square" lIns="0" tIns="0" rIns="0" bIns="0" rtlCol="0" anchor="t"/>
          <a:lstStyle/>
          <a:p>
            <a:pPr indent="0" marL="0">
              <a:lnSpc>
                <a:spcPct val="105000"/>
              </a:lnSpc>
              <a:buNone/>
            </a:pPr>
            <a:r>
              <a:rPr lang="en-US" sz="1020" dirty="0">
                <a:solidFill>
                  <a:srgbClr val="E4E4E7"/>
                </a:solidFill>
                <a:latin typeface="Arial" pitchFamily="34" charset="0"/>
                <a:ea typeface="Arial" pitchFamily="34" charset="-122"/>
                <a:cs typeface="Arial" pitchFamily="34" charset="-120"/>
              </a:rPr>
              <a:t>Applies design weights, computes indicators and tables; asks before assuming SRS.</a:t>
            </a:r>
            <a:endParaRPr lang="en-US" sz="1020" dirty="0"/>
          </a:p>
        </p:txBody>
      </p:sp>
      <p:sp>
        <p:nvSpPr>
          <p:cNvPr id="18" name="Shape 14"/>
          <p:cNvSpPr/>
          <p:nvPr/>
        </p:nvSpPr>
        <p:spPr>
          <a:xfrm>
            <a:off x="6400800" y="1481328"/>
            <a:ext cx="2788920" cy="1874520"/>
          </a:xfrm>
          <a:prstGeom prst="roundRect">
            <a:avLst>
              <a:gd name="adj" fmla="val 5854"/>
            </a:avLst>
          </a:prstGeom>
          <a:solidFill>
            <a:srgbClr val="161618"/>
          </a:solidFill>
          <a:ln w="9525">
            <a:solidFill>
              <a:srgbClr val="2C2C30"/>
            </a:solidFill>
            <a:prstDash val="solid"/>
          </a:ln>
        </p:spPr>
      </p:sp>
      <p:sp>
        <p:nvSpPr>
          <p:cNvPr id="19" name="Shape 15"/>
          <p:cNvSpPr/>
          <p:nvPr/>
        </p:nvSpPr>
        <p:spPr>
          <a:xfrm>
            <a:off x="6601968" y="1664208"/>
            <a:ext cx="420624" cy="420624"/>
          </a:xfrm>
          <a:prstGeom prst="ellipse">
            <a:avLst/>
          </a:prstGeom>
          <a:solidFill>
            <a:srgbClr val="1E1E21"/>
          </a:solidFill>
          <a:ln w="9525">
            <a:solidFill>
              <a:srgbClr val="2C2C30"/>
            </a:solidFill>
            <a:prstDash val="solid"/>
          </a:ln>
        </p:spPr>
      </p:sp>
      <p:pic>
        <p:nvPicPr>
          <p:cNvPr id="20" name="Image 2" descr="preencoded.png">    </p:cNvPr>
          <p:cNvPicPr>
            <a:picLocks noChangeAspect="1"/>
          </p:cNvPicPr>
          <p:nvPr/>
        </p:nvPicPr>
        <p:blipFill>
          <a:blip r:embed="rId3"/>
          <a:stretch>
            <a:fillRect/>
          </a:stretch>
        </p:blipFill>
        <p:spPr>
          <a:xfrm>
            <a:off x="6702918" y="1765158"/>
            <a:ext cx="218724" cy="218724"/>
          </a:xfrm>
          <a:prstGeom prst="rect">
            <a:avLst/>
          </a:prstGeom>
        </p:spPr>
      </p:pic>
      <p:sp>
        <p:nvSpPr>
          <p:cNvPr id="21" name="Text 16"/>
          <p:cNvSpPr txBox="1"/>
          <p:nvPr/>
        </p:nvSpPr>
        <p:spPr>
          <a:xfrm>
            <a:off x="7150608" y="1700784"/>
            <a:ext cx="1920240" cy="32918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Report Assistant</a:t>
            </a:r>
            <a:endParaRPr lang="en-US" sz="1500" dirty="0"/>
          </a:p>
        </p:txBody>
      </p:sp>
      <p:sp>
        <p:nvSpPr>
          <p:cNvPr id="22" name="Text 17"/>
          <p:cNvSpPr txBox="1"/>
          <p:nvPr/>
        </p:nvSpPr>
        <p:spPr>
          <a:xfrm>
            <a:off x="6601968" y="2212848"/>
            <a:ext cx="2468880" cy="384048"/>
          </a:xfrm>
          <a:prstGeom prst="rect">
            <a:avLst/>
          </a:prstGeom>
          <a:noFill/>
          <a:ln/>
        </p:spPr>
        <p:txBody>
          <a:bodyPr wrap="square" lIns="0" tIns="0" rIns="0" bIns="0" rtlCol="0" anchor="t"/>
          <a:lstStyle/>
          <a:p>
            <a:pPr indent="0" marL="0">
              <a:buNone/>
            </a:pPr>
            <a:r>
              <a:rPr lang="en-US" sz="780" dirty="0">
                <a:solidFill>
                  <a:srgbClr val="A1A1AA"/>
                </a:solidFill>
                <a:latin typeface="Courier New" pitchFamily="34" charset="0"/>
                <a:ea typeface="Courier New" pitchFamily="34" charset="-122"/>
                <a:cs typeface="Courier New" pitchFamily="34" charset="-120"/>
              </a:rPr>
              <a:t>FUN-META-01 · FUN-DISS-01 · BEH-COM-01</a:t>
            </a:r>
            <a:endParaRPr lang="en-US" sz="780" dirty="0"/>
          </a:p>
        </p:txBody>
      </p:sp>
      <p:sp>
        <p:nvSpPr>
          <p:cNvPr id="23" name="Text 18"/>
          <p:cNvSpPr txBox="1"/>
          <p:nvPr/>
        </p:nvSpPr>
        <p:spPr>
          <a:xfrm>
            <a:off x="6601968" y="2606040"/>
            <a:ext cx="2423160" cy="713232"/>
          </a:xfrm>
          <a:prstGeom prst="rect">
            <a:avLst/>
          </a:prstGeom>
          <a:noFill/>
          <a:ln/>
        </p:spPr>
        <p:txBody>
          <a:bodyPr wrap="square" lIns="0" tIns="0" rIns="0" bIns="0" rtlCol="0" anchor="t"/>
          <a:lstStyle/>
          <a:p>
            <a:pPr indent="0" marL="0">
              <a:lnSpc>
                <a:spcPct val="105000"/>
              </a:lnSpc>
              <a:buNone/>
            </a:pPr>
            <a:r>
              <a:rPr lang="en-US" sz="1020" dirty="0">
                <a:solidFill>
                  <a:srgbClr val="E4E4E7"/>
                </a:solidFill>
                <a:latin typeface="Arial" pitchFamily="34" charset="0"/>
                <a:ea typeface="Arial" pitchFamily="34" charset="-122"/>
                <a:cs typeface="Arial" pitchFamily="34" charset="-120"/>
              </a:rPr>
              <a:t>Drafts against approved templates; every figure traceable; never sends onward.</a:t>
            </a:r>
            <a:endParaRPr lang="en-US" sz="1020" dirty="0"/>
          </a:p>
        </p:txBody>
      </p:sp>
      <p:sp>
        <p:nvSpPr>
          <p:cNvPr id="24" name="Text 19"/>
          <p:cNvSpPr txBox="1"/>
          <p:nvPr/>
        </p:nvSpPr>
        <p:spPr>
          <a:xfrm>
            <a:off x="548640" y="3584448"/>
            <a:ext cx="2743200" cy="237744"/>
          </a:xfrm>
          <a:prstGeom prst="rect">
            <a:avLst/>
          </a:prstGeom>
          <a:noFill/>
          <a:ln/>
        </p:spPr>
        <p:txBody>
          <a:bodyPr wrap="square" lIns="0" tIns="0" rIns="0" bIns="0" rtlCol="0" anchor="t"/>
          <a:lstStyle/>
          <a:p>
            <a:pPr indent="0" marL="0">
              <a:buNone/>
            </a:pPr>
            <a:r>
              <a:rPr lang="en-US" sz="1000" b="1" spc="200" kern="0" dirty="0">
                <a:solidFill>
                  <a:srgbClr val="A1A1AA"/>
                </a:solidFill>
                <a:latin typeface="Arial" pitchFamily="34" charset="0"/>
                <a:ea typeface="Arial" pitchFamily="34" charset="-122"/>
                <a:cs typeface="Arial" pitchFamily="34" charset="-120"/>
              </a:rPr>
              <a:t>EVERY RUN</a:t>
            </a:r>
            <a:endParaRPr lang="en-US" sz="1000" dirty="0"/>
          </a:p>
        </p:txBody>
      </p:sp>
      <p:sp>
        <p:nvSpPr>
          <p:cNvPr id="25" name="Shape 20"/>
          <p:cNvSpPr/>
          <p:nvPr/>
        </p:nvSpPr>
        <p:spPr>
          <a:xfrm>
            <a:off x="548640" y="3886200"/>
            <a:ext cx="2011680" cy="1170432"/>
          </a:xfrm>
          <a:prstGeom prst="roundRect">
            <a:avLst>
              <a:gd name="adj" fmla="val 9375"/>
            </a:avLst>
          </a:prstGeom>
          <a:solidFill>
            <a:srgbClr val="161618"/>
          </a:solidFill>
          <a:ln w="9525">
            <a:solidFill>
              <a:srgbClr val="2C2C30"/>
            </a:solidFill>
            <a:prstDash val="solid"/>
          </a:ln>
        </p:spPr>
      </p:sp>
      <p:sp>
        <p:nvSpPr>
          <p:cNvPr id="26" name="Text 21"/>
          <p:cNvSpPr txBox="1"/>
          <p:nvPr/>
        </p:nvSpPr>
        <p:spPr>
          <a:xfrm>
            <a:off x="713232" y="3986784"/>
            <a:ext cx="365760" cy="292608"/>
          </a:xfrm>
          <a:prstGeom prst="rect">
            <a:avLst/>
          </a:prstGeom>
          <a:noFill/>
          <a:ln/>
        </p:spPr>
        <p:txBody>
          <a:bodyPr wrap="square" lIns="0" tIns="0" rIns="0" bIns="0" rtlCol="0" anchor="t"/>
          <a:lstStyle/>
          <a:p>
            <a:pPr indent="0" marL="0">
              <a:buNone/>
            </a:pPr>
            <a:r>
              <a:rPr lang="en-US" sz="1600" b="1" dirty="0">
                <a:solidFill>
                  <a:srgbClr val="71717A"/>
                </a:solidFill>
                <a:latin typeface="Arial" pitchFamily="34" charset="0"/>
                <a:ea typeface="Arial" pitchFamily="34" charset="-122"/>
                <a:cs typeface="Arial" pitchFamily="34" charset="-120"/>
              </a:rPr>
              <a:t>1</a:t>
            </a:r>
            <a:endParaRPr lang="en-US" sz="1600" dirty="0"/>
          </a:p>
        </p:txBody>
      </p:sp>
      <p:sp>
        <p:nvSpPr>
          <p:cNvPr id="27" name="Text 22"/>
          <p:cNvSpPr txBox="1"/>
          <p:nvPr/>
        </p:nvSpPr>
        <p:spPr>
          <a:xfrm>
            <a:off x="713232" y="4279392"/>
            <a:ext cx="178308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Same sign-in</a:t>
            </a:r>
            <a:endParaRPr lang="en-US" sz="1250" dirty="0"/>
          </a:p>
        </p:txBody>
      </p:sp>
      <p:sp>
        <p:nvSpPr>
          <p:cNvPr id="28" name="Text 23"/>
          <p:cNvSpPr txBox="1"/>
          <p:nvPr/>
        </p:nvSpPr>
        <p:spPr>
          <a:xfrm>
            <a:off x="713232" y="4553712"/>
            <a:ext cx="1737360" cy="475488"/>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Credentials proved against Supabase; one user ID</a:t>
            </a:r>
            <a:endParaRPr lang="en-US" sz="950" dirty="0"/>
          </a:p>
        </p:txBody>
      </p:sp>
      <p:pic>
        <p:nvPicPr>
          <p:cNvPr id="29" name="Image 3" descr="preencoded.png">    </p:cNvPr>
          <p:cNvPicPr>
            <a:picLocks noChangeAspect="1"/>
          </p:cNvPicPr>
          <p:nvPr/>
        </p:nvPicPr>
        <p:blipFill>
          <a:blip r:embed="rId4"/>
          <a:stretch>
            <a:fillRect/>
          </a:stretch>
        </p:blipFill>
        <p:spPr>
          <a:xfrm>
            <a:off x="2587752" y="4361688"/>
            <a:ext cx="155448" cy="155448"/>
          </a:xfrm>
          <a:prstGeom prst="rect">
            <a:avLst/>
          </a:prstGeom>
        </p:spPr>
      </p:pic>
      <p:sp>
        <p:nvSpPr>
          <p:cNvPr id="30" name="Shape 24"/>
          <p:cNvSpPr/>
          <p:nvPr/>
        </p:nvSpPr>
        <p:spPr>
          <a:xfrm>
            <a:off x="2761488" y="3886200"/>
            <a:ext cx="2011680" cy="1170432"/>
          </a:xfrm>
          <a:prstGeom prst="roundRect">
            <a:avLst>
              <a:gd name="adj" fmla="val 9375"/>
            </a:avLst>
          </a:prstGeom>
          <a:solidFill>
            <a:srgbClr val="161618"/>
          </a:solidFill>
          <a:ln w="9525">
            <a:solidFill>
              <a:srgbClr val="2C2C30"/>
            </a:solidFill>
            <a:prstDash val="solid"/>
          </a:ln>
        </p:spPr>
      </p:sp>
      <p:sp>
        <p:nvSpPr>
          <p:cNvPr id="31" name="Text 25"/>
          <p:cNvSpPr txBox="1"/>
          <p:nvPr/>
        </p:nvSpPr>
        <p:spPr>
          <a:xfrm>
            <a:off x="2926080" y="3986784"/>
            <a:ext cx="365760" cy="292608"/>
          </a:xfrm>
          <a:prstGeom prst="rect">
            <a:avLst/>
          </a:prstGeom>
          <a:noFill/>
          <a:ln/>
        </p:spPr>
        <p:txBody>
          <a:bodyPr wrap="square" lIns="0" tIns="0" rIns="0" bIns="0" rtlCol="0" anchor="t"/>
          <a:lstStyle/>
          <a:p>
            <a:pPr indent="0" marL="0">
              <a:buNone/>
            </a:pPr>
            <a:r>
              <a:rPr lang="en-US" sz="1600" b="1" dirty="0">
                <a:solidFill>
                  <a:srgbClr val="71717A"/>
                </a:solidFill>
                <a:latin typeface="Arial" pitchFamily="34" charset="0"/>
                <a:ea typeface="Arial" pitchFamily="34" charset="-122"/>
                <a:cs typeface="Arial" pitchFamily="34" charset="-120"/>
              </a:rPr>
              <a:t>2</a:t>
            </a:r>
            <a:endParaRPr lang="en-US" sz="1600" dirty="0"/>
          </a:p>
        </p:txBody>
      </p:sp>
      <p:sp>
        <p:nvSpPr>
          <p:cNvPr id="32" name="Text 26"/>
          <p:cNvSpPr txBox="1"/>
          <p:nvPr/>
        </p:nvSpPr>
        <p:spPr>
          <a:xfrm>
            <a:off x="2926080" y="4279392"/>
            <a:ext cx="178308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Gaps loaded</a:t>
            </a:r>
            <a:endParaRPr lang="en-US" sz="1250" dirty="0"/>
          </a:p>
        </p:txBody>
      </p:sp>
      <p:sp>
        <p:nvSpPr>
          <p:cNvPr id="33" name="Text 27"/>
          <p:cNvSpPr txBox="1"/>
          <p:nvPr/>
        </p:nvSpPr>
        <p:spPr>
          <a:xfrm>
            <a:off x="2926080" y="4553712"/>
            <a:ext cx="1737360" cy="475488"/>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Post, gaps &amp; strengths into the system prompt</a:t>
            </a:r>
            <a:endParaRPr lang="en-US" sz="950" dirty="0"/>
          </a:p>
        </p:txBody>
      </p:sp>
      <p:pic>
        <p:nvPicPr>
          <p:cNvPr id="34" name="Image 4" descr="preencoded.png">    </p:cNvPr>
          <p:cNvPicPr>
            <a:picLocks noChangeAspect="1"/>
          </p:cNvPicPr>
          <p:nvPr/>
        </p:nvPicPr>
        <p:blipFill>
          <a:blip r:embed="rId5"/>
          <a:stretch>
            <a:fillRect/>
          </a:stretch>
        </p:blipFill>
        <p:spPr>
          <a:xfrm>
            <a:off x="4800600" y="4361688"/>
            <a:ext cx="155448" cy="155448"/>
          </a:xfrm>
          <a:prstGeom prst="rect">
            <a:avLst/>
          </a:prstGeom>
        </p:spPr>
      </p:pic>
      <p:sp>
        <p:nvSpPr>
          <p:cNvPr id="35" name="Shape 28"/>
          <p:cNvSpPr/>
          <p:nvPr/>
        </p:nvSpPr>
        <p:spPr>
          <a:xfrm>
            <a:off x="4974336" y="3886200"/>
            <a:ext cx="2011680" cy="1170432"/>
          </a:xfrm>
          <a:prstGeom prst="roundRect">
            <a:avLst>
              <a:gd name="adj" fmla="val 9375"/>
            </a:avLst>
          </a:prstGeom>
          <a:solidFill>
            <a:srgbClr val="161618"/>
          </a:solidFill>
          <a:ln w="9525">
            <a:solidFill>
              <a:srgbClr val="2C2C30"/>
            </a:solidFill>
            <a:prstDash val="solid"/>
          </a:ln>
        </p:spPr>
      </p:sp>
      <p:sp>
        <p:nvSpPr>
          <p:cNvPr id="36" name="Text 29"/>
          <p:cNvSpPr txBox="1"/>
          <p:nvPr/>
        </p:nvSpPr>
        <p:spPr>
          <a:xfrm>
            <a:off x="5138928" y="3986784"/>
            <a:ext cx="365760" cy="292608"/>
          </a:xfrm>
          <a:prstGeom prst="rect">
            <a:avLst/>
          </a:prstGeom>
          <a:noFill/>
          <a:ln/>
        </p:spPr>
        <p:txBody>
          <a:bodyPr wrap="square" lIns="0" tIns="0" rIns="0" bIns="0" rtlCol="0" anchor="t"/>
          <a:lstStyle/>
          <a:p>
            <a:pPr indent="0" marL="0">
              <a:buNone/>
            </a:pPr>
            <a:r>
              <a:rPr lang="en-US" sz="1600" b="1" dirty="0">
                <a:solidFill>
                  <a:srgbClr val="71717A"/>
                </a:solidFill>
                <a:latin typeface="Arial" pitchFamily="34" charset="0"/>
                <a:ea typeface="Arial" pitchFamily="34" charset="-122"/>
                <a:cs typeface="Arial" pitchFamily="34" charset="-120"/>
              </a:rPr>
              <a:t>3</a:t>
            </a:r>
            <a:endParaRPr lang="en-US" sz="1600" dirty="0"/>
          </a:p>
        </p:txBody>
      </p:sp>
      <p:sp>
        <p:nvSpPr>
          <p:cNvPr id="37" name="Text 30"/>
          <p:cNvSpPr txBox="1"/>
          <p:nvPr/>
        </p:nvSpPr>
        <p:spPr>
          <a:xfrm>
            <a:off x="5138928" y="4279392"/>
            <a:ext cx="178308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Work + teaching</a:t>
            </a:r>
            <a:endParaRPr lang="en-US" sz="1250" dirty="0"/>
          </a:p>
        </p:txBody>
      </p:sp>
      <p:sp>
        <p:nvSpPr>
          <p:cNvPr id="38" name="Text 31"/>
          <p:cNvSpPr txBox="1"/>
          <p:nvPr/>
        </p:nvSpPr>
        <p:spPr>
          <a:xfrm>
            <a:off x="5138928" y="4553712"/>
            <a:ext cx="1737360" cy="475488"/>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Explains the step where the officer is weak</a:t>
            </a:r>
            <a:endParaRPr lang="en-US" sz="950" dirty="0"/>
          </a:p>
        </p:txBody>
      </p:sp>
      <p:pic>
        <p:nvPicPr>
          <p:cNvPr id="39" name="Image 5" descr="preencoded.png">    </p:cNvPr>
          <p:cNvPicPr>
            <a:picLocks noChangeAspect="1"/>
          </p:cNvPicPr>
          <p:nvPr/>
        </p:nvPicPr>
        <p:blipFill>
          <a:blip r:embed="rId6"/>
          <a:stretch>
            <a:fillRect/>
          </a:stretch>
        </p:blipFill>
        <p:spPr>
          <a:xfrm>
            <a:off x="7013448" y="4361688"/>
            <a:ext cx="155448" cy="155448"/>
          </a:xfrm>
          <a:prstGeom prst="rect">
            <a:avLst/>
          </a:prstGeom>
        </p:spPr>
      </p:pic>
      <p:sp>
        <p:nvSpPr>
          <p:cNvPr id="40" name="Shape 32"/>
          <p:cNvSpPr/>
          <p:nvPr/>
        </p:nvSpPr>
        <p:spPr>
          <a:xfrm>
            <a:off x="7187184" y="3886200"/>
            <a:ext cx="2011680" cy="1170432"/>
          </a:xfrm>
          <a:prstGeom prst="roundRect">
            <a:avLst>
              <a:gd name="adj" fmla="val 9375"/>
            </a:avLst>
          </a:prstGeom>
          <a:solidFill>
            <a:srgbClr val="FFFFFF"/>
          </a:solidFill>
          <a:ln w="9525">
            <a:solidFill>
              <a:srgbClr val="2C2C30"/>
            </a:solidFill>
            <a:prstDash val="solid"/>
          </a:ln>
        </p:spPr>
      </p:sp>
      <p:sp>
        <p:nvSpPr>
          <p:cNvPr id="41" name="Text 33"/>
          <p:cNvSpPr txBox="1"/>
          <p:nvPr/>
        </p:nvSpPr>
        <p:spPr>
          <a:xfrm>
            <a:off x="7351776" y="3986784"/>
            <a:ext cx="365760" cy="292608"/>
          </a:xfrm>
          <a:prstGeom prst="rect">
            <a:avLst/>
          </a:prstGeom>
          <a:noFill/>
          <a:ln/>
        </p:spPr>
        <p:txBody>
          <a:bodyPr wrap="square" lIns="0" tIns="0" rIns="0" bIns="0" rtlCol="0" anchor="t"/>
          <a:lstStyle/>
          <a:p>
            <a:pPr indent="0" marL="0">
              <a:buNone/>
            </a:pPr>
            <a:r>
              <a:rPr lang="en-US" sz="1600" b="1" dirty="0">
                <a:solidFill>
                  <a:srgbClr val="0A0A0B"/>
                </a:solidFill>
                <a:latin typeface="Arial" pitchFamily="34" charset="0"/>
                <a:ea typeface="Arial" pitchFamily="34" charset="-122"/>
                <a:cs typeface="Arial" pitchFamily="34" charset="-120"/>
              </a:rPr>
              <a:t>4</a:t>
            </a:r>
            <a:endParaRPr lang="en-US" sz="1600" dirty="0"/>
          </a:p>
        </p:txBody>
      </p:sp>
      <p:sp>
        <p:nvSpPr>
          <p:cNvPr id="42" name="Text 34"/>
          <p:cNvSpPr txBox="1"/>
          <p:nvPr/>
        </p:nvSpPr>
        <p:spPr>
          <a:xfrm>
            <a:off x="7351776" y="4279392"/>
            <a:ext cx="1783080" cy="274320"/>
          </a:xfrm>
          <a:prstGeom prst="rect">
            <a:avLst/>
          </a:prstGeom>
          <a:noFill/>
          <a:ln/>
        </p:spPr>
        <p:txBody>
          <a:bodyPr wrap="square" lIns="0" tIns="0" rIns="0" bIns="0" rtlCol="0" anchor="t"/>
          <a:lstStyle/>
          <a:p>
            <a:pPr indent="0" marL="0">
              <a:buNone/>
            </a:pPr>
            <a:r>
              <a:rPr lang="en-US" sz="1250" b="1" dirty="0">
                <a:solidFill>
                  <a:srgbClr val="0A0A0B"/>
                </a:solidFill>
                <a:latin typeface="Arial" pitchFamily="34" charset="0"/>
                <a:ea typeface="Arial" pitchFamily="34" charset="-122"/>
                <a:cs typeface="Arial" pitchFamily="34" charset="-120"/>
              </a:rPr>
              <a:t>Delegation logged</a:t>
            </a:r>
            <a:endParaRPr lang="en-US" sz="1250" dirty="0"/>
          </a:p>
        </p:txBody>
      </p:sp>
      <p:sp>
        <p:nvSpPr>
          <p:cNvPr id="43" name="Text 35"/>
          <p:cNvSpPr txBox="1"/>
          <p:nvPr/>
        </p:nvSpPr>
        <p:spPr>
          <a:xfrm>
            <a:off x="7351776" y="4553712"/>
            <a:ext cx="1737360" cy="475488"/>
          </a:xfrm>
          <a:prstGeom prst="rect">
            <a:avLst/>
          </a:prstGeom>
          <a:noFill/>
          <a:ln/>
        </p:spPr>
        <p:txBody>
          <a:bodyPr wrap="square" lIns="0" tIns="0" rIns="0" bIns="0" rtlCol="0" anchor="t"/>
          <a:lstStyle/>
          <a:p>
            <a:pPr indent="0" marL="0">
              <a:buNone/>
            </a:pPr>
            <a:r>
              <a:rPr lang="en-US" sz="950" dirty="0">
                <a:solidFill>
                  <a:srgbClr val="3F3F46"/>
                </a:solidFill>
                <a:latin typeface="Arial" pitchFamily="34" charset="0"/>
                <a:ea typeface="Arial" pitchFamily="34" charset="-122"/>
                <a:cs typeface="Arial" pitchFamily="34" charset="-120"/>
              </a:rPr>
              <a:t>Run recorded against the agent's competency</a:t>
            </a:r>
            <a:endParaRPr lang="en-US" sz="950" dirty="0"/>
          </a:p>
        </p:txBody>
      </p:sp>
      <p:sp>
        <p:nvSpPr>
          <p:cNvPr id="44" name="Shape 36"/>
          <p:cNvSpPr/>
          <p:nvPr/>
        </p:nvSpPr>
        <p:spPr>
          <a:xfrm>
            <a:off x="548640" y="5230368"/>
            <a:ext cx="8659368" cy="1078992"/>
          </a:xfrm>
          <a:prstGeom prst="roundRect">
            <a:avLst>
              <a:gd name="adj" fmla="val 10169"/>
            </a:avLst>
          </a:prstGeom>
          <a:solidFill>
            <a:srgbClr val="1E1E21"/>
          </a:solidFill>
          <a:ln w="9525">
            <a:solidFill>
              <a:srgbClr val="2C2C30"/>
            </a:solidFill>
            <a:prstDash val="solid"/>
          </a:ln>
        </p:spPr>
      </p:sp>
      <p:sp>
        <p:nvSpPr>
          <p:cNvPr id="45" name="Text 37"/>
          <p:cNvSpPr txBox="1"/>
          <p:nvPr/>
        </p:nvSpPr>
        <p:spPr>
          <a:xfrm>
            <a:off x="777240" y="5321808"/>
            <a:ext cx="8229600" cy="914400"/>
          </a:xfrm>
          <a:prstGeom prst="rect">
            <a:avLst/>
          </a:prstGeom>
          <a:noFill/>
          <a:ln/>
        </p:spPr>
        <p:txBody>
          <a:bodyPr wrap="square" lIns="0" tIns="0" rIns="0" bIns="0" rtlCol="0" anchor="ctr"/>
          <a:lstStyle/>
          <a:p>
            <a:pPr indent="0" marL="0">
              <a:lnSpc>
                <a:spcPct val="112000"/>
              </a:lnSpc>
              <a:buNone/>
            </a:pPr>
            <a:r>
              <a:rPr lang="en-US" sz="1200" b="1" dirty="0">
                <a:solidFill>
                  <a:srgbClr val="FFFFFF"/>
                </a:solidFill>
                <a:latin typeface="Courier New" pitchFamily="34" charset="0"/>
                <a:ea typeface="Courier New" pitchFamily="34" charset="-122"/>
                <a:cs typeface="Courier New" pitchFamily="34" charset="-120"/>
              </a:rPr>
              <a:t>v_officer_dependency</a:t>
            </a:r>
            <a:pPr indent="0" marL="0">
              <a:lnSpc>
                <a:spcPct val="112000"/>
              </a:lnSpc>
              <a:buNone/>
            </a:pPr>
            <a:r>
              <a:rPr lang="en-US" sz="1200" dirty="0">
                <a:solidFill>
                  <a:srgbClr val="A1A1AA"/>
                </a:solidFill>
                <a:latin typeface="Arial" pitchFamily="34" charset="0"/>
                <a:ea typeface="Arial" pitchFamily="34" charset="-122"/>
                <a:cs typeface="Arial" pitchFamily="34" charset="-120"/>
              </a:rPr>
              <a:t> joins delegation volume to the measured gap. Delegating what you can already do scores zero — that is good delegation. Delegating what your post needs you to do is shown to the officer as </a:t>
            </a:r>
            <a:pPr indent="0" marL="0">
              <a:lnSpc>
                <a:spcPct val="112000"/>
              </a:lnSpc>
              <a:buNone/>
            </a:pPr>
            <a:r>
              <a:rPr lang="en-US" sz="1200" b="1" dirty="0">
                <a:solidFill>
                  <a:srgbClr val="FFFFFF"/>
                </a:solidFill>
                <a:latin typeface="Arial" pitchFamily="34" charset="0"/>
                <a:ea typeface="Arial" pitchFamily="34" charset="-122"/>
                <a:cs typeface="Arial" pitchFamily="34" charset="-120"/>
              </a:rPr>
              <a:t>“What you are handing to your agents”.</a:t>
            </a:r>
            <a:endParaRPr lang="en-US" sz="1200" dirty="0"/>
          </a:p>
        </p:txBody>
      </p:sp>
      <p:pic>
        <p:nvPicPr>
          <p:cNvPr id="46" name="Image 6" descr="/private/tmp/claude-501/-Users-bonny-Desktop-Adreej-projects-SIH-2026/9aad41f0-270d-4125-b657-0e332d72b56e/scratchpad/deck/img/08-agent-delegation.png">    </p:cNvPr>
          <p:cNvPicPr>
            <a:picLocks noChangeAspect="1"/>
          </p:cNvPicPr>
          <p:nvPr/>
        </p:nvPicPr>
        <p:blipFill>
          <a:blip r:embed="rId7"/>
          <a:stretch>
            <a:fillRect/>
          </a:stretch>
        </p:blipFill>
        <p:spPr>
          <a:xfrm>
            <a:off x="9509760" y="1481328"/>
            <a:ext cx="2259603" cy="4892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ARCHITECTURE &amp; SECURITY</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One source of truth, no secrets on the device</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08</a:t>
            </a:r>
            <a:endParaRPr lang="en-US" sz="900" dirty="0"/>
          </a:p>
        </p:txBody>
      </p:sp>
      <p:sp>
        <p:nvSpPr>
          <p:cNvPr id="6" name="Shape 4"/>
          <p:cNvSpPr/>
          <p:nvPr/>
        </p:nvSpPr>
        <p:spPr>
          <a:xfrm>
            <a:off x="548640" y="1481328"/>
            <a:ext cx="3383280" cy="1024128"/>
          </a:xfrm>
          <a:prstGeom prst="roundRect">
            <a:avLst>
              <a:gd name="adj" fmla="val 8929"/>
            </a:avLst>
          </a:prstGeom>
          <a:solidFill>
            <a:srgbClr val="FFFFFF"/>
          </a:solidFill>
          <a:ln w="9525">
            <a:solidFill>
              <a:srgbClr val="FFFFFF"/>
            </a:solidFill>
            <a:prstDash val="solid"/>
          </a:ln>
        </p:spPr>
      </p:sp>
      <p:sp>
        <p:nvSpPr>
          <p:cNvPr id="7" name="Text 5"/>
          <p:cNvSpPr txBox="1"/>
          <p:nvPr/>
        </p:nvSpPr>
        <p:spPr>
          <a:xfrm>
            <a:off x="713232" y="1591056"/>
            <a:ext cx="3108960" cy="274320"/>
          </a:xfrm>
          <a:prstGeom prst="rect">
            <a:avLst/>
          </a:prstGeom>
          <a:noFill/>
          <a:ln/>
        </p:spPr>
        <p:txBody>
          <a:bodyPr wrap="square" lIns="0" tIns="0" rIns="0" bIns="0" rtlCol="0" anchor="t"/>
          <a:lstStyle/>
          <a:p>
            <a:pPr indent="0" marL="0">
              <a:buNone/>
            </a:pPr>
            <a:r>
              <a:rPr lang="en-US" sz="1250" b="1" dirty="0">
                <a:solidFill>
                  <a:srgbClr val="0A0A0B"/>
                </a:solidFill>
                <a:latin typeface="Arial" pitchFamily="34" charset="0"/>
                <a:ea typeface="Arial" pitchFamily="34" charset="-122"/>
                <a:cs typeface="Arial" pitchFamily="34" charset="-120"/>
              </a:rPr>
              <a:t>Samiksha mobile app</a:t>
            </a:r>
            <a:endParaRPr lang="en-US" sz="1250" dirty="0"/>
          </a:p>
        </p:txBody>
      </p:sp>
      <p:sp>
        <p:nvSpPr>
          <p:cNvPr id="8" name="Text 6"/>
          <p:cNvSpPr txBox="1"/>
          <p:nvPr/>
        </p:nvSpPr>
        <p:spPr>
          <a:xfrm>
            <a:off x="713232" y="1883664"/>
            <a:ext cx="3108960" cy="566928"/>
          </a:xfrm>
          <a:prstGeom prst="rect">
            <a:avLst/>
          </a:prstGeom>
          <a:noFill/>
          <a:ln/>
        </p:spPr>
        <p:txBody>
          <a:bodyPr wrap="square" lIns="0" tIns="0" rIns="0" bIns="0" rtlCol="0" anchor="t"/>
          <a:lstStyle/>
          <a:p>
            <a:pPr indent="0" marL="0">
              <a:lnSpc>
                <a:spcPct val="108000"/>
              </a:lnSpc>
              <a:buNone/>
            </a:pPr>
            <a:r>
              <a:rPr lang="en-US" sz="950" dirty="0">
                <a:solidFill>
                  <a:srgbClr val="3F3F46"/>
                </a:solidFill>
                <a:latin typeface="Arial" pitchFamily="34" charset="0"/>
                <a:ea typeface="Arial" pitchFamily="34" charset="-122"/>
                <a:cs typeface="Arial" pitchFamily="34" charset="-120"/>
              </a:rPr>
              <a:t>React Native 0.86 · Expo 57 · TypeScript</a:t>
            </a:r>
            <a:endParaRPr lang="en-US" sz="950" dirty="0"/>
          </a:p>
          <a:p>
            <a:pPr indent="0" marL="0">
              <a:lnSpc>
                <a:spcPct val="108000"/>
              </a:lnSpc>
              <a:buNone/>
            </a:pPr>
            <a:r>
              <a:rPr lang="en-US" sz="950" dirty="0">
                <a:solidFill>
                  <a:srgbClr val="3F3F46"/>
                </a:solidFill>
                <a:latin typeface="Arial" pitchFamily="34" charset="0"/>
                <a:ea typeface="Arial" pitchFamily="34" charset="-122"/>
                <a:cs typeface="Arial" pitchFamily="34" charset="-120"/>
              </a:rPr>
              <a:t>Officer · Admin · 2 demo variants · web build</a:t>
            </a:r>
            <a:endParaRPr lang="en-US" sz="950" dirty="0"/>
          </a:p>
        </p:txBody>
      </p:sp>
      <p:sp>
        <p:nvSpPr>
          <p:cNvPr id="9" name="Shape 7"/>
          <p:cNvSpPr/>
          <p:nvPr/>
        </p:nvSpPr>
        <p:spPr>
          <a:xfrm>
            <a:off x="4160520" y="1481328"/>
            <a:ext cx="3383280" cy="1024128"/>
          </a:xfrm>
          <a:prstGeom prst="roundRect">
            <a:avLst>
              <a:gd name="adj" fmla="val 8929"/>
            </a:avLst>
          </a:prstGeom>
          <a:solidFill>
            <a:srgbClr val="FFFFFF"/>
          </a:solidFill>
          <a:ln w="9525">
            <a:solidFill>
              <a:srgbClr val="FFFFFF"/>
            </a:solidFill>
            <a:prstDash val="solid"/>
          </a:ln>
        </p:spPr>
      </p:sp>
      <p:sp>
        <p:nvSpPr>
          <p:cNvPr id="10" name="Text 8"/>
          <p:cNvSpPr txBox="1"/>
          <p:nvPr/>
        </p:nvSpPr>
        <p:spPr>
          <a:xfrm>
            <a:off x="4325112" y="1591056"/>
            <a:ext cx="3108960" cy="274320"/>
          </a:xfrm>
          <a:prstGeom prst="rect">
            <a:avLst/>
          </a:prstGeom>
          <a:noFill/>
          <a:ln/>
        </p:spPr>
        <p:txBody>
          <a:bodyPr wrap="square" lIns="0" tIns="0" rIns="0" bIns="0" rtlCol="0" anchor="t"/>
          <a:lstStyle/>
          <a:p>
            <a:pPr indent="0" marL="0">
              <a:buNone/>
            </a:pPr>
            <a:r>
              <a:rPr lang="en-US" sz="1250" b="1" dirty="0">
                <a:solidFill>
                  <a:srgbClr val="0A0A0B"/>
                </a:solidFill>
                <a:latin typeface="Arial" pitchFamily="34" charset="0"/>
                <a:ea typeface="Arial" pitchFamily="34" charset="-122"/>
                <a:cs typeface="Arial" pitchFamily="34" charset="-120"/>
              </a:rPr>
              <a:t>Samiksha Workspace</a:t>
            </a:r>
            <a:endParaRPr lang="en-US" sz="1250" dirty="0"/>
          </a:p>
        </p:txBody>
      </p:sp>
      <p:sp>
        <p:nvSpPr>
          <p:cNvPr id="11" name="Text 9"/>
          <p:cNvSpPr txBox="1"/>
          <p:nvPr/>
        </p:nvSpPr>
        <p:spPr>
          <a:xfrm>
            <a:off x="4325112" y="1883664"/>
            <a:ext cx="3108960" cy="566928"/>
          </a:xfrm>
          <a:prstGeom prst="rect">
            <a:avLst/>
          </a:prstGeom>
          <a:noFill/>
          <a:ln/>
        </p:spPr>
        <p:txBody>
          <a:bodyPr wrap="square" lIns="0" tIns="0" rIns="0" bIns="0" rtlCol="0" anchor="t"/>
          <a:lstStyle/>
          <a:p>
            <a:pPr indent="0" marL="0">
              <a:lnSpc>
                <a:spcPct val="108000"/>
              </a:lnSpc>
              <a:buNone/>
            </a:pPr>
            <a:r>
              <a:rPr lang="en-US" sz="950" dirty="0">
                <a:solidFill>
                  <a:srgbClr val="3F3F46"/>
                </a:solidFill>
                <a:latin typeface="Arial" pitchFamily="34" charset="0"/>
                <a:ea typeface="Arial" pitchFamily="34" charset="-122"/>
                <a:cs typeface="Arial" pitchFamily="34" charset="-120"/>
              </a:rPr>
              <a:t>Electron · React 19 · API · worker</a:t>
            </a:r>
            <a:endParaRPr lang="en-US" sz="950" dirty="0"/>
          </a:p>
          <a:p>
            <a:pPr indent="0" marL="0">
              <a:lnSpc>
                <a:spcPct val="108000"/>
              </a:lnSpc>
              <a:buNone/>
            </a:pPr>
            <a:r>
              <a:rPr lang="en-US" sz="950" dirty="0">
                <a:solidFill>
                  <a:srgbClr val="3F3F46"/>
                </a:solidFill>
                <a:latin typeface="Arial" pitchFamily="34" charset="0"/>
                <a:ea typeface="Arial" pitchFamily="34" charset="-122"/>
                <a:cs typeface="Arial" pitchFamily="34" charset="-120"/>
              </a:rPr>
              <a:t>Sandbox supervisor · agent computers (Docker)</a:t>
            </a:r>
            <a:endParaRPr lang="en-US" sz="950" dirty="0"/>
          </a:p>
        </p:txBody>
      </p:sp>
      <p:sp>
        <p:nvSpPr>
          <p:cNvPr id="12" name="Shape 10"/>
          <p:cNvSpPr/>
          <p:nvPr/>
        </p:nvSpPr>
        <p:spPr>
          <a:xfrm>
            <a:off x="548640" y="2852928"/>
            <a:ext cx="6995160" cy="1874520"/>
          </a:xfrm>
          <a:prstGeom prst="roundRect">
            <a:avLst>
              <a:gd name="adj" fmla="val 5854"/>
            </a:avLst>
          </a:prstGeom>
          <a:solidFill>
            <a:srgbClr val="111113"/>
          </a:solidFill>
          <a:ln w="9525">
            <a:solidFill>
              <a:srgbClr val="2C2C30"/>
            </a:solidFill>
            <a:prstDash val="dash"/>
          </a:ln>
        </p:spPr>
      </p:sp>
      <p:sp>
        <p:nvSpPr>
          <p:cNvPr id="13" name="Text 11"/>
          <p:cNvSpPr txBox="1"/>
          <p:nvPr/>
        </p:nvSpPr>
        <p:spPr>
          <a:xfrm>
            <a:off x="749808" y="2962656"/>
            <a:ext cx="4572000" cy="228600"/>
          </a:xfrm>
          <a:prstGeom prst="rect">
            <a:avLst/>
          </a:prstGeom>
          <a:noFill/>
          <a:ln/>
        </p:spPr>
        <p:txBody>
          <a:bodyPr wrap="square" lIns="0" tIns="0" rIns="0" bIns="0" rtlCol="0" anchor="t"/>
          <a:lstStyle/>
          <a:p>
            <a:pPr indent="0" marL="0">
              <a:buNone/>
            </a:pPr>
            <a:r>
              <a:rPr lang="en-US" sz="950" b="1" spc="200" kern="0" dirty="0">
                <a:solidFill>
                  <a:srgbClr val="A1A1AA"/>
                </a:solidFill>
                <a:latin typeface="Arial" pitchFamily="34" charset="0"/>
                <a:ea typeface="Arial" pitchFamily="34" charset="-122"/>
                <a:cs typeface="Arial" pitchFamily="34" charset="-120"/>
              </a:rPr>
              <a:t>SUPABASE · SINGLE SOURCE OF TRUTH</a:t>
            </a:r>
            <a:endParaRPr lang="en-US" sz="950" dirty="0"/>
          </a:p>
        </p:txBody>
      </p:sp>
      <p:sp>
        <p:nvSpPr>
          <p:cNvPr id="14" name="Shape 12"/>
          <p:cNvSpPr/>
          <p:nvPr/>
        </p:nvSpPr>
        <p:spPr>
          <a:xfrm>
            <a:off x="731520" y="3273552"/>
            <a:ext cx="2103120" cy="1298448"/>
          </a:xfrm>
          <a:prstGeom prst="roundRect">
            <a:avLst>
              <a:gd name="adj" fmla="val 7042"/>
            </a:avLst>
          </a:prstGeom>
          <a:solidFill>
            <a:srgbClr val="161618"/>
          </a:solidFill>
          <a:ln w="9525">
            <a:solidFill>
              <a:srgbClr val="2C2C30"/>
            </a:solidFill>
            <a:prstDash val="solid"/>
          </a:ln>
        </p:spPr>
      </p:sp>
      <p:sp>
        <p:nvSpPr>
          <p:cNvPr id="15" name="Text 13"/>
          <p:cNvSpPr txBox="1"/>
          <p:nvPr/>
        </p:nvSpPr>
        <p:spPr>
          <a:xfrm>
            <a:off x="896112" y="3383280"/>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Auth · Storage</a:t>
            </a:r>
            <a:endParaRPr lang="en-US" sz="1250" dirty="0"/>
          </a:p>
        </p:txBody>
      </p:sp>
      <p:sp>
        <p:nvSpPr>
          <p:cNvPr id="16" name="Text 14"/>
          <p:cNvSpPr txBox="1"/>
          <p:nvPr/>
        </p:nvSpPr>
        <p:spPr>
          <a:xfrm>
            <a:off x="896112" y="3675888"/>
            <a:ext cx="1828800" cy="841248"/>
          </a:xfrm>
          <a:prstGeom prst="rect">
            <a:avLst/>
          </a:prstGeom>
          <a:noFill/>
          <a:ln/>
        </p:spPr>
        <p:txBody>
          <a:bodyPr wrap="square" lIns="0" tIns="0" rIns="0" bIns="0" rtlCol="0" anchor="t"/>
          <a:lstStyle/>
          <a:p>
            <a:pPr indent="0" marL="0">
              <a:lnSpc>
                <a:spcPct val="108000"/>
              </a:lnSpc>
              <a:buNone/>
            </a:pPr>
            <a:r>
              <a:rPr lang="en-US" sz="950" dirty="0">
                <a:solidFill>
                  <a:srgbClr val="A1A1AA"/>
                </a:solidFill>
                <a:latin typeface="Arial" pitchFamily="34" charset="0"/>
                <a:ea typeface="Arial" pitchFamily="34" charset="-122"/>
                <a:cs typeface="Arial" pitchFamily="34" charset="-120"/>
              </a:rPr>
              <a:t>Provisioned accounts</a:t>
            </a:r>
            <a:endParaRPr lang="en-US" sz="950" dirty="0"/>
          </a:p>
          <a:p>
            <a:pPr indent="0" marL="0">
              <a:lnSpc>
                <a:spcPct val="108000"/>
              </a:lnSpc>
              <a:buNone/>
            </a:pPr>
            <a:r>
              <a:rPr lang="en-US" sz="950" dirty="0">
                <a:solidFill>
                  <a:srgbClr val="A1A1AA"/>
                </a:solidFill>
                <a:latin typeface="Arial" pitchFamily="34" charset="0"/>
                <a:ea typeface="Arial" pitchFamily="34" charset="-122"/>
                <a:cs typeface="Arial" pitchFamily="34" charset="-120"/>
              </a:rPr>
              <a:t>Private materials bucket</a:t>
            </a:r>
            <a:endParaRPr lang="en-US" sz="950" dirty="0"/>
          </a:p>
          <a:p>
            <a:pPr indent="0" marL="0">
              <a:lnSpc>
                <a:spcPct val="108000"/>
              </a:lnSpc>
              <a:buNone/>
            </a:pPr>
            <a:r>
              <a:rPr lang="en-US" sz="950" dirty="0">
                <a:solidFill>
                  <a:srgbClr val="A1A1AA"/>
                </a:solidFill>
                <a:latin typeface="Arial" pitchFamily="34" charset="0"/>
                <a:ea typeface="Arial" pitchFamily="34" charset="-122"/>
                <a:cs typeface="Arial" pitchFamily="34" charset="-120"/>
              </a:rPr>
              <a:t>Realtime presence</a:t>
            </a:r>
            <a:endParaRPr lang="en-US" sz="950" dirty="0"/>
          </a:p>
        </p:txBody>
      </p:sp>
      <p:sp>
        <p:nvSpPr>
          <p:cNvPr id="17" name="Shape 15"/>
          <p:cNvSpPr/>
          <p:nvPr/>
        </p:nvSpPr>
        <p:spPr>
          <a:xfrm>
            <a:off x="2990088" y="3273552"/>
            <a:ext cx="2103120" cy="1298448"/>
          </a:xfrm>
          <a:prstGeom prst="roundRect">
            <a:avLst>
              <a:gd name="adj" fmla="val 7042"/>
            </a:avLst>
          </a:prstGeom>
          <a:solidFill>
            <a:srgbClr val="161618"/>
          </a:solidFill>
          <a:ln w="9525">
            <a:solidFill>
              <a:srgbClr val="2C2C30"/>
            </a:solidFill>
            <a:prstDash val="solid"/>
          </a:ln>
        </p:spPr>
      </p:sp>
      <p:sp>
        <p:nvSpPr>
          <p:cNvPr id="18" name="Text 16"/>
          <p:cNvSpPr txBox="1"/>
          <p:nvPr/>
        </p:nvSpPr>
        <p:spPr>
          <a:xfrm>
            <a:off x="3154680" y="3383280"/>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Postgres + pgvector</a:t>
            </a:r>
            <a:endParaRPr lang="en-US" sz="1250" dirty="0"/>
          </a:p>
        </p:txBody>
      </p:sp>
      <p:sp>
        <p:nvSpPr>
          <p:cNvPr id="19" name="Text 17"/>
          <p:cNvSpPr txBox="1"/>
          <p:nvPr/>
        </p:nvSpPr>
        <p:spPr>
          <a:xfrm>
            <a:off x="3154680" y="3675888"/>
            <a:ext cx="1828800" cy="841248"/>
          </a:xfrm>
          <a:prstGeom prst="rect">
            <a:avLst/>
          </a:prstGeom>
          <a:noFill/>
          <a:ln/>
        </p:spPr>
        <p:txBody>
          <a:bodyPr wrap="square" lIns="0" tIns="0" rIns="0" bIns="0" rtlCol="0" anchor="t"/>
          <a:lstStyle/>
          <a:p>
            <a:pPr indent="0" marL="0">
              <a:lnSpc>
                <a:spcPct val="108000"/>
              </a:lnSpc>
              <a:buNone/>
            </a:pPr>
            <a:r>
              <a:rPr lang="en-US" sz="950" dirty="0">
                <a:solidFill>
                  <a:srgbClr val="A1A1AA"/>
                </a:solidFill>
                <a:latin typeface="Arial" pitchFamily="34" charset="0"/>
                <a:ea typeface="Arial" pitchFamily="34" charset="-122"/>
                <a:cs typeface="Arial" pitchFamily="34" charset="-120"/>
              </a:rPr>
              <a:t>42 tables · 75 RLS policies</a:t>
            </a:r>
            <a:endParaRPr lang="en-US" sz="950" dirty="0"/>
          </a:p>
          <a:p>
            <a:pPr indent="0" marL="0">
              <a:lnSpc>
                <a:spcPct val="108000"/>
              </a:lnSpc>
              <a:buNone/>
            </a:pPr>
            <a:r>
              <a:rPr lang="en-US" sz="950" dirty="0">
                <a:solidFill>
                  <a:srgbClr val="A1A1AA"/>
                </a:solidFill>
                <a:latin typeface="Arial" pitchFamily="34" charset="0"/>
                <a:ea typeface="Arial" pitchFamily="34" charset="-122"/>
                <a:cs typeface="Arial" pitchFamily="34" charset="-120"/>
              </a:rPr>
              <a:t>Gap, ZPD, IRT in SQL</a:t>
            </a:r>
            <a:endParaRPr lang="en-US" sz="950" dirty="0"/>
          </a:p>
          <a:p>
            <a:pPr indent="0" marL="0">
              <a:lnSpc>
                <a:spcPct val="108000"/>
              </a:lnSpc>
              <a:buNone/>
            </a:pPr>
            <a:r>
              <a:rPr lang="en-US" sz="950" dirty="0">
                <a:solidFill>
                  <a:srgbClr val="A1A1AA"/>
                </a:solidFill>
                <a:latin typeface="Arial" pitchFamily="34" charset="0"/>
                <a:ea typeface="Arial" pitchFamily="34" charset="-122"/>
                <a:cs typeface="Arial" pitchFamily="34" charset="-120"/>
              </a:rPr>
              <a:t>Vault secrets</a:t>
            </a:r>
            <a:endParaRPr lang="en-US" sz="950" dirty="0"/>
          </a:p>
        </p:txBody>
      </p:sp>
      <p:sp>
        <p:nvSpPr>
          <p:cNvPr id="20" name="Shape 18"/>
          <p:cNvSpPr/>
          <p:nvPr/>
        </p:nvSpPr>
        <p:spPr>
          <a:xfrm>
            <a:off x="5248656" y="3273552"/>
            <a:ext cx="2103120" cy="1298448"/>
          </a:xfrm>
          <a:prstGeom prst="roundRect">
            <a:avLst>
              <a:gd name="adj" fmla="val 7042"/>
            </a:avLst>
          </a:prstGeom>
          <a:solidFill>
            <a:srgbClr val="161618"/>
          </a:solidFill>
          <a:ln w="9525">
            <a:solidFill>
              <a:srgbClr val="2C2C30"/>
            </a:solidFill>
            <a:prstDash val="solid"/>
          </a:ln>
        </p:spPr>
      </p:sp>
      <p:sp>
        <p:nvSpPr>
          <p:cNvPr id="21" name="Text 19"/>
          <p:cNvSpPr txBox="1"/>
          <p:nvPr/>
        </p:nvSpPr>
        <p:spPr>
          <a:xfrm>
            <a:off x="5413248" y="3383280"/>
            <a:ext cx="182880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Edge Functions</a:t>
            </a:r>
            <a:endParaRPr lang="en-US" sz="1250" dirty="0"/>
          </a:p>
        </p:txBody>
      </p:sp>
      <p:sp>
        <p:nvSpPr>
          <p:cNvPr id="22" name="Text 20"/>
          <p:cNvSpPr txBox="1"/>
          <p:nvPr/>
        </p:nvSpPr>
        <p:spPr>
          <a:xfrm>
            <a:off x="5413248" y="3675888"/>
            <a:ext cx="1828800" cy="841248"/>
          </a:xfrm>
          <a:prstGeom prst="rect">
            <a:avLst/>
          </a:prstGeom>
          <a:noFill/>
          <a:ln/>
        </p:spPr>
        <p:txBody>
          <a:bodyPr wrap="square" lIns="0" tIns="0" rIns="0" bIns="0" rtlCol="0" anchor="t"/>
          <a:lstStyle/>
          <a:p>
            <a:pPr indent="0" marL="0">
              <a:lnSpc>
                <a:spcPct val="108000"/>
              </a:lnSpc>
              <a:buNone/>
            </a:pPr>
            <a:r>
              <a:rPr lang="en-US" sz="950" dirty="0">
                <a:solidFill>
                  <a:srgbClr val="A1A1AA"/>
                </a:solidFill>
                <a:latin typeface="Arial" pitchFamily="34" charset="0"/>
                <a:ea typeface="Arial" pitchFamily="34" charset="-122"/>
                <a:cs typeface="Arial" pitchFamily="34" charset="-120"/>
              </a:rPr>
              <a:t>10 functions: assistant, study,</a:t>
            </a:r>
            <a:endParaRPr lang="en-US" sz="950" dirty="0"/>
          </a:p>
          <a:p>
            <a:pPr indent="0" marL="0">
              <a:lnSpc>
                <a:spcPct val="108000"/>
              </a:lnSpc>
              <a:buNone/>
            </a:pPr>
            <a:r>
              <a:rPr lang="en-US" sz="950" dirty="0">
                <a:solidFill>
                  <a:srgbClr val="A1A1AA"/>
                </a:solidFill>
                <a:latin typeface="Arial" pitchFamily="34" charset="0"/>
                <a:ea typeface="Arial" pitchFamily="34" charset="-122"/>
                <a:cs typeface="Arial" pitchFamily="34" charset="-120"/>
              </a:rPr>
              <a:t>quiz, material, tutor, path,</a:t>
            </a:r>
            <a:endParaRPr lang="en-US" sz="950" dirty="0"/>
          </a:p>
          <a:p>
            <a:pPr indent="0" marL="0">
              <a:lnSpc>
                <a:spcPct val="108000"/>
              </a:lnSpc>
              <a:buNone/>
            </a:pPr>
            <a:r>
              <a:rPr lang="en-US" sz="950" dirty="0">
                <a:solidFill>
                  <a:srgbClr val="A1A1AA"/>
                </a:solidFill>
                <a:latin typeface="Arial" pitchFamily="34" charset="0"/>
                <a:ea typeface="Arial" pitchFamily="34" charset="-122"/>
                <a:cs typeface="Arial" pitchFamily="34" charset="-120"/>
              </a:rPr>
              <a:t>diagnose, cards, videos, users</a:t>
            </a:r>
            <a:endParaRPr lang="en-US" sz="950" dirty="0"/>
          </a:p>
        </p:txBody>
      </p:sp>
      <p:sp>
        <p:nvSpPr>
          <p:cNvPr id="23" name="Shape 21"/>
          <p:cNvSpPr/>
          <p:nvPr/>
        </p:nvSpPr>
        <p:spPr>
          <a:xfrm>
            <a:off x="548640" y="5074920"/>
            <a:ext cx="2194560" cy="1115568"/>
          </a:xfrm>
          <a:prstGeom prst="roundRect">
            <a:avLst>
              <a:gd name="adj" fmla="val 8197"/>
            </a:avLst>
          </a:prstGeom>
          <a:solidFill>
            <a:srgbClr val="161618"/>
          </a:solidFill>
          <a:ln w="9525">
            <a:solidFill>
              <a:srgbClr val="2C2C30"/>
            </a:solidFill>
            <a:prstDash val="solid"/>
          </a:ln>
        </p:spPr>
      </p:sp>
      <p:sp>
        <p:nvSpPr>
          <p:cNvPr id="24" name="Text 22"/>
          <p:cNvSpPr txBox="1"/>
          <p:nvPr/>
        </p:nvSpPr>
        <p:spPr>
          <a:xfrm>
            <a:off x="713232" y="5184648"/>
            <a:ext cx="192024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YouTube Data API</a:t>
            </a:r>
            <a:endParaRPr lang="en-US" sz="1250" dirty="0"/>
          </a:p>
        </p:txBody>
      </p:sp>
      <p:sp>
        <p:nvSpPr>
          <p:cNvPr id="25" name="Text 23"/>
          <p:cNvSpPr txBox="1"/>
          <p:nvPr/>
        </p:nvSpPr>
        <p:spPr>
          <a:xfrm>
            <a:off x="713232" y="5477256"/>
            <a:ext cx="1920240" cy="658368"/>
          </a:xfrm>
          <a:prstGeom prst="rect">
            <a:avLst/>
          </a:prstGeom>
          <a:noFill/>
          <a:ln/>
        </p:spPr>
        <p:txBody>
          <a:bodyPr wrap="square" lIns="0" tIns="0" rIns="0" bIns="0" rtlCol="0" anchor="t"/>
          <a:lstStyle/>
          <a:p>
            <a:pPr indent="0" marL="0">
              <a:lnSpc>
                <a:spcPct val="108000"/>
              </a:lnSpc>
              <a:buNone/>
            </a:pPr>
            <a:r>
              <a:rPr lang="en-US" sz="950" dirty="0">
                <a:solidFill>
                  <a:srgbClr val="A1A1AA"/>
                </a:solidFill>
                <a:latin typeface="Arial" pitchFamily="34" charset="0"/>
                <a:ea typeface="Arial" pitchFamily="34" charset="-122"/>
                <a:cs typeface="Arial" pitchFamily="34" charset="-120"/>
              </a:rPr>
              <a:t>Metadata + official player</a:t>
            </a:r>
            <a:endParaRPr lang="en-US" sz="950" dirty="0"/>
          </a:p>
        </p:txBody>
      </p:sp>
      <p:sp>
        <p:nvSpPr>
          <p:cNvPr id="26" name="Shape 24"/>
          <p:cNvSpPr/>
          <p:nvPr/>
        </p:nvSpPr>
        <p:spPr>
          <a:xfrm>
            <a:off x="2926080" y="5074920"/>
            <a:ext cx="2194560" cy="1115568"/>
          </a:xfrm>
          <a:prstGeom prst="roundRect">
            <a:avLst>
              <a:gd name="adj" fmla="val 8197"/>
            </a:avLst>
          </a:prstGeom>
          <a:solidFill>
            <a:srgbClr val="161618"/>
          </a:solidFill>
          <a:ln w="9525">
            <a:solidFill>
              <a:srgbClr val="2C2C30"/>
            </a:solidFill>
            <a:prstDash val="solid"/>
          </a:ln>
        </p:spPr>
      </p:sp>
      <p:sp>
        <p:nvSpPr>
          <p:cNvPr id="27" name="Text 25"/>
          <p:cNvSpPr txBox="1"/>
          <p:nvPr/>
        </p:nvSpPr>
        <p:spPr>
          <a:xfrm>
            <a:off x="3090672" y="5184648"/>
            <a:ext cx="192024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iGOT Karmayogi</a:t>
            </a:r>
            <a:endParaRPr lang="en-US" sz="1250" dirty="0"/>
          </a:p>
        </p:txBody>
      </p:sp>
      <p:sp>
        <p:nvSpPr>
          <p:cNvPr id="28" name="Text 26"/>
          <p:cNvSpPr txBox="1"/>
          <p:nvPr/>
        </p:nvSpPr>
        <p:spPr>
          <a:xfrm>
            <a:off x="3090672" y="5477256"/>
            <a:ext cx="1920240" cy="658368"/>
          </a:xfrm>
          <a:prstGeom prst="rect">
            <a:avLst/>
          </a:prstGeom>
          <a:noFill/>
          <a:ln/>
        </p:spPr>
        <p:txBody>
          <a:bodyPr wrap="square" lIns="0" tIns="0" rIns="0" bIns="0" rtlCol="0" anchor="t"/>
          <a:lstStyle/>
          <a:p>
            <a:pPr indent="0" marL="0">
              <a:lnSpc>
                <a:spcPct val="108000"/>
              </a:lnSpc>
              <a:buNone/>
            </a:pPr>
            <a:r>
              <a:rPr lang="en-US" sz="950" dirty="0">
                <a:solidFill>
                  <a:srgbClr val="A1A1AA"/>
                </a:solidFill>
                <a:latin typeface="Arial" pitchFamily="34" charset="0"/>
                <a:ea typeface="Arial" pitchFamily="34" charset="-122"/>
                <a:cs typeface="Arial" pitchFamily="34" charset="-120"/>
              </a:rPr>
              <a:t>Real API contract · simulator ⇄ live</a:t>
            </a:r>
            <a:endParaRPr lang="en-US" sz="950" dirty="0"/>
          </a:p>
        </p:txBody>
      </p:sp>
      <p:sp>
        <p:nvSpPr>
          <p:cNvPr id="29" name="Shape 27"/>
          <p:cNvSpPr/>
          <p:nvPr/>
        </p:nvSpPr>
        <p:spPr>
          <a:xfrm>
            <a:off x="5303520" y="5074920"/>
            <a:ext cx="2240280" cy="1115568"/>
          </a:xfrm>
          <a:prstGeom prst="roundRect">
            <a:avLst>
              <a:gd name="adj" fmla="val 8197"/>
            </a:avLst>
          </a:prstGeom>
          <a:solidFill>
            <a:srgbClr val="FFFFFF"/>
          </a:solidFill>
          <a:ln w="9525">
            <a:solidFill>
              <a:srgbClr val="FFFFFF"/>
            </a:solidFill>
            <a:prstDash val="solid"/>
          </a:ln>
        </p:spPr>
      </p:sp>
      <p:sp>
        <p:nvSpPr>
          <p:cNvPr id="30" name="Text 28"/>
          <p:cNvSpPr txBox="1"/>
          <p:nvPr/>
        </p:nvSpPr>
        <p:spPr>
          <a:xfrm>
            <a:off x="5468112" y="5184648"/>
            <a:ext cx="1965960" cy="274320"/>
          </a:xfrm>
          <a:prstGeom prst="rect">
            <a:avLst/>
          </a:prstGeom>
          <a:noFill/>
          <a:ln/>
        </p:spPr>
        <p:txBody>
          <a:bodyPr wrap="square" lIns="0" tIns="0" rIns="0" bIns="0" rtlCol="0" anchor="t"/>
          <a:lstStyle/>
          <a:p>
            <a:pPr indent="0" marL="0">
              <a:buNone/>
            </a:pPr>
            <a:r>
              <a:rPr lang="en-US" sz="1250" b="1" dirty="0">
                <a:solidFill>
                  <a:srgbClr val="0A0A0B"/>
                </a:solidFill>
                <a:latin typeface="Arial" pitchFamily="34" charset="0"/>
                <a:ea typeface="Arial" pitchFamily="34" charset="-122"/>
                <a:cs typeface="Arial" pitchFamily="34" charset="-120"/>
              </a:rPr>
              <a:t>Samiksha AI engine</a:t>
            </a:r>
            <a:endParaRPr lang="en-US" sz="1250" dirty="0"/>
          </a:p>
        </p:txBody>
      </p:sp>
      <p:sp>
        <p:nvSpPr>
          <p:cNvPr id="31" name="Text 29"/>
          <p:cNvSpPr txBox="1"/>
          <p:nvPr/>
        </p:nvSpPr>
        <p:spPr>
          <a:xfrm>
            <a:off x="5468112" y="5477256"/>
            <a:ext cx="1965960" cy="658368"/>
          </a:xfrm>
          <a:prstGeom prst="rect">
            <a:avLst/>
          </a:prstGeom>
          <a:noFill/>
          <a:ln/>
        </p:spPr>
        <p:txBody>
          <a:bodyPr wrap="square" lIns="0" tIns="0" rIns="0" bIns="0" rtlCol="0" anchor="t"/>
          <a:lstStyle/>
          <a:p>
            <a:pPr indent="0" marL="0">
              <a:lnSpc>
                <a:spcPct val="108000"/>
              </a:lnSpc>
              <a:buNone/>
            </a:pPr>
            <a:r>
              <a:rPr lang="en-US" sz="950" dirty="0">
                <a:solidFill>
                  <a:srgbClr val="3F3F46"/>
                </a:solidFill>
                <a:latin typeface="Arial" pitchFamily="34" charset="0"/>
                <a:ea typeface="Arial" pitchFamily="34" charset="-122"/>
                <a:cs typeface="Arial" pitchFamily="34" charset="-120"/>
              </a:rPr>
              <a:t>DeepSeek V4 Flash · open-weight · local option</a:t>
            </a:r>
            <a:endParaRPr lang="en-US" sz="950" dirty="0"/>
          </a:p>
        </p:txBody>
      </p:sp>
      <p:sp>
        <p:nvSpPr>
          <p:cNvPr id="32" name="Shape 30"/>
          <p:cNvSpPr/>
          <p:nvPr/>
        </p:nvSpPr>
        <p:spPr>
          <a:xfrm>
            <a:off x="2240280" y="2523744"/>
            <a:ext cx="0" cy="310896"/>
          </a:xfrm>
          <a:prstGeom prst="line">
            <a:avLst/>
          </a:prstGeom>
          <a:noFill/>
          <a:ln w="19050">
            <a:solidFill>
              <a:srgbClr val="A1A1AA"/>
            </a:solidFill>
            <a:prstDash val="solid"/>
            <a:tailEnd type="triangle"/>
          </a:ln>
        </p:spPr>
      </p:sp>
      <p:sp>
        <p:nvSpPr>
          <p:cNvPr id="33" name="Shape 31"/>
          <p:cNvSpPr/>
          <p:nvPr/>
        </p:nvSpPr>
        <p:spPr>
          <a:xfrm>
            <a:off x="5852160" y="2523744"/>
            <a:ext cx="0" cy="310896"/>
          </a:xfrm>
          <a:prstGeom prst="line">
            <a:avLst/>
          </a:prstGeom>
          <a:noFill/>
          <a:ln w="19050">
            <a:solidFill>
              <a:srgbClr val="A1A1AA"/>
            </a:solidFill>
            <a:prstDash val="solid"/>
            <a:tailEnd type="triangle"/>
          </a:ln>
        </p:spPr>
      </p:sp>
      <p:sp>
        <p:nvSpPr>
          <p:cNvPr id="34" name="Shape 32"/>
          <p:cNvSpPr/>
          <p:nvPr/>
        </p:nvSpPr>
        <p:spPr>
          <a:xfrm>
            <a:off x="1645920" y="4745736"/>
            <a:ext cx="0" cy="310896"/>
          </a:xfrm>
          <a:prstGeom prst="line">
            <a:avLst/>
          </a:prstGeom>
          <a:noFill/>
          <a:ln w="19050">
            <a:solidFill>
              <a:srgbClr val="A1A1AA"/>
            </a:solidFill>
            <a:prstDash val="solid"/>
            <a:tailEnd type="triangle"/>
          </a:ln>
        </p:spPr>
      </p:sp>
      <p:sp>
        <p:nvSpPr>
          <p:cNvPr id="35" name="Shape 33"/>
          <p:cNvSpPr/>
          <p:nvPr/>
        </p:nvSpPr>
        <p:spPr>
          <a:xfrm>
            <a:off x="4023360" y="4745736"/>
            <a:ext cx="0" cy="310896"/>
          </a:xfrm>
          <a:prstGeom prst="line">
            <a:avLst/>
          </a:prstGeom>
          <a:noFill/>
          <a:ln w="19050">
            <a:solidFill>
              <a:srgbClr val="A1A1AA"/>
            </a:solidFill>
            <a:prstDash val="solid"/>
            <a:tailEnd type="triangle"/>
          </a:ln>
        </p:spPr>
      </p:sp>
      <p:sp>
        <p:nvSpPr>
          <p:cNvPr id="36" name="Shape 34"/>
          <p:cNvSpPr/>
          <p:nvPr/>
        </p:nvSpPr>
        <p:spPr>
          <a:xfrm>
            <a:off x="6400800" y="4745736"/>
            <a:ext cx="0" cy="310896"/>
          </a:xfrm>
          <a:prstGeom prst="line">
            <a:avLst/>
          </a:prstGeom>
          <a:noFill/>
          <a:ln w="19050">
            <a:solidFill>
              <a:srgbClr val="A1A1AA"/>
            </a:solidFill>
            <a:prstDash val="solid"/>
            <a:tailEnd type="triangle"/>
          </a:ln>
        </p:spPr>
      </p:sp>
      <p:sp>
        <p:nvSpPr>
          <p:cNvPr id="37" name="Text 35"/>
          <p:cNvSpPr txBox="1"/>
          <p:nvPr/>
        </p:nvSpPr>
        <p:spPr>
          <a:xfrm>
            <a:off x="2331720" y="2587752"/>
            <a:ext cx="1371600" cy="201168"/>
          </a:xfrm>
          <a:prstGeom prst="rect">
            <a:avLst/>
          </a:prstGeom>
          <a:noFill/>
          <a:ln/>
        </p:spPr>
        <p:txBody>
          <a:bodyPr wrap="square" lIns="0" tIns="0" rIns="0" bIns="0" rtlCol="0" anchor="t"/>
          <a:lstStyle/>
          <a:p>
            <a:pPr indent="0" marL="0">
              <a:buNone/>
            </a:pPr>
            <a:r>
              <a:rPr lang="en-US" sz="850" dirty="0">
                <a:solidFill>
                  <a:srgbClr val="71717A"/>
                </a:solidFill>
                <a:latin typeface="Arial" pitchFamily="34" charset="0"/>
                <a:ea typeface="Arial" pitchFamily="34" charset="-122"/>
                <a:cs typeface="Arial" pitchFamily="34" charset="-120"/>
              </a:rPr>
              <a:t>JWT · RLS</a:t>
            </a:r>
            <a:endParaRPr lang="en-US" sz="850" dirty="0"/>
          </a:p>
        </p:txBody>
      </p:sp>
      <p:sp>
        <p:nvSpPr>
          <p:cNvPr id="38" name="Text 36"/>
          <p:cNvSpPr txBox="1"/>
          <p:nvPr/>
        </p:nvSpPr>
        <p:spPr>
          <a:xfrm>
            <a:off x="5943600" y="2587752"/>
            <a:ext cx="1645920" cy="201168"/>
          </a:xfrm>
          <a:prstGeom prst="rect">
            <a:avLst/>
          </a:prstGeom>
          <a:noFill/>
          <a:ln/>
        </p:spPr>
        <p:txBody>
          <a:bodyPr wrap="square" lIns="0" tIns="0" rIns="0" bIns="0" rtlCol="0" anchor="t"/>
          <a:lstStyle/>
          <a:p>
            <a:pPr indent="0" marL="0">
              <a:buNone/>
            </a:pPr>
            <a:r>
              <a:rPr lang="en-US" sz="850" dirty="0">
                <a:solidFill>
                  <a:srgbClr val="71717A"/>
                </a:solidFill>
                <a:latin typeface="Arial" pitchFamily="34" charset="0"/>
                <a:ea typeface="Arial" pitchFamily="34" charset="-122"/>
                <a:cs typeface="Arial" pitchFamily="34" charset="-120"/>
              </a:rPr>
              <a:t>sign-in · gaps · delegations</a:t>
            </a:r>
            <a:endParaRPr lang="en-US" sz="850" dirty="0"/>
          </a:p>
        </p:txBody>
      </p:sp>
      <p:sp>
        <p:nvSpPr>
          <p:cNvPr id="39" name="Shape 37"/>
          <p:cNvSpPr/>
          <p:nvPr/>
        </p:nvSpPr>
        <p:spPr>
          <a:xfrm>
            <a:off x="7818120" y="1481328"/>
            <a:ext cx="3822192" cy="4709160"/>
          </a:xfrm>
          <a:prstGeom prst="roundRect">
            <a:avLst>
              <a:gd name="adj" fmla="val 2871"/>
            </a:avLst>
          </a:prstGeom>
          <a:solidFill>
            <a:srgbClr val="161618"/>
          </a:solidFill>
          <a:ln w="9525">
            <a:solidFill>
              <a:srgbClr val="2C2C30"/>
            </a:solidFill>
            <a:prstDash val="solid"/>
          </a:ln>
        </p:spPr>
      </p:sp>
      <p:sp>
        <p:nvSpPr>
          <p:cNvPr id="40" name="Shape 38"/>
          <p:cNvSpPr/>
          <p:nvPr/>
        </p:nvSpPr>
        <p:spPr>
          <a:xfrm>
            <a:off x="8028432" y="1682496"/>
            <a:ext cx="457200" cy="457200"/>
          </a:xfrm>
          <a:prstGeom prst="ellipse">
            <a:avLst/>
          </a:prstGeom>
          <a:solidFill>
            <a:srgbClr val="1E1E21"/>
          </a:solidFill>
          <a:ln w="9525">
            <a:solidFill>
              <a:srgbClr val="2C2C30"/>
            </a:solidFill>
            <a:prstDash val="solid"/>
          </a:ln>
        </p:spPr>
      </p:sp>
      <p:pic>
        <p:nvPicPr>
          <p:cNvPr id="41" name="Image 0" descr="preencoded.png">    </p:cNvPr>
          <p:cNvPicPr>
            <a:picLocks noChangeAspect="1"/>
          </p:cNvPicPr>
          <p:nvPr/>
        </p:nvPicPr>
        <p:blipFill>
          <a:blip r:embed="rId1"/>
          <a:stretch>
            <a:fillRect/>
          </a:stretch>
        </p:blipFill>
        <p:spPr>
          <a:xfrm>
            <a:off x="8138160" y="1792224"/>
            <a:ext cx="237744" cy="237744"/>
          </a:xfrm>
          <a:prstGeom prst="rect">
            <a:avLst/>
          </a:prstGeom>
        </p:spPr>
      </p:pic>
      <p:sp>
        <p:nvSpPr>
          <p:cNvPr id="42" name="Text 39"/>
          <p:cNvSpPr txBox="1"/>
          <p:nvPr/>
        </p:nvSpPr>
        <p:spPr>
          <a:xfrm>
            <a:off x="8613648" y="1737360"/>
            <a:ext cx="2926080" cy="32918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Security &amp; governance</a:t>
            </a:r>
            <a:endParaRPr lang="en-US" sz="1500" dirty="0"/>
          </a:p>
        </p:txBody>
      </p:sp>
      <p:pic>
        <p:nvPicPr>
          <p:cNvPr id="43" name="Image 1" descr="preencoded.png">    </p:cNvPr>
          <p:cNvPicPr>
            <a:picLocks noChangeAspect="1"/>
          </p:cNvPicPr>
          <p:nvPr/>
        </p:nvPicPr>
        <p:blipFill>
          <a:blip r:embed="rId2"/>
          <a:stretch>
            <a:fillRect/>
          </a:stretch>
        </p:blipFill>
        <p:spPr>
          <a:xfrm>
            <a:off x="8046720" y="2331720"/>
            <a:ext cx="201168" cy="201168"/>
          </a:xfrm>
          <a:prstGeom prst="rect">
            <a:avLst/>
          </a:prstGeom>
        </p:spPr>
      </p:pic>
      <p:sp>
        <p:nvSpPr>
          <p:cNvPr id="44" name="Text 40"/>
          <p:cNvSpPr txBox="1"/>
          <p:nvPr/>
        </p:nvSpPr>
        <p:spPr>
          <a:xfrm>
            <a:off x="8366760" y="2304288"/>
            <a:ext cx="3154680" cy="237744"/>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Only the public anon key ships in the APK</a:t>
            </a:r>
            <a:endParaRPr lang="en-US" sz="1100" dirty="0"/>
          </a:p>
        </p:txBody>
      </p:sp>
      <p:sp>
        <p:nvSpPr>
          <p:cNvPr id="45" name="Text 41"/>
          <p:cNvSpPr txBox="1"/>
          <p:nvPr/>
        </p:nvSpPr>
        <p:spPr>
          <a:xfrm>
            <a:off x="8366760" y="2542032"/>
            <a:ext cx="3154680" cy="219456"/>
          </a:xfrm>
          <a:prstGeom prst="rect">
            <a:avLst/>
          </a:prstGeom>
          <a:noFill/>
          <a:ln/>
        </p:spPr>
        <p:txBody>
          <a:bodyPr wrap="square" lIns="0" tIns="0" rIns="0" bIns="0" rtlCol="0" anchor="t"/>
          <a:lstStyle/>
          <a:p>
            <a:pPr indent="0" marL="0">
              <a:buNone/>
            </a:pPr>
            <a:r>
              <a:rPr lang="en-US" sz="930" dirty="0">
                <a:solidFill>
                  <a:srgbClr val="A1A1AA"/>
                </a:solidFill>
                <a:latin typeface="Arial" pitchFamily="34" charset="0"/>
                <a:ea typeface="Arial" pitchFamily="34" charset="-122"/>
                <a:cs typeface="Arial" pitchFamily="34" charset="-120"/>
              </a:rPr>
              <a:t>server secrets in Vault; env sync refuses leaks</a:t>
            </a:r>
            <a:endParaRPr lang="en-US" sz="930" dirty="0"/>
          </a:p>
        </p:txBody>
      </p:sp>
      <p:pic>
        <p:nvPicPr>
          <p:cNvPr id="46" name="Image 2" descr="preencoded.png">    </p:cNvPr>
          <p:cNvPicPr>
            <a:picLocks noChangeAspect="1"/>
          </p:cNvPicPr>
          <p:nvPr/>
        </p:nvPicPr>
        <p:blipFill>
          <a:blip r:embed="rId3"/>
          <a:stretch>
            <a:fillRect/>
          </a:stretch>
        </p:blipFill>
        <p:spPr>
          <a:xfrm>
            <a:off x="8046720" y="2880360"/>
            <a:ext cx="201168" cy="201168"/>
          </a:xfrm>
          <a:prstGeom prst="rect">
            <a:avLst/>
          </a:prstGeom>
        </p:spPr>
      </p:pic>
      <p:sp>
        <p:nvSpPr>
          <p:cNvPr id="47" name="Text 42"/>
          <p:cNvSpPr txBox="1"/>
          <p:nvPr/>
        </p:nvSpPr>
        <p:spPr>
          <a:xfrm>
            <a:off x="8366760" y="2852928"/>
            <a:ext cx="3154680" cy="237744"/>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Row Level Security on all 42 tables</a:t>
            </a:r>
            <a:endParaRPr lang="en-US" sz="1100" dirty="0"/>
          </a:p>
        </p:txBody>
      </p:sp>
      <p:sp>
        <p:nvSpPr>
          <p:cNvPr id="48" name="Text 43"/>
          <p:cNvSpPr txBox="1"/>
          <p:nvPr/>
        </p:nvSpPr>
        <p:spPr>
          <a:xfrm>
            <a:off x="8366760" y="3090672"/>
            <a:ext cx="3154680" cy="219456"/>
          </a:xfrm>
          <a:prstGeom prst="rect">
            <a:avLst/>
          </a:prstGeom>
          <a:noFill/>
          <a:ln/>
        </p:spPr>
        <p:txBody>
          <a:bodyPr wrap="square" lIns="0" tIns="0" rIns="0" bIns="0" rtlCol="0" anchor="t"/>
          <a:lstStyle/>
          <a:p>
            <a:pPr indent="0" marL="0">
              <a:buNone/>
            </a:pPr>
            <a:r>
              <a:rPr lang="en-US" sz="930" dirty="0">
                <a:solidFill>
                  <a:srgbClr val="A1A1AA"/>
                </a:solidFill>
                <a:latin typeface="Arial" pitchFamily="34" charset="0"/>
                <a:ea typeface="Arial" pitchFamily="34" charset="-122"/>
                <a:cs typeface="Arial" pitchFamily="34" charset="-120"/>
              </a:rPr>
              <a:t>deny-by-default, 75 explicit policies</a:t>
            </a:r>
            <a:endParaRPr lang="en-US" sz="930" dirty="0"/>
          </a:p>
        </p:txBody>
      </p:sp>
      <p:pic>
        <p:nvPicPr>
          <p:cNvPr id="49" name="Image 3" descr="preencoded.png">    </p:cNvPr>
          <p:cNvPicPr>
            <a:picLocks noChangeAspect="1"/>
          </p:cNvPicPr>
          <p:nvPr/>
        </p:nvPicPr>
        <p:blipFill>
          <a:blip r:embed="rId4"/>
          <a:stretch>
            <a:fillRect/>
          </a:stretch>
        </p:blipFill>
        <p:spPr>
          <a:xfrm>
            <a:off x="8046720" y="3429000"/>
            <a:ext cx="201168" cy="201168"/>
          </a:xfrm>
          <a:prstGeom prst="rect">
            <a:avLst/>
          </a:prstGeom>
        </p:spPr>
      </p:pic>
      <p:sp>
        <p:nvSpPr>
          <p:cNvPr id="50" name="Text 44"/>
          <p:cNvSpPr txBox="1"/>
          <p:nvPr/>
        </p:nvSpPr>
        <p:spPr>
          <a:xfrm>
            <a:off x="8366760" y="3401568"/>
            <a:ext cx="3154680" cy="237744"/>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No self-registration</a:t>
            </a:r>
            <a:endParaRPr lang="en-US" sz="1100" dirty="0"/>
          </a:p>
        </p:txBody>
      </p:sp>
      <p:sp>
        <p:nvSpPr>
          <p:cNvPr id="51" name="Text 45"/>
          <p:cNvSpPr txBox="1"/>
          <p:nvPr/>
        </p:nvSpPr>
        <p:spPr>
          <a:xfrm>
            <a:off x="8366760" y="3639312"/>
            <a:ext cx="3154680" cy="219456"/>
          </a:xfrm>
          <a:prstGeom prst="rect">
            <a:avLst/>
          </a:prstGeom>
          <a:noFill/>
          <a:ln/>
        </p:spPr>
        <p:txBody>
          <a:bodyPr wrap="square" lIns="0" tIns="0" rIns="0" bIns="0" rtlCol="0" anchor="t"/>
          <a:lstStyle/>
          <a:p>
            <a:pPr indent="0" marL="0">
              <a:buNone/>
            </a:pPr>
            <a:r>
              <a:rPr lang="en-US" sz="930" dirty="0">
                <a:solidFill>
                  <a:srgbClr val="A1A1AA"/>
                </a:solidFill>
                <a:latin typeface="Arial" pitchFamily="34" charset="0"/>
                <a:ea typeface="Arial" pitchFamily="34" charset="-122"/>
                <a:cs typeface="Arial" pitchFamily="34" charset="-120"/>
              </a:rPr>
              <a:t>accounts tied to verified employee IDs</a:t>
            </a:r>
            <a:endParaRPr lang="en-US" sz="930" dirty="0"/>
          </a:p>
        </p:txBody>
      </p:sp>
      <p:pic>
        <p:nvPicPr>
          <p:cNvPr id="52" name="Image 4" descr="preencoded.png">    </p:cNvPr>
          <p:cNvPicPr>
            <a:picLocks noChangeAspect="1"/>
          </p:cNvPicPr>
          <p:nvPr/>
        </p:nvPicPr>
        <p:blipFill>
          <a:blip r:embed="rId5"/>
          <a:stretch>
            <a:fillRect/>
          </a:stretch>
        </p:blipFill>
        <p:spPr>
          <a:xfrm>
            <a:off x="8046720" y="3977640"/>
            <a:ext cx="201168" cy="201168"/>
          </a:xfrm>
          <a:prstGeom prst="rect">
            <a:avLst/>
          </a:prstGeom>
        </p:spPr>
      </p:pic>
      <p:sp>
        <p:nvSpPr>
          <p:cNvPr id="53" name="Text 46"/>
          <p:cNvSpPr txBox="1"/>
          <p:nvPr/>
        </p:nvSpPr>
        <p:spPr>
          <a:xfrm>
            <a:off x="8366760" y="3950208"/>
            <a:ext cx="3154680" cy="237744"/>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Aggregate-only workforce views</a:t>
            </a:r>
            <a:endParaRPr lang="en-US" sz="1100" dirty="0"/>
          </a:p>
        </p:txBody>
      </p:sp>
      <p:sp>
        <p:nvSpPr>
          <p:cNvPr id="54" name="Text 47"/>
          <p:cNvSpPr txBox="1"/>
          <p:nvPr/>
        </p:nvSpPr>
        <p:spPr>
          <a:xfrm>
            <a:off x="8366760" y="4187952"/>
            <a:ext cx="3154680" cy="219456"/>
          </a:xfrm>
          <a:prstGeom prst="rect">
            <a:avLst/>
          </a:prstGeom>
          <a:noFill/>
          <a:ln/>
        </p:spPr>
        <p:txBody>
          <a:bodyPr wrap="square" lIns="0" tIns="0" rIns="0" bIns="0" rtlCol="0" anchor="t"/>
          <a:lstStyle/>
          <a:p>
            <a:pPr indent="0" marL="0">
              <a:buNone/>
            </a:pPr>
            <a:r>
              <a:rPr lang="en-US" sz="930" dirty="0">
                <a:solidFill>
                  <a:srgbClr val="A1A1AA"/>
                </a:solidFill>
                <a:latin typeface="Arial" pitchFamily="34" charset="0"/>
                <a:ea typeface="Arial" pitchFamily="34" charset="-122"/>
                <a:cs typeface="Arial" pitchFamily="34" charset="-120"/>
              </a:rPr>
              <a:t>individuals not identifiable</a:t>
            </a:r>
            <a:endParaRPr lang="en-US" sz="930" dirty="0"/>
          </a:p>
        </p:txBody>
      </p:sp>
      <p:pic>
        <p:nvPicPr>
          <p:cNvPr id="55" name="Image 5" descr="preencoded.png">    </p:cNvPr>
          <p:cNvPicPr>
            <a:picLocks noChangeAspect="1"/>
          </p:cNvPicPr>
          <p:nvPr/>
        </p:nvPicPr>
        <p:blipFill>
          <a:blip r:embed="rId6"/>
          <a:stretch>
            <a:fillRect/>
          </a:stretch>
        </p:blipFill>
        <p:spPr>
          <a:xfrm>
            <a:off x="8046720" y="4526280"/>
            <a:ext cx="201168" cy="201168"/>
          </a:xfrm>
          <a:prstGeom prst="rect">
            <a:avLst/>
          </a:prstGeom>
        </p:spPr>
      </p:pic>
      <p:sp>
        <p:nvSpPr>
          <p:cNvPr id="56" name="Text 48"/>
          <p:cNvSpPr txBox="1"/>
          <p:nvPr/>
        </p:nvSpPr>
        <p:spPr>
          <a:xfrm>
            <a:off x="8366760" y="4498848"/>
            <a:ext cx="3154680" cy="237744"/>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Agents draft, people decide</a:t>
            </a:r>
            <a:endParaRPr lang="en-US" sz="1100" dirty="0"/>
          </a:p>
        </p:txBody>
      </p:sp>
      <p:sp>
        <p:nvSpPr>
          <p:cNvPr id="57" name="Text 49"/>
          <p:cNvSpPr txBox="1"/>
          <p:nvPr/>
        </p:nvSpPr>
        <p:spPr>
          <a:xfrm>
            <a:off x="8366760" y="4736592"/>
            <a:ext cx="3154680" cy="219456"/>
          </a:xfrm>
          <a:prstGeom prst="rect">
            <a:avLst/>
          </a:prstGeom>
          <a:noFill/>
          <a:ln/>
        </p:spPr>
        <p:txBody>
          <a:bodyPr wrap="square" lIns="0" tIns="0" rIns="0" bIns="0" rtlCol="0" anchor="t"/>
          <a:lstStyle/>
          <a:p>
            <a:pPr indent="0" marL="0">
              <a:buNone/>
            </a:pPr>
            <a:r>
              <a:rPr lang="en-US" sz="930" dirty="0">
                <a:solidFill>
                  <a:srgbClr val="A1A1AA"/>
                </a:solidFill>
                <a:latin typeface="Arial" pitchFamily="34" charset="0"/>
                <a:ea typeface="Arial" pitchFamily="34" charset="-122"/>
                <a:cs typeface="Arial" pitchFamily="34" charset="-120"/>
              </a:rPr>
              <a:t>AI actions need confirmation</a:t>
            </a:r>
            <a:endParaRPr lang="en-US" sz="930" dirty="0"/>
          </a:p>
        </p:txBody>
      </p:sp>
      <p:pic>
        <p:nvPicPr>
          <p:cNvPr id="58" name="Image 6" descr="preencoded.png">    </p:cNvPr>
          <p:cNvPicPr>
            <a:picLocks noChangeAspect="1"/>
          </p:cNvPicPr>
          <p:nvPr/>
        </p:nvPicPr>
        <p:blipFill>
          <a:blip r:embed="rId7"/>
          <a:stretch>
            <a:fillRect/>
          </a:stretch>
        </p:blipFill>
        <p:spPr>
          <a:xfrm>
            <a:off x="8046720" y="5074920"/>
            <a:ext cx="201168" cy="201168"/>
          </a:xfrm>
          <a:prstGeom prst="rect">
            <a:avLst/>
          </a:prstGeom>
        </p:spPr>
      </p:pic>
      <p:sp>
        <p:nvSpPr>
          <p:cNvPr id="59" name="Text 50"/>
          <p:cNvSpPr txBox="1"/>
          <p:nvPr/>
        </p:nvSpPr>
        <p:spPr>
          <a:xfrm>
            <a:off x="8366760" y="5047488"/>
            <a:ext cx="3154680" cy="237744"/>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Every AI call audited</a:t>
            </a:r>
            <a:endParaRPr lang="en-US" sz="1100" dirty="0"/>
          </a:p>
        </p:txBody>
      </p:sp>
      <p:sp>
        <p:nvSpPr>
          <p:cNvPr id="60" name="Text 51"/>
          <p:cNvSpPr txBox="1"/>
          <p:nvPr/>
        </p:nvSpPr>
        <p:spPr>
          <a:xfrm>
            <a:off x="8366760" y="5285232"/>
            <a:ext cx="3154680" cy="219456"/>
          </a:xfrm>
          <a:prstGeom prst="rect">
            <a:avLst/>
          </a:prstGeom>
          <a:noFill/>
          <a:ln/>
        </p:spPr>
        <p:txBody>
          <a:bodyPr wrap="square" lIns="0" tIns="0" rIns="0" bIns="0" rtlCol="0" anchor="t"/>
          <a:lstStyle/>
          <a:p>
            <a:pPr indent="0" marL="0">
              <a:buNone/>
            </a:pPr>
            <a:r>
              <a:rPr lang="en-US" sz="930" dirty="0">
                <a:solidFill>
                  <a:srgbClr val="A1A1AA"/>
                </a:solidFill>
                <a:latin typeface="Arial" pitchFamily="34" charset="0"/>
                <a:ea typeface="Arial" pitchFamily="34" charset="-122"/>
                <a:cs typeface="Arial" pitchFamily="34" charset="-120"/>
              </a:rPr>
              <a:t>tokens, cost, latency, outcome</a:t>
            </a:r>
            <a:endParaRPr lang="en-US" sz="930" dirty="0"/>
          </a:p>
        </p:txBody>
      </p:sp>
      <p:pic>
        <p:nvPicPr>
          <p:cNvPr id="61" name="Image 7" descr="preencoded.png">    </p:cNvPr>
          <p:cNvPicPr>
            <a:picLocks noChangeAspect="1"/>
          </p:cNvPicPr>
          <p:nvPr/>
        </p:nvPicPr>
        <p:blipFill>
          <a:blip r:embed="rId8"/>
          <a:stretch>
            <a:fillRect/>
          </a:stretch>
        </p:blipFill>
        <p:spPr>
          <a:xfrm>
            <a:off x="8046720" y="5623560"/>
            <a:ext cx="201168" cy="201168"/>
          </a:xfrm>
          <a:prstGeom prst="rect">
            <a:avLst/>
          </a:prstGeom>
        </p:spPr>
      </p:pic>
      <p:sp>
        <p:nvSpPr>
          <p:cNvPr id="62" name="Text 52"/>
          <p:cNvSpPr txBox="1"/>
          <p:nvPr/>
        </p:nvSpPr>
        <p:spPr>
          <a:xfrm>
            <a:off x="8366760" y="5596128"/>
            <a:ext cx="3154680" cy="237744"/>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DPDP-ready sovereignty path</a:t>
            </a:r>
            <a:endParaRPr lang="en-US" sz="1100" dirty="0"/>
          </a:p>
        </p:txBody>
      </p:sp>
      <p:sp>
        <p:nvSpPr>
          <p:cNvPr id="63" name="Text 53"/>
          <p:cNvSpPr txBox="1"/>
          <p:nvPr/>
        </p:nvSpPr>
        <p:spPr>
          <a:xfrm>
            <a:off x="8366760" y="5833872"/>
            <a:ext cx="3154680" cy="219456"/>
          </a:xfrm>
          <a:prstGeom prst="rect">
            <a:avLst/>
          </a:prstGeom>
          <a:noFill/>
          <a:ln/>
        </p:spPr>
        <p:txBody>
          <a:bodyPr wrap="square" lIns="0" tIns="0" rIns="0" bIns="0" rtlCol="0" anchor="t"/>
          <a:lstStyle/>
          <a:p>
            <a:pPr indent="0" marL="0">
              <a:buNone/>
            </a:pPr>
            <a:r>
              <a:rPr lang="en-US" sz="930" dirty="0">
                <a:solidFill>
                  <a:srgbClr val="A1A1AA"/>
                </a:solidFill>
                <a:latin typeface="Arial" pitchFamily="34" charset="0"/>
                <a:ea typeface="Arial" pitchFamily="34" charset="-122"/>
                <a:cs typeface="Arial" pitchFamily="34" charset="-120"/>
              </a:rPr>
              <a:t>open-weight model can run on-prem</a:t>
            </a:r>
            <a:endParaRPr lang="en-US" sz="9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AI MODEL CHOICE</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Why DeepSeek V4 Flash: open weights, built to be fine-tuned</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09</a:t>
            </a:r>
            <a:endParaRPr lang="en-US" sz="900" dirty="0"/>
          </a:p>
        </p:txBody>
      </p:sp>
      <p:sp>
        <p:nvSpPr>
          <p:cNvPr id="6" name="Shape 4"/>
          <p:cNvSpPr/>
          <p:nvPr/>
        </p:nvSpPr>
        <p:spPr>
          <a:xfrm>
            <a:off x="548640" y="1481328"/>
            <a:ext cx="3474720" cy="1463040"/>
          </a:xfrm>
          <a:prstGeom prst="roundRect">
            <a:avLst>
              <a:gd name="adj" fmla="val 7500"/>
            </a:avLst>
          </a:prstGeom>
          <a:solidFill>
            <a:srgbClr val="161618"/>
          </a:solidFill>
          <a:ln w="9525">
            <a:solidFill>
              <a:srgbClr val="2C2C30"/>
            </a:solidFill>
            <a:prstDash val="solid"/>
          </a:ln>
        </p:spPr>
      </p:sp>
      <p:sp>
        <p:nvSpPr>
          <p:cNvPr id="7" name="Shape 5"/>
          <p:cNvSpPr/>
          <p:nvPr/>
        </p:nvSpPr>
        <p:spPr>
          <a:xfrm>
            <a:off x="731520" y="1664208"/>
            <a:ext cx="420624" cy="420624"/>
          </a:xfrm>
          <a:prstGeom prst="ellipse">
            <a:avLst/>
          </a:prstGeom>
          <a:solidFill>
            <a:srgbClr val="1E1E21"/>
          </a:solidFill>
          <a:ln w="9525">
            <a:solidFill>
              <a:srgbClr val="2C2C30"/>
            </a:solidFill>
            <a:prstDash val="solid"/>
          </a:ln>
        </p:spPr>
      </p:sp>
      <p:pic>
        <p:nvPicPr>
          <p:cNvPr id="8" name="Image 0" descr="preencoded.png">    </p:cNvPr>
          <p:cNvPicPr>
            <a:picLocks noChangeAspect="1"/>
          </p:cNvPicPr>
          <p:nvPr/>
        </p:nvPicPr>
        <p:blipFill>
          <a:blip r:embed="rId1"/>
          <a:stretch>
            <a:fillRect/>
          </a:stretch>
        </p:blipFill>
        <p:spPr>
          <a:xfrm>
            <a:off x="832470" y="1765158"/>
            <a:ext cx="218724" cy="218724"/>
          </a:xfrm>
          <a:prstGeom prst="rect">
            <a:avLst/>
          </a:prstGeom>
        </p:spPr>
      </p:pic>
      <p:sp>
        <p:nvSpPr>
          <p:cNvPr id="9" name="Text 6"/>
          <p:cNvSpPr txBox="1"/>
          <p:nvPr/>
        </p:nvSpPr>
        <p:spPr>
          <a:xfrm>
            <a:off x="1280160" y="1709928"/>
            <a:ext cx="260604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Easy to fine-tune</a:t>
            </a:r>
            <a:endParaRPr lang="en-US" sz="1400" dirty="0"/>
          </a:p>
        </p:txBody>
      </p:sp>
      <p:sp>
        <p:nvSpPr>
          <p:cNvPr id="10" name="Text 7"/>
          <p:cNvSpPr txBox="1"/>
          <p:nvPr/>
        </p:nvSpPr>
        <p:spPr>
          <a:xfrm>
            <a:off x="731520" y="2176272"/>
            <a:ext cx="3154680" cy="731520"/>
          </a:xfrm>
          <a:prstGeom prst="rect">
            <a:avLst/>
          </a:prstGeom>
          <a:noFill/>
          <a:ln/>
        </p:spPr>
        <p:txBody>
          <a:bodyPr wrap="square" lIns="0" tIns="0" rIns="0" bIns="0" rtlCol="0" anchor="t"/>
          <a:lstStyle/>
          <a:p>
            <a:pPr indent="0" marL="0">
              <a:lnSpc>
                <a:spcPct val="108000"/>
              </a:lnSpc>
              <a:buNone/>
            </a:pPr>
            <a:r>
              <a:rPr lang="en-US" sz="980" dirty="0">
                <a:solidFill>
                  <a:srgbClr val="A1A1AA"/>
                </a:solidFill>
                <a:latin typeface="Arial" pitchFamily="34" charset="0"/>
                <a:ea typeface="Arial" pitchFamily="34" charset="-122"/>
                <a:cs typeface="Arial" pitchFamily="34" charset="-120"/>
              </a:rPr>
              <a:t>Open weights under a permissive licence — LoRA / QLoRA adapters on MoSPI &amp; NSSTA manuals, SQAF, NMDS and trainer-approved questions. Closed API models can't be adapted this way.</a:t>
            </a:r>
            <a:endParaRPr lang="en-US" sz="980" dirty="0"/>
          </a:p>
        </p:txBody>
      </p:sp>
      <p:sp>
        <p:nvSpPr>
          <p:cNvPr id="11" name="Shape 8"/>
          <p:cNvSpPr/>
          <p:nvPr/>
        </p:nvSpPr>
        <p:spPr>
          <a:xfrm>
            <a:off x="4160520" y="1481328"/>
            <a:ext cx="3474720" cy="1463040"/>
          </a:xfrm>
          <a:prstGeom prst="roundRect">
            <a:avLst>
              <a:gd name="adj" fmla="val 7500"/>
            </a:avLst>
          </a:prstGeom>
          <a:solidFill>
            <a:srgbClr val="161618"/>
          </a:solidFill>
          <a:ln w="9525">
            <a:solidFill>
              <a:srgbClr val="2C2C30"/>
            </a:solidFill>
            <a:prstDash val="solid"/>
          </a:ln>
        </p:spPr>
      </p:sp>
      <p:sp>
        <p:nvSpPr>
          <p:cNvPr id="12" name="Shape 9"/>
          <p:cNvSpPr/>
          <p:nvPr/>
        </p:nvSpPr>
        <p:spPr>
          <a:xfrm>
            <a:off x="4343400" y="1664208"/>
            <a:ext cx="420624" cy="420624"/>
          </a:xfrm>
          <a:prstGeom prst="ellipse">
            <a:avLst/>
          </a:prstGeom>
          <a:solidFill>
            <a:srgbClr val="1E1E21"/>
          </a:solidFill>
          <a:ln w="9525">
            <a:solidFill>
              <a:srgbClr val="2C2C30"/>
            </a:solidFill>
            <a:prstDash val="solid"/>
          </a:ln>
        </p:spPr>
      </p:sp>
      <p:pic>
        <p:nvPicPr>
          <p:cNvPr id="13" name="Image 1" descr="preencoded.png">    </p:cNvPr>
          <p:cNvPicPr>
            <a:picLocks noChangeAspect="1"/>
          </p:cNvPicPr>
          <p:nvPr/>
        </p:nvPicPr>
        <p:blipFill>
          <a:blip r:embed="rId2"/>
          <a:stretch>
            <a:fillRect/>
          </a:stretch>
        </p:blipFill>
        <p:spPr>
          <a:xfrm>
            <a:off x="4444350" y="1765158"/>
            <a:ext cx="218724" cy="218724"/>
          </a:xfrm>
          <a:prstGeom prst="rect">
            <a:avLst/>
          </a:prstGeom>
        </p:spPr>
      </p:pic>
      <p:sp>
        <p:nvSpPr>
          <p:cNvPr id="14" name="Text 10"/>
          <p:cNvSpPr txBox="1"/>
          <p:nvPr/>
        </p:nvSpPr>
        <p:spPr>
          <a:xfrm>
            <a:off x="4892040" y="1709928"/>
            <a:ext cx="260604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Sovereign hosting</a:t>
            </a:r>
            <a:endParaRPr lang="en-US" sz="1400" dirty="0"/>
          </a:p>
        </p:txBody>
      </p:sp>
      <p:sp>
        <p:nvSpPr>
          <p:cNvPr id="15" name="Text 11"/>
          <p:cNvSpPr txBox="1"/>
          <p:nvPr/>
        </p:nvSpPr>
        <p:spPr>
          <a:xfrm>
            <a:off x="4343400" y="2176272"/>
            <a:ext cx="3154680" cy="731520"/>
          </a:xfrm>
          <a:prstGeom prst="rect">
            <a:avLst/>
          </a:prstGeom>
          <a:noFill/>
          <a:ln/>
        </p:spPr>
        <p:txBody>
          <a:bodyPr wrap="square" lIns="0" tIns="0" rIns="0" bIns="0" rtlCol="0" anchor="t"/>
          <a:lstStyle/>
          <a:p>
            <a:pPr indent="0" marL="0">
              <a:lnSpc>
                <a:spcPct val="108000"/>
              </a:lnSpc>
              <a:buNone/>
            </a:pPr>
            <a:r>
              <a:rPr lang="en-US" sz="980" dirty="0">
                <a:solidFill>
                  <a:srgbClr val="A1A1AA"/>
                </a:solidFill>
                <a:latin typeface="Arial" pitchFamily="34" charset="0"/>
                <a:ea typeface="Arial" pitchFamily="34" charset="-122"/>
                <a:cs typeface="Arial" pitchFamily="34" charset="-120"/>
              </a:rPr>
              <a:t>The same model, base or fine-tuned, can run on NIC / MeghRaj infrastructure — officer data never leaves India (DPDP Act, 2023).</a:t>
            </a:r>
            <a:endParaRPr lang="en-US" sz="980" dirty="0"/>
          </a:p>
        </p:txBody>
      </p:sp>
      <p:sp>
        <p:nvSpPr>
          <p:cNvPr id="16" name="Shape 12"/>
          <p:cNvSpPr/>
          <p:nvPr/>
        </p:nvSpPr>
        <p:spPr>
          <a:xfrm>
            <a:off x="548640" y="3081528"/>
            <a:ext cx="3474720" cy="1463040"/>
          </a:xfrm>
          <a:prstGeom prst="roundRect">
            <a:avLst>
              <a:gd name="adj" fmla="val 7500"/>
            </a:avLst>
          </a:prstGeom>
          <a:solidFill>
            <a:srgbClr val="161618"/>
          </a:solidFill>
          <a:ln w="9525">
            <a:solidFill>
              <a:srgbClr val="2C2C30"/>
            </a:solidFill>
            <a:prstDash val="solid"/>
          </a:ln>
        </p:spPr>
      </p:sp>
      <p:sp>
        <p:nvSpPr>
          <p:cNvPr id="17" name="Shape 13"/>
          <p:cNvSpPr/>
          <p:nvPr/>
        </p:nvSpPr>
        <p:spPr>
          <a:xfrm>
            <a:off x="731520" y="3264408"/>
            <a:ext cx="420624" cy="420624"/>
          </a:xfrm>
          <a:prstGeom prst="ellipse">
            <a:avLst/>
          </a:prstGeom>
          <a:solidFill>
            <a:srgbClr val="1E1E21"/>
          </a:solidFill>
          <a:ln w="9525">
            <a:solidFill>
              <a:srgbClr val="2C2C30"/>
            </a:solidFill>
            <a:prstDash val="solid"/>
          </a:ln>
        </p:spPr>
      </p:sp>
      <p:pic>
        <p:nvPicPr>
          <p:cNvPr id="18" name="Image 2" descr="preencoded.png">    </p:cNvPr>
          <p:cNvPicPr>
            <a:picLocks noChangeAspect="1"/>
          </p:cNvPicPr>
          <p:nvPr/>
        </p:nvPicPr>
        <p:blipFill>
          <a:blip r:embed="rId3"/>
          <a:stretch>
            <a:fillRect/>
          </a:stretch>
        </p:blipFill>
        <p:spPr>
          <a:xfrm>
            <a:off x="832470" y="3365358"/>
            <a:ext cx="218724" cy="218724"/>
          </a:xfrm>
          <a:prstGeom prst="rect">
            <a:avLst/>
          </a:prstGeom>
        </p:spPr>
      </p:pic>
      <p:sp>
        <p:nvSpPr>
          <p:cNvPr id="19" name="Text 14"/>
          <p:cNvSpPr txBox="1"/>
          <p:nvPr/>
        </p:nvSpPr>
        <p:spPr>
          <a:xfrm>
            <a:off x="1280160" y="3310128"/>
            <a:ext cx="260604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~1M-token context</a:t>
            </a:r>
            <a:endParaRPr lang="en-US" sz="1400" dirty="0"/>
          </a:p>
        </p:txBody>
      </p:sp>
      <p:sp>
        <p:nvSpPr>
          <p:cNvPr id="20" name="Text 15"/>
          <p:cNvSpPr txBox="1"/>
          <p:nvPr/>
        </p:nvSpPr>
        <p:spPr>
          <a:xfrm>
            <a:off x="731520" y="3776472"/>
            <a:ext cx="3154680" cy="731520"/>
          </a:xfrm>
          <a:prstGeom prst="rect">
            <a:avLst/>
          </a:prstGeom>
          <a:noFill/>
          <a:ln/>
        </p:spPr>
        <p:txBody>
          <a:bodyPr wrap="square" lIns="0" tIns="0" rIns="0" bIns="0" rtlCol="0" anchor="t"/>
          <a:lstStyle/>
          <a:p>
            <a:pPr indent="0" marL="0">
              <a:lnSpc>
                <a:spcPct val="108000"/>
              </a:lnSpc>
              <a:buNone/>
            </a:pPr>
            <a:r>
              <a:rPr lang="en-US" sz="980" dirty="0">
                <a:solidFill>
                  <a:srgbClr val="A1A1AA"/>
                </a:solidFill>
                <a:latin typeface="Arial" pitchFamily="34" charset="0"/>
                <a:ea typeface="Arial" pitchFamily="34" charset="-122"/>
                <a:cs typeface="Arial" pitchFamily="34" charset="-120"/>
              </a:rPr>
              <a:t>A whole 150-page handbook in one call — no chunk-stitching, no contradictory questions across chunks.</a:t>
            </a:r>
            <a:endParaRPr lang="en-US" sz="980" dirty="0"/>
          </a:p>
        </p:txBody>
      </p:sp>
      <p:sp>
        <p:nvSpPr>
          <p:cNvPr id="21" name="Shape 16"/>
          <p:cNvSpPr/>
          <p:nvPr/>
        </p:nvSpPr>
        <p:spPr>
          <a:xfrm>
            <a:off x="4160520" y="3081528"/>
            <a:ext cx="3474720" cy="1463040"/>
          </a:xfrm>
          <a:prstGeom prst="roundRect">
            <a:avLst>
              <a:gd name="adj" fmla="val 7500"/>
            </a:avLst>
          </a:prstGeom>
          <a:solidFill>
            <a:srgbClr val="161618"/>
          </a:solidFill>
          <a:ln w="9525">
            <a:solidFill>
              <a:srgbClr val="2C2C30"/>
            </a:solidFill>
            <a:prstDash val="solid"/>
          </a:ln>
        </p:spPr>
      </p:sp>
      <p:sp>
        <p:nvSpPr>
          <p:cNvPr id="22" name="Shape 17"/>
          <p:cNvSpPr/>
          <p:nvPr/>
        </p:nvSpPr>
        <p:spPr>
          <a:xfrm>
            <a:off x="4343400" y="3264408"/>
            <a:ext cx="420624" cy="420624"/>
          </a:xfrm>
          <a:prstGeom prst="ellipse">
            <a:avLst/>
          </a:prstGeom>
          <a:solidFill>
            <a:srgbClr val="1E1E21"/>
          </a:solidFill>
          <a:ln w="9525">
            <a:solidFill>
              <a:srgbClr val="2C2C30"/>
            </a:solidFill>
            <a:prstDash val="solid"/>
          </a:ln>
        </p:spPr>
      </p:sp>
      <p:pic>
        <p:nvPicPr>
          <p:cNvPr id="23" name="Image 3" descr="preencoded.png">    </p:cNvPr>
          <p:cNvPicPr>
            <a:picLocks noChangeAspect="1"/>
          </p:cNvPicPr>
          <p:nvPr/>
        </p:nvPicPr>
        <p:blipFill>
          <a:blip r:embed="rId4"/>
          <a:stretch>
            <a:fillRect/>
          </a:stretch>
        </p:blipFill>
        <p:spPr>
          <a:xfrm>
            <a:off x="4444350" y="3365358"/>
            <a:ext cx="218724" cy="218724"/>
          </a:xfrm>
          <a:prstGeom prst="rect">
            <a:avLst/>
          </a:prstGeom>
        </p:spPr>
      </p:pic>
      <p:sp>
        <p:nvSpPr>
          <p:cNvPr id="24" name="Text 18"/>
          <p:cNvSpPr txBox="1"/>
          <p:nvPr/>
        </p:nvSpPr>
        <p:spPr>
          <a:xfrm>
            <a:off x="4892040" y="3310128"/>
            <a:ext cx="260604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Cost at workforce scale</a:t>
            </a:r>
            <a:endParaRPr lang="en-US" sz="1400" dirty="0"/>
          </a:p>
        </p:txBody>
      </p:sp>
      <p:sp>
        <p:nvSpPr>
          <p:cNvPr id="25" name="Text 19"/>
          <p:cNvSpPr txBox="1"/>
          <p:nvPr/>
        </p:nvSpPr>
        <p:spPr>
          <a:xfrm>
            <a:off x="4343400" y="3776472"/>
            <a:ext cx="3154680" cy="731520"/>
          </a:xfrm>
          <a:prstGeom prst="rect">
            <a:avLst/>
          </a:prstGeom>
          <a:noFill/>
          <a:ln/>
        </p:spPr>
        <p:txBody>
          <a:bodyPr wrap="square" lIns="0" tIns="0" rIns="0" bIns="0" rtlCol="0" anchor="t"/>
          <a:lstStyle/>
          <a:p>
            <a:pPr indent="0" marL="0">
              <a:lnSpc>
                <a:spcPct val="108000"/>
              </a:lnSpc>
              <a:buNone/>
            </a:pPr>
            <a:r>
              <a:rPr lang="en-US" sz="980" dirty="0">
                <a:solidFill>
                  <a:srgbClr val="A1A1AA"/>
                </a:solidFill>
                <a:latin typeface="Arial" pitchFamily="34" charset="0"/>
                <a:ea typeface="Arial" pitchFamily="34" charset="-122"/>
                <a:cs typeface="Arial" pitchFamily="34" charset="-120"/>
              </a:rPr>
              <a:t>≈ US$0.09 per million input tokens: a 20-question quiz from a full PDF costs under a cent. Efficient mixture-of-experts design.</a:t>
            </a:r>
            <a:endParaRPr lang="en-US" sz="980" dirty="0"/>
          </a:p>
        </p:txBody>
      </p:sp>
      <p:sp>
        <p:nvSpPr>
          <p:cNvPr id="26" name="Shape 20"/>
          <p:cNvSpPr/>
          <p:nvPr/>
        </p:nvSpPr>
        <p:spPr>
          <a:xfrm>
            <a:off x="548640" y="4681728"/>
            <a:ext cx="3474720" cy="1463040"/>
          </a:xfrm>
          <a:prstGeom prst="roundRect">
            <a:avLst>
              <a:gd name="adj" fmla="val 7500"/>
            </a:avLst>
          </a:prstGeom>
          <a:solidFill>
            <a:srgbClr val="161618"/>
          </a:solidFill>
          <a:ln w="9525">
            <a:solidFill>
              <a:srgbClr val="2C2C30"/>
            </a:solidFill>
            <a:prstDash val="solid"/>
          </a:ln>
        </p:spPr>
      </p:sp>
      <p:sp>
        <p:nvSpPr>
          <p:cNvPr id="27" name="Shape 21"/>
          <p:cNvSpPr/>
          <p:nvPr/>
        </p:nvSpPr>
        <p:spPr>
          <a:xfrm>
            <a:off x="731520" y="4864608"/>
            <a:ext cx="420624" cy="420624"/>
          </a:xfrm>
          <a:prstGeom prst="ellipse">
            <a:avLst/>
          </a:prstGeom>
          <a:solidFill>
            <a:srgbClr val="1E1E21"/>
          </a:solidFill>
          <a:ln w="9525">
            <a:solidFill>
              <a:srgbClr val="2C2C30"/>
            </a:solidFill>
            <a:prstDash val="solid"/>
          </a:ln>
        </p:spPr>
      </p:sp>
      <p:pic>
        <p:nvPicPr>
          <p:cNvPr id="28" name="Image 4" descr="preencoded.png">    </p:cNvPr>
          <p:cNvPicPr>
            <a:picLocks noChangeAspect="1"/>
          </p:cNvPicPr>
          <p:nvPr/>
        </p:nvPicPr>
        <p:blipFill>
          <a:blip r:embed="rId5"/>
          <a:stretch>
            <a:fillRect/>
          </a:stretch>
        </p:blipFill>
        <p:spPr>
          <a:xfrm>
            <a:off x="832470" y="4965558"/>
            <a:ext cx="218724" cy="218724"/>
          </a:xfrm>
          <a:prstGeom prst="rect">
            <a:avLst/>
          </a:prstGeom>
        </p:spPr>
      </p:pic>
      <p:sp>
        <p:nvSpPr>
          <p:cNvPr id="29" name="Text 22"/>
          <p:cNvSpPr txBox="1"/>
          <p:nvPr/>
        </p:nvSpPr>
        <p:spPr>
          <a:xfrm>
            <a:off x="1280160" y="4910328"/>
            <a:ext cx="260604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Strict JSON &amp; tool calling</a:t>
            </a:r>
            <a:endParaRPr lang="en-US" sz="1400" dirty="0"/>
          </a:p>
        </p:txBody>
      </p:sp>
      <p:sp>
        <p:nvSpPr>
          <p:cNvPr id="30" name="Text 23"/>
          <p:cNvSpPr txBox="1"/>
          <p:nvPr/>
        </p:nvSpPr>
        <p:spPr>
          <a:xfrm>
            <a:off x="731520" y="5376672"/>
            <a:ext cx="3154680" cy="731520"/>
          </a:xfrm>
          <a:prstGeom prst="rect">
            <a:avLst/>
          </a:prstGeom>
          <a:noFill/>
          <a:ln/>
        </p:spPr>
        <p:txBody>
          <a:bodyPr wrap="square" lIns="0" tIns="0" rIns="0" bIns="0" rtlCol="0" anchor="t"/>
          <a:lstStyle/>
          <a:p>
            <a:pPr indent="0" marL="0">
              <a:lnSpc>
                <a:spcPct val="108000"/>
              </a:lnSpc>
              <a:buNone/>
            </a:pPr>
            <a:r>
              <a:rPr lang="en-US" sz="980" dirty="0">
                <a:solidFill>
                  <a:srgbClr val="A1A1AA"/>
                </a:solidFill>
                <a:latin typeface="Arial" pitchFamily="34" charset="0"/>
                <a:ea typeface="Arial" pitchFamily="34" charset="-122"/>
                <a:cs typeface="Arial" pitchFamily="34" charset="-120"/>
              </a:rPr>
              <a:t>Grammar-constrained output guarantees shape; tools power the administrator operator.</a:t>
            </a:r>
            <a:endParaRPr lang="en-US" sz="980" dirty="0"/>
          </a:p>
        </p:txBody>
      </p:sp>
      <p:sp>
        <p:nvSpPr>
          <p:cNvPr id="31" name="Shape 24"/>
          <p:cNvSpPr/>
          <p:nvPr/>
        </p:nvSpPr>
        <p:spPr>
          <a:xfrm>
            <a:off x="4160520" y="4681728"/>
            <a:ext cx="3474720" cy="1463040"/>
          </a:xfrm>
          <a:prstGeom prst="roundRect">
            <a:avLst>
              <a:gd name="adj" fmla="val 7500"/>
            </a:avLst>
          </a:prstGeom>
          <a:solidFill>
            <a:srgbClr val="161618"/>
          </a:solidFill>
          <a:ln w="9525">
            <a:solidFill>
              <a:srgbClr val="2C2C30"/>
            </a:solidFill>
            <a:prstDash val="solid"/>
          </a:ln>
        </p:spPr>
      </p:sp>
      <p:sp>
        <p:nvSpPr>
          <p:cNvPr id="32" name="Shape 25"/>
          <p:cNvSpPr/>
          <p:nvPr/>
        </p:nvSpPr>
        <p:spPr>
          <a:xfrm>
            <a:off x="4343400" y="4864608"/>
            <a:ext cx="420624" cy="420624"/>
          </a:xfrm>
          <a:prstGeom prst="ellipse">
            <a:avLst/>
          </a:prstGeom>
          <a:solidFill>
            <a:srgbClr val="1E1E21"/>
          </a:solidFill>
          <a:ln w="9525">
            <a:solidFill>
              <a:srgbClr val="2C2C30"/>
            </a:solidFill>
            <a:prstDash val="solid"/>
          </a:ln>
        </p:spPr>
      </p:sp>
      <p:pic>
        <p:nvPicPr>
          <p:cNvPr id="33" name="Image 5" descr="preencoded.png">    </p:cNvPr>
          <p:cNvPicPr>
            <a:picLocks noChangeAspect="1"/>
          </p:cNvPicPr>
          <p:nvPr/>
        </p:nvPicPr>
        <p:blipFill>
          <a:blip r:embed="rId6"/>
          <a:stretch>
            <a:fillRect/>
          </a:stretch>
        </p:blipFill>
        <p:spPr>
          <a:xfrm>
            <a:off x="4444350" y="4965558"/>
            <a:ext cx="218724" cy="218724"/>
          </a:xfrm>
          <a:prstGeom prst="rect">
            <a:avLst/>
          </a:prstGeom>
        </p:spPr>
      </p:pic>
      <p:sp>
        <p:nvSpPr>
          <p:cNvPr id="34" name="Text 26"/>
          <p:cNvSpPr txBox="1"/>
          <p:nvPr/>
        </p:nvSpPr>
        <p:spPr>
          <a:xfrm>
            <a:off x="4892040" y="4910328"/>
            <a:ext cx="2606040" cy="3108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No lock-in</a:t>
            </a:r>
            <a:endParaRPr lang="en-US" sz="1400" dirty="0"/>
          </a:p>
        </p:txBody>
      </p:sp>
      <p:sp>
        <p:nvSpPr>
          <p:cNvPr id="35" name="Text 27"/>
          <p:cNvSpPr txBox="1"/>
          <p:nvPr/>
        </p:nvSpPr>
        <p:spPr>
          <a:xfrm>
            <a:off x="4343400" y="5376672"/>
            <a:ext cx="3154680" cy="731520"/>
          </a:xfrm>
          <a:prstGeom prst="rect">
            <a:avLst/>
          </a:prstGeom>
          <a:noFill/>
          <a:ln/>
        </p:spPr>
        <p:txBody>
          <a:bodyPr wrap="square" lIns="0" tIns="0" rIns="0" bIns="0" rtlCol="0" anchor="t"/>
          <a:lstStyle/>
          <a:p>
            <a:pPr indent="0" marL="0">
              <a:lnSpc>
                <a:spcPct val="108000"/>
              </a:lnSpc>
              <a:buNone/>
            </a:pPr>
            <a:r>
              <a:rPr lang="en-US" sz="980" dirty="0">
                <a:solidFill>
                  <a:srgbClr val="A1A1AA"/>
                </a:solidFill>
                <a:latin typeface="Arial" pitchFamily="34" charset="0"/>
                <a:ea typeface="Arial" pitchFamily="34" charset="-122"/>
                <a:cs typeface="Arial" pitchFamily="34" charset="-120"/>
              </a:rPr>
              <a:t>One gateway, one env var. A local model path through Ollama is already proven for offline / on-prem.</a:t>
            </a:r>
            <a:endParaRPr lang="en-US" sz="980" dirty="0"/>
          </a:p>
        </p:txBody>
      </p:sp>
      <p:sp>
        <p:nvSpPr>
          <p:cNvPr id="36" name="Shape 28"/>
          <p:cNvSpPr/>
          <p:nvPr/>
        </p:nvSpPr>
        <p:spPr>
          <a:xfrm>
            <a:off x="7818120" y="1481328"/>
            <a:ext cx="3822192" cy="4663440"/>
          </a:xfrm>
          <a:prstGeom prst="roundRect">
            <a:avLst>
              <a:gd name="adj" fmla="val 2871"/>
            </a:avLst>
          </a:prstGeom>
          <a:solidFill>
            <a:srgbClr val="FFFFFF"/>
          </a:solidFill>
          <a:ln w="12700">
            <a:solidFill>
              <a:srgbClr val="FFFFFF"/>
            </a:solidFill>
            <a:prstDash val="solid"/>
          </a:ln>
        </p:spPr>
      </p:sp>
      <p:sp>
        <p:nvSpPr>
          <p:cNvPr id="37" name="Text 29"/>
          <p:cNvSpPr txBox="1"/>
          <p:nvPr/>
        </p:nvSpPr>
        <p:spPr>
          <a:xfrm>
            <a:off x="8046720" y="1691640"/>
            <a:ext cx="3383280" cy="228600"/>
          </a:xfrm>
          <a:prstGeom prst="rect">
            <a:avLst/>
          </a:prstGeom>
          <a:noFill/>
          <a:ln/>
        </p:spPr>
        <p:txBody>
          <a:bodyPr wrap="square" lIns="0" tIns="0" rIns="0" bIns="0" rtlCol="0" anchor="t"/>
          <a:lstStyle/>
          <a:p>
            <a:pPr indent="0" marL="0">
              <a:buNone/>
            </a:pPr>
            <a:r>
              <a:rPr lang="en-US" sz="1000" b="1" spc="200" kern="0" dirty="0">
                <a:solidFill>
                  <a:srgbClr val="52525B"/>
                </a:solidFill>
                <a:latin typeface="Arial" pitchFamily="34" charset="0"/>
                <a:ea typeface="Arial" pitchFamily="34" charset="-122"/>
                <a:cs typeface="Arial" pitchFamily="34" charset="-120"/>
              </a:rPr>
              <a:t>FINE-TUNING ROADMAP</a:t>
            </a:r>
            <a:endParaRPr lang="en-US" sz="1000" dirty="0"/>
          </a:p>
        </p:txBody>
      </p:sp>
      <p:sp>
        <p:nvSpPr>
          <p:cNvPr id="38" name="Text 30"/>
          <p:cNvSpPr txBox="1"/>
          <p:nvPr/>
        </p:nvSpPr>
        <p:spPr>
          <a:xfrm>
            <a:off x="8046720" y="1938528"/>
            <a:ext cx="3383280" cy="640080"/>
          </a:xfrm>
          <a:prstGeom prst="rect">
            <a:avLst/>
          </a:prstGeom>
          <a:noFill/>
          <a:ln/>
        </p:spPr>
        <p:txBody>
          <a:bodyPr wrap="square" lIns="0" tIns="0" rIns="0" bIns="0" rtlCol="0" anchor="t"/>
          <a:lstStyle/>
          <a:p>
            <a:pPr indent="0" marL="0">
              <a:buNone/>
            </a:pPr>
            <a:r>
              <a:rPr lang="en-US" sz="1600" b="1" dirty="0">
                <a:solidFill>
                  <a:srgbClr val="0A0A0B"/>
                </a:solidFill>
                <a:latin typeface="Arial" pitchFamily="34" charset="0"/>
                <a:ea typeface="Arial" pitchFamily="34" charset="-122"/>
                <a:cs typeface="Arial" pitchFamily="34" charset="-120"/>
              </a:rPr>
              <a:t>The training data is already being collected</a:t>
            </a:r>
            <a:endParaRPr lang="en-US" sz="1600" dirty="0"/>
          </a:p>
        </p:txBody>
      </p:sp>
      <p:sp>
        <p:nvSpPr>
          <p:cNvPr id="39" name="Shape 31"/>
          <p:cNvSpPr/>
          <p:nvPr/>
        </p:nvSpPr>
        <p:spPr>
          <a:xfrm>
            <a:off x="8046720" y="2715768"/>
            <a:ext cx="292608" cy="292608"/>
          </a:xfrm>
          <a:prstGeom prst="ellipse">
            <a:avLst/>
          </a:prstGeom>
          <a:solidFill>
            <a:srgbClr val="0A0A0B"/>
          </a:solidFill>
          <a:ln w="12700">
            <a:solidFill>
              <a:srgbClr val="0A0A0B"/>
            </a:solidFill>
            <a:prstDash val="solid"/>
          </a:ln>
        </p:spPr>
      </p:sp>
      <p:sp>
        <p:nvSpPr>
          <p:cNvPr id="40" name="Text 32"/>
          <p:cNvSpPr txBox="1"/>
          <p:nvPr/>
        </p:nvSpPr>
        <p:spPr>
          <a:xfrm>
            <a:off x="8046720" y="27157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41" name="Text 33"/>
          <p:cNvSpPr txBox="1"/>
          <p:nvPr/>
        </p:nvSpPr>
        <p:spPr>
          <a:xfrm>
            <a:off x="8458200" y="2688336"/>
            <a:ext cx="3017520" cy="219456"/>
          </a:xfrm>
          <a:prstGeom prst="rect">
            <a:avLst/>
          </a:prstGeom>
          <a:noFill/>
          <a:ln/>
        </p:spPr>
        <p:txBody>
          <a:bodyPr wrap="square" lIns="0" tIns="0" rIns="0" bIns="0" rtlCol="0" anchor="t"/>
          <a:lstStyle/>
          <a:p>
            <a:pPr indent="0" marL="0">
              <a:buNone/>
            </a:pPr>
            <a:r>
              <a:rPr lang="en-US" sz="1150" b="1" dirty="0">
                <a:solidFill>
                  <a:srgbClr val="0A0A0B"/>
                </a:solidFill>
                <a:latin typeface="Arial" pitchFamily="34" charset="0"/>
                <a:ea typeface="Arial" pitchFamily="34" charset="-122"/>
                <a:cs typeface="Arial" pitchFamily="34" charset="-120"/>
              </a:rPr>
              <a:t>Collect</a:t>
            </a:r>
            <a:endParaRPr lang="en-US" sz="1150" dirty="0"/>
          </a:p>
        </p:txBody>
      </p:sp>
      <p:sp>
        <p:nvSpPr>
          <p:cNvPr id="42" name="Text 34"/>
          <p:cNvSpPr txBox="1"/>
          <p:nvPr/>
        </p:nvSpPr>
        <p:spPr>
          <a:xfrm>
            <a:off x="8458200" y="2907792"/>
            <a:ext cx="3063240" cy="347472"/>
          </a:xfrm>
          <a:prstGeom prst="rect">
            <a:avLst/>
          </a:prstGeom>
          <a:noFill/>
          <a:ln/>
        </p:spPr>
        <p:txBody>
          <a:bodyPr wrap="square" lIns="0" tIns="0" rIns="0" bIns="0" rtlCol="0" anchor="t"/>
          <a:lstStyle/>
          <a:p>
            <a:pPr indent="0" marL="0">
              <a:buNone/>
            </a:pPr>
            <a:r>
              <a:rPr lang="en-US" sz="900" dirty="0">
                <a:solidFill>
                  <a:srgbClr val="52525B"/>
                </a:solidFill>
                <a:latin typeface="Arial" pitchFamily="34" charset="0"/>
                <a:ea typeface="Arial" pitchFamily="34" charset="-122"/>
                <a:cs typeface="Arial" pitchFamily="34" charset="-120"/>
              </a:rPr>
              <a:t>Audit log · grounded questions · misconceptions · edits</a:t>
            </a:r>
            <a:endParaRPr lang="en-US" sz="900" dirty="0"/>
          </a:p>
        </p:txBody>
      </p:sp>
      <p:sp>
        <p:nvSpPr>
          <p:cNvPr id="43" name="Shape 35"/>
          <p:cNvSpPr/>
          <p:nvPr/>
        </p:nvSpPr>
        <p:spPr>
          <a:xfrm>
            <a:off x="8046720" y="3282696"/>
            <a:ext cx="292608" cy="292608"/>
          </a:xfrm>
          <a:prstGeom prst="ellipse">
            <a:avLst/>
          </a:prstGeom>
          <a:solidFill>
            <a:srgbClr val="0A0A0B"/>
          </a:solidFill>
          <a:ln w="12700">
            <a:solidFill>
              <a:srgbClr val="0A0A0B"/>
            </a:solidFill>
            <a:prstDash val="solid"/>
          </a:ln>
        </p:spPr>
      </p:sp>
      <p:sp>
        <p:nvSpPr>
          <p:cNvPr id="44" name="Text 36"/>
          <p:cNvSpPr txBox="1"/>
          <p:nvPr/>
        </p:nvSpPr>
        <p:spPr>
          <a:xfrm>
            <a:off x="8046720" y="32826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5" name="Text 37"/>
          <p:cNvSpPr txBox="1"/>
          <p:nvPr/>
        </p:nvSpPr>
        <p:spPr>
          <a:xfrm>
            <a:off x="8458200" y="3255264"/>
            <a:ext cx="3017520" cy="219456"/>
          </a:xfrm>
          <a:prstGeom prst="rect">
            <a:avLst/>
          </a:prstGeom>
          <a:noFill/>
          <a:ln/>
        </p:spPr>
        <p:txBody>
          <a:bodyPr wrap="square" lIns="0" tIns="0" rIns="0" bIns="0" rtlCol="0" anchor="t"/>
          <a:lstStyle/>
          <a:p>
            <a:pPr indent="0" marL="0">
              <a:buNone/>
            </a:pPr>
            <a:r>
              <a:rPr lang="en-US" sz="1150" b="1" dirty="0">
                <a:solidFill>
                  <a:srgbClr val="0A0A0B"/>
                </a:solidFill>
                <a:latin typeface="Arial" pitchFamily="34" charset="0"/>
                <a:ea typeface="Arial" pitchFamily="34" charset="-122"/>
                <a:cs typeface="Arial" pitchFamily="34" charset="-120"/>
              </a:rPr>
              <a:t>Adapt</a:t>
            </a:r>
            <a:endParaRPr lang="en-US" sz="1150" dirty="0"/>
          </a:p>
        </p:txBody>
      </p:sp>
      <p:sp>
        <p:nvSpPr>
          <p:cNvPr id="46" name="Text 38"/>
          <p:cNvSpPr txBox="1"/>
          <p:nvPr/>
        </p:nvSpPr>
        <p:spPr>
          <a:xfrm>
            <a:off x="8458200" y="3474720"/>
            <a:ext cx="3063240" cy="347472"/>
          </a:xfrm>
          <a:prstGeom prst="rect">
            <a:avLst/>
          </a:prstGeom>
          <a:noFill/>
          <a:ln/>
        </p:spPr>
        <p:txBody>
          <a:bodyPr wrap="square" lIns="0" tIns="0" rIns="0" bIns="0" rtlCol="0" anchor="t"/>
          <a:lstStyle/>
          <a:p>
            <a:pPr indent="0" marL="0">
              <a:buNone/>
            </a:pPr>
            <a:r>
              <a:rPr lang="en-US" sz="900" dirty="0">
                <a:solidFill>
                  <a:srgbClr val="52525B"/>
                </a:solidFill>
                <a:latin typeface="Arial" pitchFamily="34" charset="0"/>
                <a:ea typeface="Arial" pitchFamily="34" charset="-122"/>
                <a:cs typeface="Arial" pitchFamily="34" charset="-120"/>
              </a:rPr>
              <a:t>LoRA on the public MoSPI / NSSTA corpus</a:t>
            </a:r>
            <a:endParaRPr lang="en-US" sz="900" dirty="0"/>
          </a:p>
        </p:txBody>
      </p:sp>
      <p:sp>
        <p:nvSpPr>
          <p:cNvPr id="47" name="Shape 39"/>
          <p:cNvSpPr/>
          <p:nvPr/>
        </p:nvSpPr>
        <p:spPr>
          <a:xfrm>
            <a:off x="8046720" y="3849624"/>
            <a:ext cx="292608" cy="292608"/>
          </a:xfrm>
          <a:prstGeom prst="ellipse">
            <a:avLst/>
          </a:prstGeom>
          <a:solidFill>
            <a:srgbClr val="0A0A0B"/>
          </a:solidFill>
          <a:ln w="12700">
            <a:solidFill>
              <a:srgbClr val="0A0A0B"/>
            </a:solidFill>
            <a:prstDash val="solid"/>
          </a:ln>
        </p:spPr>
      </p:sp>
      <p:sp>
        <p:nvSpPr>
          <p:cNvPr id="48" name="Text 40"/>
          <p:cNvSpPr txBox="1"/>
          <p:nvPr/>
        </p:nvSpPr>
        <p:spPr>
          <a:xfrm>
            <a:off x="8046720" y="38496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49" name="Text 41"/>
          <p:cNvSpPr txBox="1"/>
          <p:nvPr/>
        </p:nvSpPr>
        <p:spPr>
          <a:xfrm>
            <a:off x="8458200" y="3822192"/>
            <a:ext cx="3017520" cy="219456"/>
          </a:xfrm>
          <a:prstGeom prst="rect">
            <a:avLst/>
          </a:prstGeom>
          <a:noFill/>
          <a:ln/>
        </p:spPr>
        <p:txBody>
          <a:bodyPr wrap="square" lIns="0" tIns="0" rIns="0" bIns="0" rtlCol="0" anchor="t"/>
          <a:lstStyle/>
          <a:p>
            <a:pPr indent="0" marL="0">
              <a:buNone/>
            </a:pPr>
            <a:r>
              <a:rPr lang="en-US" sz="1150" b="1" dirty="0">
                <a:solidFill>
                  <a:srgbClr val="0A0A0B"/>
                </a:solidFill>
                <a:latin typeface="Arial" pitchFamily="34" charset="0"/>
                <a:ea typeface="Arial" pitchFamily="34" charset="-122"/>
                <a:cs typeface="Arial" pitchFamily="34" charset="-120"/>
              </a:rPr>
              <a:t>Supervise</a:t>
            </a:r>
            <a:endParaRPr lang="en-US" sz="1150" dirty="0"/>
          </a:p>
        </p:txBody>
      </p:sp>
      <p:sp>
        <p:nvSpPr>
          <p:cNvPr id="50" name="Text 42"/>
          <p:cNvSpPr txBox="1"/>
          <p:nvPr/>
        </p:nvSpPr>
        <p:spPr>
          <a:xfrm>
            <a:off x="8458200" y="4041648"/>
            <a:ext cx="3063240" cy="347472"/>
          </a:xfrm>
          <a:prstGeom prst="rect">
            <a:avLst/>
          </a:prstGeom>
          <a:noFill/>
          <a:ln/>
        </p:spPr>
        <p:txBody>
          <a:bodyPr wrap="square" lIns="0" tIns="0" rIns="0" bIns="0" rtlCol="0" anchor="t"/>
          <a:lstStyle/>
          <a:p>
            <a:pPr indent="0" marL="0">
              <a:buNone/>
            </a:pPr>
            <a:r>
              <a:rPr lang="en-US" sz="900" dirty="0">
                <a:solidFill>
                  <a:srgbClr val="52525B"/>
                </a:solidFill>
                <a:latin typeface="Arial" pitchFamily="34" charset="0"/>
                <a:ea typeface="Arial" pitchFamily="34" charset="-122"/>
                <a:cs typeface="Arial" pitchFamily="34" charset="-120"/>
              </a:rPr>
              <a:t>SFT on trainer-approved quizzes, diagnoses, plans</a:t>
            </a:r>
            <a:endParaRPr lang="en-US" sz="900" dirty="0"/>
          </a:p>
        </p:txBody>
      </p:sp>
      <p:sp>
        <p:nvSpPr>
          <p:cNvPr id="51" name="Shape 43"/>
          <p:cNvSpPr/>
          <p:nvPr/>
        </p:nvSpPr>
        <p:spPr>
          <a:xfrm>
            <a:off x="8046720" y="4416552"/>
            <a:ext cx="292608" cy="292608"/>
          </a:xfrm>
          <a:prstGeom prst="ellipse">
            <a:avLst/>
          </a:prstGeom>
          <a:solidFill>
            <a:srgbClr val="0A0A0B"/>
          </a:solidFill>
          <a:ln w="12700">
            <a:solidFill>
              <a:srgbClr val="0A0A0B"/>
            </a:solidFill>
            <a:prstDash val="solid"/>
          </a:ln>
        </p:spPr>
      </p:sp>
      <p:sp>
        <p:nvSpPr>
          <p:cNvPr id="52" name="Text 44"/>
          <p:cNvSpPr txBox="1"/>
          <p:nvPr/>
        </p:nvSpPr>
        <p:spPr>
          <a:xfrm>
            <a:off x="8046720" y="4416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53" name="Text 45"/>
          <p:cNvSpPr txBox="1"/>
          <p:nvPr/>
        </p:nvSpPr>
        <p:spPr>
          <a:xfrm>
            <a:off x="8458200" y="4389120"/>
            <a:ext cx="3017520" cy="219456"/>
          </a:xfrm>
          <a:prstGeom prst="rect">
            <a:avLst/>
          </a:prstGeom>
          <a:noFill/>
          <a:ln/>
        </p:spPr>
        <p:txBody>
          <a:bodyPr wrap="square" lIns="0" tIns="0" rIns="0" bIns="0" rtlCol="0" anchor="t"/>
          <a:lstStyle/>
          <a:p>
            <a:pPr indent="0" marL="0">
              <a:buNone/>
            </a:pPr>
            <a:r>
              <a:rPr lang="en-US" sz="1150" b="1" dirty="0">
                <a:solidFill>
                  <a:srgbClr val="0A0A0B"/>
                </a:solidFill>
                <a:latin typeface="Arial" pitchFamily="34" charset="0"/>
                <a:ea typeface="Arial" pitchFamily="34" charset="-122"/>
                <a:cs typeface="Arial" pitchFamily="34" charset="-120"/>
              </a:rPr>
              <a:t>Align</a:t>
            </a:r>
            <a:endParaRPr lang="en-US" sz="1150" dirty="0"/>
          </a:p>
        </p:txBody>
      </p:sp>
      <p:sp>
        <p:nvSpPr>
          <p:cNvPr id="54" name="Text 46"/>
          <p:cNvSpPr txBox="1"/>
          <p:nvPr/>
        </p:nvSpPr>
        <p:spPr>
          <a:xfrm>
            <a:off x="8458200" y="4608576"/>
            <a:ext cx="3063240" cy="347472"/>
          </a:xfrm>
          <a:prstGeom prst="rect">
            <a:avLst/>
          </a:prstGeom>
          <a:noFill/>
          <a:ln/>
        </p:spPr>
        <p:txBody>
          <a:bodyPr wrap="square" lIns="0" tIns="0" rIns="0" bIns="0" rtlCol="0" anchor="t"/>
          <a:lstStyle/>
          <a:p>
            <a:pPr indent="0" marL="0">
              <a:buNone/>
            </a:pPr>
            <a:r>
              <a:rPr lang="en-US" sz="900" dirty="0">
                <a:solidFill>
                  <a:srgbClr val="52525B"/>
                </a:solidFill>
                <a:latin typeface="Arial" pitchFamily="34" charset="0"/>
                <a:ea typeface="Arial" pitchFamily="34" charset="-122"/>
                <a:cs typeface="Arial" pitchFamily="34" charset="-120"/>
              </a:rPr>
              <a:t>Preference tuning from trainer corrections</a:t>
            </a:r>
            <a:endParaRPr lang="en-US" sz="900" dirty="0"/>
          </a:p>
        </p:txBody>
      </p:sp>
      <p:sp>
        <p:nvSpPr>
          <p:cNvPr id="55" name="Shape 47"/>
          <p:cNvSpPr/>
          <p:nvPr/>
        </p:nvSpPr>
        <p:spPr>
          <a:xfrm>
            <a:off x="8046720" y="4983480"/>
            <a:ext cx="292608" cy="292608"/>
          </a:xfrm>
          <a:prstGeom prst="ellipse">
            <a:avLst/>
          </a:prstGeom>
          <a:solidFill>
            <a:srgbClr val="0A0A0B"/>
          </a:solidFill>
          <a:ln w="12700">
            <a:solidFill>
              <a:srgbClr val="0A0A0B"/>
            </a:solidFill>
            <a:prstDash val="solid"/>
          </a:ln>
        </p:spPr>
      </p:sp>
      <p:sp>
        <p:nvSpPr>
          <p:cNvPr id="56" name="Text 48"/>
          <p:cNvSpPr txBox="1"/>
          <p:nvPr/>
        </p:nvSpPr>
        <p:spPr>
          <a:xfrm>
            <a:off x="8046720" y="49834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57" name="Text 49"/>
          <p:cNvSpPr txBox="1"/>
          <p:nvPr/>
        </p:nvSpPr>
        <p:spPr>
          <a:xfrm>
            <a:off x="8458200" y="4956048"/>
            <a:ext cx="3017520" cy="219456"/>
          </a:xfrm>
          <a:prstGeom prst="rect">
            <a:avLst/>
          </a:prstGeom>
          <a:noFill/>
          <a:ln/>
        </p:spPr>
        <p:txBody>
          <a:bodyPr wrap="square" lIns="0" tIns="0" rIns="0" bIns="0" rtlCol="0" anchor="t"/>
          <a:lstStyle/>
          <a:p>
            <a:pPr indent="0" marL="0">
              <a:buNone/>
            </a:pPr>
            <a:r>
              <a:rPr lang="en-US" sz="1150" b="1" dirty="0">
                <a:solidFill>
                  <a:srgbClr val="0A0A0B"/>
                </a:solidFill>
                <a:latin typeface="Arial" pitchFamily="34" charset="0"/>
                <a:ea typeface="Arial" pitchFamily="34" charset="-122"/>
                <a:cs typeface="Arial" pitchFamily="34" charset="-120"/>
              </a:rPr>
              <a:t>Evaluate</a:t>
            </a:r>
            <a:endParaRPr lang="en-US" sz="1150" dirty="0"/>
          </a:p>
        </p:txBody>
      </p:sp>
      <p:sp>
        <p:nvSpPr>
          <p:cNvPr id="58" name="Text 50"/>
          <p:cNvSpPr txBox="1"/>
          <p:nvPr/>
        </p:nvSpPr>
        <p:spPr>
          <a:xfrm>
            <a:off x="8458200" y="5175504"/>
            <a:ext cx="3063240" cy="347472"/>
          </a:xfrm>
          <a:prstGeom prst="rect">
            <a:avLst/>
          </a:prstGeom>
          <a:noFill/>
          <a:ln/>
        </p:spPr>
        <p:txBody>
          <a:bodyPr wrap="square" lIns="0" tIns="0" rIns="0" bIns="0" rtlCol="0" anchor="t"/>
          <a:lstStyle/>
          <a:p>
            <a:pPr indent="0" marL="0">
              <a:buNone/>
            </a:pPr>
            <a:r>
              <a:rPr lang="en-US" sz="900" dirty="0">
                <a:solidFill>
                  <a:srgbClr val="52525B"/>
                </a:solidFill>
                <a:latin typeface="Arial" pitchFamily="34" charset="0"/>
                <a:ea typeface="Arial" pitchFamily="34" charset="-122"/>
                <a:cs typeface="Arial" pitchFamily="34" charset="-120"/>
              </a:rPr>
              <a:t>Grounding rate · schema validity · calibrated difficulty</a:t>
            </a:r>
            <a:endParaRPr lang="en-US" sz="900" dirty="0"/>
          </a:p>
        </p:txBody>
      </p:sp>
      <p:sp>
        <p:nvSpPr>
          <p:cNvPr id="59" name="Shape 51"/>
          <p:cNvSpPr/>
          <p:nvPr/>
        </p:nvSpPr>
        <p:spPr>
          <a:xfrm>
            <a:off x="8046720" y="5550408"/>
            <a:ext cx="292608" cy="292608"/>
          </a:xfrm>
          <a:prstGeom prst="ellipse">
            <a:avLst/>
          </a:prstGeom>
          <a:solidFill>
            <a:srgbClr val="0A0A0B"/>
          </a:solidFill>
          <a:ln w="12700">
            <a:solidFill>
              <a:srgbClr val="0A0A0B"/>
            </a:solidFill>
            <a:prstDash val="solid"/>
          </a:ln>
        </p:spPr>
      </p:sp>
      <p:sp>
        <p:nvSpPr>
          <p:cNvPr id="60" name="Text 52"/>
          <p:cNvSpPr txBox="1"/>
          <p:nvPr/>
        </p:nvSpPr>
        <p:spPr>
          <a:xfrm>
            <a:off x="8046720" y="55504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61" name="Text 53"/>
          <p:cNvSpPr txBox="1"/>
          <p:nvPr/>
        </p:nvSpPr>
        <p:spPr>
          <a:xfrm>
            <a:off x="8458200" y="5522976"/>
            <a:ext cx="3017520" cy="219456"/>
          </a:xfrm>
          <a:prstGeom prst="rect">
            <a:avLst/>
          </a:prstGeom>
          <a:noFill/>
          <a:ln/>
        </p:spPr>
        <p:txBody>
          <a:bodyPr wrap="square" lIns="0" tIns="0" rIns="0" bIns="0" rtlCol="0" anchor="t"/>
          <a:lstStyle/>
          <a:p>
            <a:pPr indent="0" marL="0">
              <a:buNone/>
            </a:pPr>
            <a:r>
              <a:rPr lang="en-US" sz="1150" b="1" dirty="0">
                <a:solidFill>
                  <a:srgbClr val="0A0A0B"/>
                </a:solidFill>
                <a:latin typeface="Arial" pitchFamily="34" charset="0"/>
                <a:ea typeface="Arial" pitchFamily="34" charset="-122"/>
                <a:cs typeface="Arial" pitchFamily="34" charset="-120"/>
              </a:rPr>
              <a:t>Deploy</a:t>
            </a:r>
            <a:endParaRPr lang="en-US" sz="1150" dirty="0"/>
          </a:p>
        </p:txBody>
      </p:sp>
      <p:sp>
        <p:nvSpPr>
          <p:cNvPr id="62" name="Text 54"/>
          <p:cNvSpPr txBox="1"/>
          <p:nvPr/>
        </p:nvSpPr>
        <p:spPr>
          <a:xfrm>
            <a:off x="8458200" y="5742432"/>
            <a:ext cx="3063240" cy="347472"/>
          </a:xfrm>
          <a:prstGeom prst="rect">
            <a:avLst/>
          </a:prstGeom>
          <a:noFill/>
          <a:ln/>
        </p:spPr>
        <p:txBody>
          <a:bodyPr wrap="square" lIns="0" tIns="0" rIns="0" bIns="0" rtlCol="0" anchor="t"/>
          <a:lstStyle/>
          <a:p>
            <a:pPr indent="0" marL="0">
              <a:buNone/>
            </a:pPr>
            <a:r>
              <a:rPr lang="en-US" sz="900" dirty="0">
                <a:solidFill>
                  <a:srgbClr val="52525B"/>
                </a:solidFill>
                <a:latin typeface="Arial" pitchFamily="34" charset="0"/>
                <a:ea typeface="Arial" pitchFamily="34" charset="-122"/>
                <a:cs typeface="Arial" pitchFamily="34" charset="-120"/>
              </a:rPr>
              <a:t>Government cloud, same gateway, zero app changes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B"/>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t"/>
          <a:lstStyle/>
          <a:p>
            <a:pPr indent="0" marL="0">
              <a:buNone/>
            </a:pPr>
            <a:r>
              <a:rPr lang="en-US" sz="1050" b="1" spc="300" kern="0" dirty="0">
                <a:solidFill>
                  <a:srgbClr val="A1A1AA"/>
                </a:solidFill>
                <a:latin typeface="Arial" pitchFamily="34" charset="0"/>
                <a:ea typeface="Arial" pitchFamily="34" charset="-122"/>
                <a:cs typeface="Arial" pitchFamily="34" charset="-120"/>
              </a:rPr>
              <a:t>DELIVERED · IMPACT · NEXT</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Running today, honest about what comes next</a:t>
            </a:r>
            <a:endParaRPr lang="en-US" sz="3000" dirty="0"/>
          </a:p>
        </p:txBody>
      </p:sp>
      <p:sp>
        <p:nvSpPr>
          <p:cNvPr id="4" name="Text 2"/>
          <p:cNvSpPr txBox="1"/>
          <p:nvPr/>
        </p:nvSpPr>
        <p:spPr>
          <a:xfrm>
            <a:off x="548640" y="6492240"/>
            <a:ext cx="3657600" cy="201168"/>
          </a:xfrm>
          <a:prstGeom prst="rect">
            <a:avLst/>
          </a:prstGeom>
          <a:noFill/>
          <a:ln/>
        </p:spPr>
        <p:txBody>
          <a:bodyPr wrap="square" lIns="0" tIns="0" rIns="0" bIns="0" rtlCol="0" anchor="t"/>
          <a:lstStyle/>
          <a:p>
            <a:pPr indent="0" marL="0">
              <a:buNone/>
            </a:pPr>
            <a:r>
              <a:rPr lang="en-US" sz="900" dirty="0">
                <a:solidFill>
                  <a:srgbClr val="71717A"/>
                </a:solidFill>
                <a:latin typeface="Arial" pitchFamily="34" charset="0"/>
                <a:ea typeface="Arial" pitchFamily="34" charset="-122"/>
                <a:cs typeface="Arial" pitchFamily="34" charset="-120"/>
              </a:rPr>
              <a:t>Samiksha  ·  SIH26101</a:t>
            </a:r>
            <a:endParaRPr lang="en-US" sz="900" dirty="0"/>
          </a:p>
        </p:txBody>
      </p:sp>
      <p:sp>
        <p:nvSpPr>
          <p:cNvPr id="5" name="Text 3"/>
          <p:cNvSpPr txBox="1"/>
          <p:nvPr/>
        </p:nvSpPr>
        <p:spPr>
          <a:xfrm>
            <a:off x="11183112" y="6492240"/>
            <a:ext cx="457200" cy="201168"/>
          </a:xfrm>
          <a:prstGeom prst="rect">
            <a:avLst/>
          </a:prstGeom>
          <a:noFill/>
          <a:ln/>
        </p:spPr>
        <p:txBody>
          <a:bodyPr wrap="square" lIns="0" tIns="0" rIns="0" bIns="0" rtlCol="0" anchor="t"/>
          <a:lstStyle/>
          <a:p>
            <a:pPr algn="r" indent="0" marL="0">
              <a:buNone/>
            </a:pPr>
            <a:r>
              <a:rPr lang="en-US" sz="900" dirty="0">
                <a:solidFill>
                  <a:srgbClr val="71717A"/>
                </a:solidFill>
                <a:latin typeface="Arial" pitchFamily="34" charset="0"/>
                <a:ea typeface="Arial" pitchFamily="34" charset="-122"/>
                <a:cs typeface="Arial" pitchFamily="34" charset="-120"/>
              </a:rPr>
              <a:t>10</a:t>
            </a:r>
            <a:endParaRPr lang="en-US" sz="900" dirty="0"/>
          </a:p>
        </p:txBody>
      </p:sp>
      <p:sp>
        <p:nvSpPr>
          <p:cNvPr id="6" name="Shape 4"/>
          <p:cNvSpPr/>
          <p:nvPr/>
        </p:nvSpPr>
        <p:spPr>
          <a:xfrm>
            <a:off x="548640" y="1463040"/>
            <a:ext cx="2103120" cy="1143000"/>
          </a:xfrm>
          <a:prstGeom prst="roundRect">
            <a:avLst>
              <a:gd name="adj" fmla="val 9600"/>
            </a:avLst>
          </a:prstGeom>
          <a:solidFill>
            <a:srgbClr val="161618"/>
          </a:solidFill>
          <a:ln w="9525">
            <a:solidFill>
              <a:srgbClr val="2C2C30"/>
            </a:solidFill>
            <a:prstDash val="solid"/>
          </a:ln>
        </p:spPr>
      </p:sp>
      <p:sp>
        <p:nvSpPr>
          <p:cNvPr id="7" name="Text 5"/>
          <p:cNvSpPr txBox="1"/>
          <p:nvPr/>
        </p:nvSpPr>
        <p:spPr>
          <a:xfrm>
            <a:off x="749808" y="1554480"/>
            <a:ext cx="1737360" cy="5943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39</a:t>
            </a:r>
            <a:endParaRPr lang="en-US" sz="3600" dirty="0"/>
          </a:p>
        </p:txBody>
      </p:sp>
      <p:sp>
        <p:nvSpPr>
          <p:cNvPr id="8" name="Text 6"/>
          <p:cNvSpPr txBox="1"/>
          <p:nvPr/>
        </p:nvSpPr>
        <p:spPr>
          <a:xfrm>
            <a:off x="749808" y="2130552"/>
            <a:ext cx="1828800" cy="438912"/>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FRAC competencies</a:t>
            </a:r>
            <a:endParaRPr lang="en-US" sz="950" dirty="0"/>
          </a:p>
          <a:p>
            <a:pPr indent="0" marL="0">
              <a:buNone/>
            </a:pPr>
            <a:r>
              <a:rPr lang="en-US" sz="950" dirty="0">
                <a:solidFill>
                  <a:srgbClr val="A1A1AA"/>
                </a:solidFill>
                <a:latin typeface="Arial" pitchFamily="34" charset="0"/>
                <a:ea typeface="Arial" pitchFamily="34" charset="-122"/>
                <a:cs typeface="Arial" pitchFamily="34" charset="-120"/>
              </a:rPr>
              <a:t>across 4 families</a:t>
            </a:r>
            <a:endParaRPr lang="en-US" sz="950" dirty="0"/>
          </a:p>
        </p:txBody>
      </p:sp>
      <p:sp>
        <p:nvSpPr>
          <p:cNvPr id="9" name="Shape 7"/>
          <p:cNvSpPr/>
          <p:nvPr/>
        </p:nvSpPr>
        <p:spPr>
          <a:xfrm>
            <a:off x="2788920" y="1463040"/>
            <a:ext cx="2103120" cy="1143000"/>
          </a:xfrm>
          <a:prstGeom prst="roundRect">
            <a:avLst>
              <a:gd name="adj" fmla="val 9600"/>
            </a:avLst>
          </a:prstGeom>
          <a:solidFill>
            <a:srgbClr val="161618"/>
          </a:solidFill>
          <a:ln w="9525">
            <a:solidFill>
              <a:srgbClr val="2C2C30"/>
            </a:solidFill>
            <a:prstDash val="solid"/>
          </a:ln>
        </p:spPr>
      </p:sp>
      <p:sp>
        <p:nvSpPr>
          <p:cNvPr id="10" name="Text 8"/>
          <p:cNvSpPr txBox="1"/>
          <p:nvPr/>
        </p:nvSpPr>
        <p:spPr>
          <a:xfrm>
            <a:off x="2990088" y="1554480"/>
            <a:ext cx="1737360" cy="5943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6</a:t>
            </a:r>
            <a:endParaRPr lang="en-US" sz="3600" dirty="0"/>
          </a:p>
        </p:txBody>
      </p:sp>
      <p:sp>
        <p:nvSpPr>
          <p:cNvPr id="11" name="Text 9"/>
          <p:cNvSpPr txBox="1"/>
          <p:nvPr/>
        </p:nvSpPr>
        <p:spPr>
          <a:xfrm>
            <a:off x="2990088" y="2130552"/>
            <a:ext cx="1828800" cy="438912"/>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posts, Field Investigator</a:t>
            </a:r>
            <a:endParaRPr lang="en-US" sz="950" dirty="0"/>
          </a:p>
          <a:p>
            <a:pPr indent="0" marL="0">
              <a:buNone/>
            </a:pPr>
            <a:r>
              <a:rPr lang="en-US" sz="950" dirty="0">
                <a:solidFill>
                  <a:srgbClr val="A1A1AA"/>
                </a:solidFill>
                <a:latin typeface="Arial" pitchFamily="34" charset="0"/>
                <a:ea typeface="Arial" pitchFamily="34" charset="-122"/>
                <a:cs typeface="Arial" pitchFamily="34" charset="-120"/>
              </a:rPr>
              <a:t>to Director</a:t>
            </a:r>
            <a:endParaRPr lang="en-US" sz="950" dirty="0"/>
          </a:p>
        </p:txBody>
      </p:sp>
      <p:sp>
        <p:nvSpPr>
          <p:cNvPr id="12" name="Shape 10"/>
          <p:cNvSpPr/>
          <p:nvPr/>
        </p:nvSpPr>
        <p:spPr>
          <a:xfrm>
            <a:off x="5029200" y="1463040"/>
            <a:ext cx="2103120" cy="1143000"/>
          </a:xfrm>
          <a:prstGeom prst="roundRect">
            <a:avLst>
              <a:gd name="adj" fmla="val 9600"/>
            </a:avLst>
          </a:prstGeom>
          <a:solidFill>
            <a:srgbClr val="161618"/>
          </a:solidFill>
          <a:ln w="9525">
            <a:solidFill>
              <a:srgbClr val="2C2C30"/>
            </a:solidFill>
            <a:prstDash val="solid"/>
          </a:ln>
        </p:spPr>
      </p:sp>
      <p:sp>
        <p:nvSpPr>
          <p:cNvPr id="13" name="Text 11"/>
          <p:cNvSpPr txBox="1"/>
          <p:nvPr/>
        </p:nvSpPr>
        <p:spPr>
          <a:xfrm>
            <a:off x="5230368" y="1554480"/>
            <a:ext cx="1737360" cy="5943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42</a:t>
            </a:r>
            <a:endParaRPr lang="en-US" sz="3600" dirty="0"/>
          </a:p>
        </p:txBody>
      </p:sp>
      <p:sp>
        <p:nvSpPr>
          <p:cNvPr id="14" name="Text 12"/>
          <p:cNvSpPr txBox="1"/>
          <p:nvPr/>
        </p:nvSpPr>
        <p:spPr>
          <a:xfrm>
            <a:off x="5230368" y="2130552"/>
            <a:ext cx="1828800" cy="438912"/>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tables under</a:t>
            </a:r>
            <a:endParaRPr lang="en-US" sz="950" dirty="0"/>
          </a:p>
          <a:p>
            <a:pPr indent="0" marL="0">
              <a:buNone/>
            </a:pPr>
            <a:r>
              <a:rPr lang="en-US" sz="950" dirty="0">
                <a:solidFill>
                  <a:srgbClr val="A1A1AA"/>
                </a:solidFill>
                <a:latin typeface="Arial" pitchFamily="34" charset="0"/>
                <a:ea typeface="Arial" pitchFamily="34" charset="-122"/>
                <a:cs typeface="Arial" pitchFamily="34" charset="-120"/>
              </a:rPr>
              <a:t>Row Level Security</a:t>
            </a:r>
            <a:endParaRPr lang="en-US" sz="950" dirty="0"/>
          </a:p>
        </p:txBody>
      </p:sp>
      <p:sp>
        <p:nvSpPr>
          <p:cNvPr id="15" name="Shape 13"/>
          <p:cNvSpPr/>
          <p:nvPr/>
        </p:nvSpPr>
        <p:spPr>
          <a:xfrm>
            <a:off x="7269480" y="1463040"/>
            <a:ext cx="2103120" cy="1143000"/>
          </a:xfrm>
          <a:prstGeom prst="roundRect">
            <a:avLst>
              <a:gd name="adj" fmla="val 9600"/>
            </a:avLst>
          </a:prstGeom>
          <a:solidFill>
            <a:srgbClr val="161618"/>
          </a:solidFill>
          <a:ln w="9525">
            <a:solidFill>
              <a:srgbClr val="2C2C30"/>
            </a:solidFill>
            <a:prstDash val="solid"/>
          </a:ln>
        </p:spPr>
      </p:sp>
      <p:sp>
        <p:nvSpPr>
          <p:cNvPr id="16" name="Text 14"/>
          <p:cNvSpPr txBox="1"/>
          <p:nvPr/>
        </p:nvSpPr>
        <p:spPr>
          <a:xfrm>
            <a:off x="7470648" y="1554480"/>
            <a:ext cx="1737360" cy="5943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10</a:t>
            </a:r>
            <a:endParaRPr lang="en-US" sz="3600" dirty="0"/>
          </a:p>
        </p:txBody>
      </p:sp>
      <p:sp>
        <p:nvSpPr>
          <p:cNvPr id="17" name="Text 15"/>
          <p:cNvSpPr txBox="1"/>
          <p:nvPr/>
        </p:nvSpPr>
        <p:spPr>
          <a:xfrm>
            <a:off x="7470648" y="2130552"/>
            <a:ext cx="1828800" cy="438912"/>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server-side AI &amp;</a:t>
            </a:r>
            <a:endParaRPr lang="en-US" sz="950" dirty="0"/>
          </a:p>
          <a:p>
            <a:pPr indent="0" marL="0">
              <a:buNone/>
            </a:pPr>
            <a:r>
              <a:rPr lang="en-US" sz="950" dirty="0">
                <a:solidFill>
                  <a:srgbClr val="A1A1AA"/>
                </a:solidFill>
                <a:latin typeface="Arial" pitchFamily="34" charset="0"/>
                <a:ea typeface="Arial" pitchFamily="34" charset="-122"/>
                <a:cs typeface="Arial" pitchFamily="34" charset="-120"/>
              </a:rPr>
              <a:t>admin functions</a:t>
            </a:r>
            <a:endParaRPr lang="en-US" sz="950" dirty="0"/>
          </a:p>
        </p:txBody>
      </p:sp>
      <p:sp>
        <p:nvSpPr>
          <p:cNvPr id="18" name="Shape 16"/>
          <p:cNvSpPr/>
          <p:nvPr/>
        </p:nvSpPr>
        <p:spPr>
          <a:xfrm>
            <a:off x="9509760" y="1463040"/>
            <a:ext cx="2103120" cy="1143000"/>
          </a:xfrm>
          <a:prstGeom prst="roundRect">
            <a:avLst>
              <a:gd name="adj" fmla="val 9600"/>
            </a:avLst>
          </a:prstGeom>
          <a:solidFill>
            <a:srgbClr val="161618"/>
          </a:solidFill>
          <a:ln w="9525">
            <a:solidFill>
              <a:srgbClr val="2C2C30"/>
            </a:solidFill>
            <a:prstDash val="solid"/>
          </a:ln>
        </p:spPr>
      </p:sp>
      <p:sp>
        <p:nvSpPr>
          <p:cNvPr id="19" name="Text 17"/>
          <p:cNvSpPr txBox="1"/>
          <p:nvPr/>
        </p:nvSpPr>
        <p:spPr>
          <a:xfrm>
            <a:off x="9710928" y="1554480"/>
            <a:ext cx="1737360" cy="5943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5</a:t>
            </a:r>
            <a:endParaRPr lang="en-US" sz="3600" dirty="0"/>
          </a:p>
        </p:txBody>
      </p:sp>
      <p:sp>
        <p:nvSpPr>
          <p:cNvPr id="20" name="Text 18"/>
          <p:cNvSpPr txBox="1"/>
          <p:nvPr/>
        </p:nvSpPr>
        <p:spPr>
          <a:xfrm>
            <a:off x="9710928" y="2130552"/>
            <a:ext cx="1828800" cy="438912"/>
          </a:xfrm>
          <a:prstGeom prst="rect">
            <a:avLst/>
          </a:prstGeom>
          <a:noFill/>
          <a:ln/>
        </p:spPr>
        <p:txBody>
          <a:bodyPr wrap="square" lIns="0" tIns="0" rIns="0" bIns="0" rtlCol="0" anchor="t"/>
          <a:lstStyle/>
          <a:p>
            <a:pPr indent="0" marL="0">
              <a:buNone/>
            </a:pPr>
            <a:r>
              <a:rPr lang="en-US" sz="950" dirty="0">
                <a:solidFill>
                  <a:srgbClr val="A1A1AA"/>
                </a:solidFill>
                <a:latin typeface="Arial" pitchFamily="34" charset="0"/>
                <a:ea typeface="Arial" pitchFamily="34" charset="-122"/>
                <a:cs typeface="Arial" pitchFamily="34" charset="-120"/>
              </a:rPr>
              <a:t>installable apps</a:t>
            </a:r>
            <a:endParaRPr lang="en-US" sz="950" dirty="0"/>
          </a:p>
          <a:p>
            <a:pPr indent="0" marL="0">
              <a:buNone/>
            </a:pPr>
            <a:r>
              <a:rPr lang="en-US" sz="950" dirty="0">
                <a:solidFill>
                  <a:srgbClr val="A1A1AA"/>
                </a:solidFill>
                <a:latin typeface="Arial" pitchFamily="34" charset="0"/>
                <a:ea typeface="Arial" pitchFamily="34" charset="-122"/>
                <a:cs typeface="Arial" pitchFamily="34" charset="-120"/>
              </a:rPr>
              <a:t>per release</a:t>
            </a:r>
            <a:endParaRPr lang="en-US" sz="950" dirty="0"/>
          </a:p>
        </p:txBody>
      </p:sp>
      <p:sp>
        <p:nvSpPr>
          <p:cNvPr id="21" name="Shape 19"/>
          <p:cNvSpPr/>
          <p:nvPr/>
        </p:nvSpPr>
        <p:spPr>
          <a:xfrm>
            <a:off x="548640" y="2788920"/>
            <a:ext cx="4480560" cy="2834640"/>
          </a:xfrm>
          <a:prstGeom prst="roundRect">
            <a:avLst>
              <a:gd name="adj" fmla="val 3871"/>
            </a:avLst>
          </a:prstGeom>
          <a:solidFill>
            <a:srgbClr val="161618"/>
          </a:solidFill>
          <a:ln w="9525">
            <a:solidFill>
              <a:srgbClr val="2C2C30"/>
            </a:solidFill>
            <a:prstDash val="solid"/>
          </a:ln>
        </p:spPr>
      </p:sp>
      <p:sp>
        <p:nvSpPr>
          <p:cNvPr id="22" name="Text 20"/>
          <p:cNvSpPr txBox="1"/>
          <p:nvPr/>
        </p:nvSpPr>
        <p:spPr>
          <a:xfrm>
            <a:off x="777240" y="2944368"/>
            <a:ext cx="3657600"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Built &amp; verified</a:t>
            </a:r>
            <a:endParaRPr lang="en-US" sz="1500" dirty="0"/>
          </a:p>
        </p:txBody>
      </p:sp>
      <p:pic>
        <p:nvPicPr>
          <p:cNvPr id="23" name="Image 0" descr="preencoded.png">    </p:cNvPr>
          <p:cNvPicPr>
            <a:picLocks noChangeAspect="1"/>
          </p:cNvPicPr>
          <p:nvPr/>
        </p:nvPicPr>
        <p:blipFill>
          <a:blip r:embed="rId1"/>
          <a:stretch>
            <a:fillRect/>
          </a:stretch>
        </p:blipFill>
        <p:spPr>
          <a:xfrm>
            <a:off x="795528" y="3374136"/>
            <a:ext cx="173736" cy="173736"/>
          </a:xfrm>
          <a:prstGeom prst="rect">
            <a:avLst/>
          </a:prstGeom>
        </p:spPr>
      </p:pic>
      <p:sp>
        <p:nvSpPr>
          <p:cNvPr id="24" name="Text 21"/>
          <p:cNvSpPr txBox="1"/>
          <p:nvPr/>
        </p:nvSpPr>
        <p:spPr>
          <a:xfrm>
            <a:off x="1060704" y="3346704"/>
            <a:ext cx="3840480" cy="237744"/>
          </a:xfrm>
          <a:prstGeom prst="rect">
            <a:avLst/>
          </a:prstGeom>
          <a:noFill/>
          <a:ln/>
        </p:spPr>
        <p:txBody>
          <a:bodyPr wrap="square" lIns="0" tIns="0" rIns="0" bIns="0" rtlCol="0" anchor="t"/>
          <a:lstStyle/>
          <a:p>
            <a:pPr indent="0" marL="0">
              <a:buNone/>
            </a:pPr>
            <a:r>
              <a:rPr lang="en-US" sz="1080" dirty="0">
                <a:solidFill>
                  <a:srgbClr val="E4E4E7"/>
                </a:solidFill>
                <a:latin typeface="Arial" pitchFamily="34" charset="0"/>
                <a:ea typeface="Arial" pitchFamily="34" charset="-122"/>
                <a:cs typeface="Arial" pitchFamily="34" charset="-120"/>
              </a:rPr>
              <a:t>Identity bridge — one login, phone &amp; desktop</a:t>
            </a:r>
            <a:endParaRPr lang="en-US" sz="1080" dirty="0"/>
          </a:p>
        </p:txBody>
      </p:sp>
      <p:pic>
        <p:nvPicPr>
          <p:cNvPr id="25" name="Image 1" descr="preencoded.png">    </p:cNvPr>
          <p:cNvPicPr>
            <a:picLocks noChangeAspect="1"/>
          </p:cNvPicPr>
          <p:nvPr/>
        </p:nvPicPr>
        <p:blipFill>
          <a:blip r:embed="rId2"/>
          <a:stretch>
            <a:fillRect/>
          </a:stretch>
        </p:blipFill>
        <p:spPr>
          <a:xfrm>
            <a:off x="795528" y="3648456"/>
            <a:ext cx="173736" cy="173736"/>
          </a:xfrm>
          <a:prstGeom prst="rect">
            <a:avLst/>
          </a:prstGeom>
        </p:spPr>
      </p:pic>
      <p:sp>
        <p:nvSpPr>
          <p:cNvPr id="26" name="Text 22"/>
          <p:cNvSpPr txBox="1"/>
          <p:nvPr/>
        </p:nvSpPr>
        <p:spPr>
          <a:xfrm>
            <a:off x="1060704" y="3621024"/>
            <a:ext cx="3840480" cy="237744"/>
          </a:xfrm>
          <a:prstGeom prst="rect">
            <a:avLst/>
          </a:prstGeom>
          <a:noFill/>
          <a:ln/>
        </p:spPr>
        <p:txBody>
          <a:bodyPr wrap="square" lIns="0" tIns="0" rIns="0" bIns="0" rtlCol="0" anchor="t"/>
          <a:lstStyle/>
          <a:p>
            <a:pPr indent="0" marL="0">
              <a:buNone/>
            </a:pPr>
            <a:r>
              <a:rPr lang="en-US" sz="1080" dirty="0">
                <a:solidFill>
                  <a:srgbClr val="E4E4E7"/>
                </a:solidFill>
                <a:latin typeface="Arial" pitchFamily="34" charset="0"/>
                <a:ea typeface="Arial" pitchFamily="34" charset="-122"/>
                <a:cs typeface="Arial" pitchFamily="34" charset="-120"/>
              </a:rPr>
              <a:t>Competency loop in both directions</a:t>
            </a:r>
            <a:endParaRPr lang="en-US" sz="1080" dirty="0"/>
          </a:p>
        </p:txBody>
      </p:sp>
      <p:pic>
        <p:nvPicPr>
          <p:cNvPr id="27" name="Image 2" descr="preencoded.png">    </p:cNvPr>
          <p:cNvPicPr>
            <a:picLocks noChangeAspect="1"/>
          </p:cNvPicPr>
          <p:nvPr/>
        </p:nvPicPr>
        <p:blipFill>
          <a:blip r:embed="rId3"/>
          <a:stretch>
            <a:fillRect/>
          </a:stretch>
        </p:blipFill>
        <p:spPr>
          <a:xfrm>
            <a:off x="795528" y="3922776"/>
            <a:ext cx="173736" cy="173736"/>
          </a:xfrm>
          <a:prstGeom prst="rect">
            <a:avLst/>
          </a:prstGeom>
        </p:spPr>
      </p:pic>
      <p:sp>
        <p:nvSpPr>
          <p:cNvPr id="28" name="Text 23"/>
          <p:cNvSpPr txBox="1"/>
          <p:nvPr/>
        </p:nvSpPr>
        <p:spPr>
          <a:xfrm>
            <a:off x="1060704" y="3895344"/>
            <a:ext cx="3840480" cy="237744"/>
          </a:xfrm>
          <a:prstGeom prst="rect">
            <a:avLst/>
          </a:prstGeom>
          <a:noFill/>
          <a:ln/>
        </p:spPr>
        <p:txBody>
          <a:bodyPr wrap="square" lIns="0" tIns="0" rIns="0" bIns="0" rtlCol="0" anchor="t"/>
          <a:lstStyle/>
          <a:p>
            <a:pPr indent="0" marL="0">
              <a:buNone/>
            </a:pPr>
            <a:r>
              <a:rPr lang="en-US" sz="1080" dirty="0">
                <a:solidFill>
                  <a:srgbClr val="E4E4E7"/>
                </a:solidFill>
                <a:latin typeface="Arial" pitchFamily="34" charset="0"/>
                <a:ea typeface="Arial" pitchFamily="34" charset="-122"/>
                <a:cs typeface="Arial" pitchFamily="34" charset="-120"/>
              </a:rPr>
              <a:t>Adaptive assessment · FSRS review</a:t>
            </a:r>
            <a:endParaRPr lang="en-US" sz="1080" dirty="0"/>
          </a:p>
        </p:txBody>
      </p:sp>
      <p:pic>
        <p:nvPicPr>
          <p:cNvPr id="29" name="Image 3" descr="preencoded.png">    </p:cNvPr>
          <p:cNvPicPr>
            <a:picLocks noChangeAspect="1"/>
          </p:cNvPicPr>
          <p:nvPr/>
        </p:nvPicPr>
        <p:blipFill>
          <a:blip r:embed="rId4"/>
          <a:stretch>
            <a:fillRect/>
          </a:stretch>
        </p:blipFill>
        <p:spPr>
          <a:xfrm>
            <a:off x="795528" y="4197096"/>
            <a:ext cx="173736" cy="173736"/>
          </a:xfrm>
          <a:prstGeom prst="rect">
            <a:avLst/>
          </a:prstGeom>
        </p:spPr>
      </p:pic>
      <p:sp>
        <p:nvSpPr>
          <p:cNvPr id="30" name="Text 24"/>
          <p:cNvSpPr txBox="1"/>
          <p:nvPr/>
        </p:nvSpPr>
        <p:spPr>
          <a:xfrm>
            <a:off x="1060704" y="4169664"/>
            <a:ext cx="3840480" cy="237744"/>
          </a:xfrm>
          <a:prstGeom prst="rect">
            <a:avLst/>
          </a:prstGeom>
          <a:noFill/>
          <a:ln/>
        </p:spPr>
        <p:txBody>
          <a:bodyPr wrap="square" lIns="0" tIns="0" rIns="0" bIns="0" rtlCol="0" anchor="t"/>
          <a:lstStyle/>
          <a:p>
            <a:pPr indent="0" marL="0">
              <a:buNone/>
            </a:pPr>
            <a:r>
              <a:rPr lang="en-US" sz="1080" dirty="0">
                <a:solidFill>
                  <a:srgbClr val="E4E4E7"/>
                </a:solidFill>
                <a:latin typeface="Arial" pitchFamily="34" charset="0"/>
                <a:ea typeface="Arial" pitchFamily="34" charset="-122"/>
                <a:cs typeface="Arial" pitchFamily="34" charset="-120"/>
              </a:rPr>
              <a:t>Grounded quizzes with page citations</a:t>
            </a:r>
            <a:endParaRPr lang="en-US" sz="1080" dirty="0"/>
          </a:p>
        </p:txBody>
      </p:sp>
      <p:pic>
        <p:nvPicPr>
          <p:cNvPr id="31" name="Image 4" descr="preencoded.png">    </p:cNvPr>
          <p:cNvPicPr>
            <a:picLocks noChangeAspect="1"/>
          </p:cNvPicPr>
          <p:nvPr/>
        </p:nvPicPr>
        <p:blipFill>
          <a:blip r:embed="rId5"/>
          <a:stretch>
            <a:fillRect/>
          </a:stretch>
        </p:blipFill>
        <p:spPr>
          <a:xfrm>
            <a:off x="795528" y="4471416"/>
            <a:ext cx="173736" cy="173736"/>
          </a:xfrm>
          <a:prstGeom prst="rect">
            <a:avLst/>
          </a:prstGeom>
        </p:spPr>
      </p:pic>
      <p:sp>
        <p:nvSpPr>
          <p:cNvPr id="32" name="Text 25"/>
          <p:cNvSpPr txBox="1"/>
          <p:nvPr/>
        </p:nvSpPr>
        <p:spPr>
          <a:xfrm>
            <a:off x="1060704" y="4443984"/>
            <a:ext cx="3840480" cy="237744"/>
          </a:xfrm>
          <a:prstGeom prst="rect">
            <a:avLst/>
          </a:prstGeom>
          <a:noFill/>
          <a:ln/>
        </p:spPr>
        <p:txBody>
          <a:bodyPr wrap="square" lIns="0" tIns="0" rIns="0" bIns="0" rtlCol="0" anchor="t"/>
          <a:lstStyle/>
          <a:p>
            <a:pPr indent="0" marL="0">
              <a:buNone/>
            </a:pPr>
            <a:r>
              <a:rPr lang="en-US" sz="1080" dirty="0">
                <a:solidFill>
                  <a:srgbClr val="E4E4E7"/>
                </a:solidFill>
                <a:latin typeface="Arial" pitchFamily="34" charset="0"/>
                <a:ea typeface="Arial" pitchFamily="34" charset="-122"/>
                <a:cs typeface="Arial" pitchFamily="34" charset="-120"/>
              </a:rPr>
              <a:t>AI practice from any department material</a:t>
            </a:r>
            <a:endParaRPr lang="en-US" sz="1080" dirty="0"/>
          </a:p>
        </p:txBody>
      </p:sp>
      <p:pic>
        <p:nvPicPr>
          <p:cNvPr id="33" name="Image 5" descr="preencoded.png">    </p:cNvPr>
          <p:cNvPicPr>
            <a:picLocks noChangeAspect="1"/>
          </p:cNvPicPr>
          <p:nvPr/>
        </p:nvPicPr>
        <p:blipFill>
          <a:blip r:embed="rId6"/>
          <a:stretch>
            <a:fillRect/>
          </a:stretch>
        </p:blipFill>
        <p:spPr>
          <a:xfrm>
            <a:off x="795528" y="4745736"/>
            <a:ext cx="173736" cy="173736"/>
          </a:xfrm>
          <a:prstGeom prst="rect">
            <a:avLst/>
          </a:prstGeom>
        </p:spPr>
      </p:pic>
      <p:sp>
        <p:nvSpPr>
          <p:cNvPr id="34" name="Text 26"/>
          <p:cNvSpPr txBox="1"/>
          <p:nvPr/>
        </p:nvSpPr>
        <p:spPr>
          <a:xfrm>
            <a:off x="1060704" y="4718304"/>
            <a:ext cx="3840480" cy="237744"/>
          </a:xfrm>
          <a:prstGeom prst="rect">
            <a:avLst/>
          </a:prstGeom>
          <a:noFill/>
          <a:ln/>
        </p:spPr>
        <p:txBody>
          <a:bodyPr wrap="square" lIns="0" tIns="0" rIns="0" bIns="0" rtlCol="0" anchor="t"/>
          <a:lstStyle/>
          <a:p>
            <a:pPr indent="0" marL="0">
              <a:buNone/>
            </a:pPr>
            <a:r>
              <a:rPr lang="en-US" sz="1080" dirty="0">
                <a:solidFill>
                  <a:srgbClr val="E4E4E7"/>
                </a:solidFill>
                <a:latin typeface="Arial" pitchFamily="34" charset="0"/>
                <a:ea typeface="Arial" pitchFamily="34" charset="-122"/>
                <a:cs typeface="Arial" pitchFamily="34" charset="-120"/>
              </a:rPr>
              <a:t>Samiksha AI for officers &amp; administrators</a:t>
            </a:r>
            <a:endParaRPr lang="en-US" sz="1080" dirty="0"/>
          </a:p>
        </p:txBody>
      </p:sp>
      <p:pic>
        <p:nvPicPr>
          <p:cNvPr id="35" name="Image 6" descr="preencoded.png">    </p:cNvPr>
          <p:cNvPicPr>
            <a:picLocks noChangeAspect="1"/>
          </p:cNvPicPr>
          <p:nvPr/>
        </p:nvPicPr>
        <p:blipFill>
          <a:blip r:embed="rId7"/>
          <a:stretch>
            <a:fillRect/>
          </a:stretch>
        </p:blipFill>
        <p:spPr>
          <a:xfrm>
            <a:off x="795528" y="5020056"/>
            <a:ext cx="173736" cy="173736"/>
          </a:xfrm>
          <a:prstGeom prst="rect">
            <a:avLst/>
          </a:prstGeom>
        </p:spPr>
      </p:pic>
      <p:sp>
        <p:nvSpPr>
          <p:cNvPr id="36" name="Text 27"/>
          <p:cNvSpPr txBox="1"/>
          <p:nvPr/>
        </p:nvSpPr>
        <p:spPr>
          <a:xfrm>
            <a:off x="1060704" y="4992624"/>
            <a:ext cx="3840480" cy="237744"/>
          </a:xfrm>
          <a:prstGeom prst="rect">
            <a:avLst/>
          </a:prstGeom>
          <a:noFill/>
          <a:ln/>
        </p:spPr>
        <p:txBody>
          <a:bodyPr wrap="square" lIns="0" tIns="0" rIns="0" bIns="0" rtlCol="0" anchor="t"/>
          <a:lstStyle/>
          <a:p>
            <a:pPr indent="0" marL="0">
              <a:buNone/>
            </a:pPr>
            <a:r>
              <a:rPr lang="en-US" sz="1080" dirty="0">
                <a:solidFill>
                  <a:srgbClr val="E4E4E7"/>
                </a:solidFill>
                <a:latin typeface="Arial" pitchFamily="34" charset="0"/>
                <a:ea typeface="Arial" pitchFamily="34" charset="-122"/>
                <a:cs typeface="Arial" pitchFamily="34" charset="-120"/>
              </a:rPr>
              <a:t>Both dashboards · publishing · live presence</a:t>
            </a:r>
            <a:endParaRPr lang="en-US" sz="1080" dirty="0"/>
          </a:p>
        </p:txBody>
      </p:sp>
      <p:pic>
        <p:nvPicPr>
          <p:cNvPr id="37" name="Image 7" descr="preencoded.png">    </p:cNvPr>
          <p:cNvPicPr>
            <a:picLocks noChangeAspect="1"/>
          </p:cNvPicPr>
          <p:nvPr/>
        </p:nvPicPr>
        <p:blipFill>
          <a:blip r:embed="rId8"/>
          <a:stretch>
            <a:fillRect/>
          </a:stretch>
        </p:blipFill>
        <p:spPr>
          <a:xfrm>
            <a:off x="795528" y="5294376"/>
            <a:ext cx="173736" cy="173736"/>
          </a:xfrm>
          <a:prstGeom prst="rect">
            <a:avLst/>
          </a:prstGeom>
        </p:spPr>
      </p:pic>
      <p:sp>
        <p:nvSpPr>
          <p:cNvPr id="38" name="Text 28"/>
          <p:cNvSpPr txBox="1"/>
          <p:nvPr/>
        </p:nvSpPr>
        <p:spPr>
          <a:xfrm>
            <a:off x="1060704" y="5266944"/>
            <a:ext cx="3840480" cy="237744"/>
          </a:xfrm>
          <a:prstGeom prst="rect">
            <a:avLst/>
          </a:prstGeom>
          <a:noFill/>
          <a:ln/>
        </p:spPr>
        <p:txBody>
          <a:bodyPr wrap="square" lIns="0" tIns="0" rIns="0" bIns="0" rtlCol="0" anchor="t"/>
          <a:lstStyle/>
          <a:p>
            <a:pPr indent="0" marL="0">
              <a:buNone/>
            </a:pPr>
            <a:r>
              <a:rPr lang="en-US" sz="1080" dirty="0">
                <a:solidFill>
                  <a:srgbClr val="E4E4E7"/>
                </a:solidFill>
                <a:latin typeface="Arial" pitchFamily="34" charset="0"/>
                <a:ea typeface="Arial" pitchFamily="34" charset="-122"/>
                <a:cs typeface="Arial" pitchFamily="34" charset="-120"/>
              </a:rPr>
              <a:t>Signed APKs + Windows installer per release</a:t>
            </a:r>
            <a:endParaRPr lang="en-US" sz="1080" dirty="0"/>
          </a:p>
        </p:txBody>
      </p:sp>
      <p:sp>
        <p:nvSpPr>
          <p:cNvPr id="39" name="Shape 29"/>
          <p:cNvSpPr/>
          <p:nvPr/>
        </p:nvSpPr>
        <p:spPr>
          <a:xfrm>
            <a:off x="5166360" y="2788920"/>
            <a:ext cx="3246120" cy="2834640"/>
          </a:xfrm>
          <a:prstGeom prst="roundRect">
            <a:avLst>
              <a:gd name="adj" fmla="val 3871"/>
            </a:avLst>
          </a:prstGeom>
          <a:solidFill>
            <a:srgbClr val="161618"/>
          </a:solidFill>
          <a:ln w="9525">
            <a:solidFill>
              <a:srgbClr val="2C2C30"/>
            </a:solidFill>
            <a:prstDash val="solid"/>
          </a:ln>
        </p:spPr>
      </p:sp>
      <p:sp>
        <p:nvSpPr>
          <p:cNvPr id="40" name="Text 30"/>
          <p:cNvSpPr txBox="1"/>
          <p:nvPr/>
        </p:nvSpPr>
        <p:spPr>
          <a:xfrm>
            <a:off x="5394960" y="2944368"/>
            <a:ext cx="2926080" cy="310896"/>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Stated plainly</a:t>
            </a:r>
            <a:endParaRPr lang="en-US" sz="1500" dirty="0"/>
          </a:p>
        </p:txBody>
      </p:sp>
      <p:sp>
        <p:nvSpPr>
          <p:cNvPr id="41" name="Text 31"/>
          <p:cNvSpPr txBox="1"/>
          <p:nvPr/>
        </p:nvSpPr>
        <p:spPr>
          <a:xfrm>
            <a:off x="5394960" y="3364992"/>
            <a:ext cx="2834640" cy="201168"/>
          </a:xfrm>
          <a:prstGeom prst="rect">
            <a:avLst/>
          </a:prstGeom>
          <a:noFill/>
          <a:ln/>
        </p:spPr>
        <p:txBody>
          <a:bodyPr wrap="square" lIns="0" tIns="0" rIns="0" bIns="0" rtlCol="0" anchor="t"/>
          <a:lstStyle/>
          <a:p>
            <a:pPr indent="0" marL="0">
              <a:buNone/>
            </a:pPr>
            <a:r>
              <a:rPr lang="en-US" sz="900" b="1" spc="200" kern="0" dirty="0">
                <a:solidFill>
                  <a:srgbClr val="A1A1AA"/>
                </a:solidFill>
                <a:latin typeface="Arial" pitchFamily="34" charset="0"/>
                <a:ea typeface="Arial" pitchFamily="34" charset="-122"/>
                <a:cs typeface="Arial" pitchFamily="34" charset="-120"/>
              </a:rPr>
              <a:t>IGOT</a:t>
            </a:r>
            <a:endParaRPr lang="en-US" sz="900" dirty="0"/>
          </a:p>
        </p:txBody>
      </p:sp>
      <p:sp>
        <p:nvSpPr>
          <p:cNvPr id="42" name="Text 32"/>
          <p:cNvSpPr txBox="1"/>
          <p:nvPr/>
        </p:nvSpPr>
        <p:spPr>
          <a:xfrm>
            <a:off x="5394960" y="3566160"/>
            <a:ext cx="2880360" cy="329184"/>
          </a:xfrm>
          <a:prstGeom prst="rect">
            <a:avLst/>
          </a:prstGeom>
          <a:noFill/>
          <a:ln/>
        </p:spPr>
        <p:txBody>
          <a:bodyPr wrap="square" lIns="0" tIns="0" rIns="0" bIns="0" rtlCol="0" anchor="t"/>
          <a:lstStyle/>
          <a:p>
            <a:pPr indent="0" marL="0">
              <a:buNone/>
            </a:pPr>
            <a:r>
              <a:rPr lang="en-US" sz="1030" dirty="0">
                <a:solidFill>
                  <a:srgbClr val="E4E4E7"/>
                </a:solidFill>
                <a:latin typeface="Arial" pitchFamily="34" charset="0"/>
                <a:ea typeface="Arial" pitchFamily="34" charset="-122"/>
                <a:cs typeface="Arial" pitchFamily="34" charset="-120"/>
              </a:rPr>
              <a:t>Real contract, simulator → go live</a:t>
            </a:r>
            <a:endParaRPr lang="en-US" sz="1030" dirty="0"/>
          </a:p>
        </p:txBody>
      </p:sp>
      <p:sp>
        <p:nvSpPr>
          <p:cNvPr id="43" name="Text 33"/>
          <p:cNvSpPr txBox="1"/>
          <p:nvPr/>
        </p:nvSpPr>
        <p:spPr>
          <a:xfrm>
            <a:off x="5394960" y="3913632"/>
            <a:ext cx="2834640" cy="201168"/>
          </a:xfrm>
          <a:prstGeom prst="rect">
            <a:avLst/>
          </a:prstGeom>
          <a:noFill/>
          <a:ln/>
        </p:spPr>
        <p:txBody>
          <a:bodyPr wrap="square" lIns="0" tIns="0" rIns="0" bIns="0" rtlCol="0" anchor="t"/>
          <a:lstStyle/>
          <a:p>
            <a:pPr indent="0" marL="0">
              <a:buNone/>
            </a:pPr>
            <a:r>
              <a:rPr lang="en-US" sz="900" b="1" spc="200" kern="0" dirty="0">
                <a:solidFill>
                  <a:srgbClr val="A1A1AA"/>
                </a:solidFill>
                <a:latin typeface="Arial" pitchFamily="34" charset="0"/>
                <a:ea typeface="Arial" pitchFamily="34" charset="-122"/>
                <a:cs typeface="Arial" pitchFamily="34" charset="-120"/>
              </a:rPr>
              <a:t>FRAC</a:t>
            </a:r>
            <a:endParaRPr lang="en-US" sz="900" dirty="0"/>
          </a:p>
        </p:txBody>
      </p:sp>
      <p:sp>
        <p:nvSpPr>
          <p:cNvPr id="44" name="Text 34"/>
          <p:cNvSpPr txBox="1"/>
          <p:nvPr/>
        </p:nvSpPr>
        <p:spPr>
          <a:xfrm>
            <a:off x="5394960" y="4114800"/>
            <a:ext cx="2880360" cy="329184"/>
          </a:xfrm>
          <a:prstGeom prst="rect">
            <a:avLst/>
          </a:prstGeom>
          <a:noFill/>
          <a:ln/>
        </p:spPr>
        <p:txBody>
          <a:bodyPr wrap="square" lIns="0" tIns="0" rIns="0" bIns="0" rtlCol="0" anchor="t"/>
          <a:lstStyle/>
          <a:p>
            <a:pPr indent="0" marL="0">
              <a:buNone/>
            </a:pPr>
            <a:r>
              <a:rPr lang="en-US" sz="1030" dirty="0">
                <a:solidFill>
                  <a:srgbClr val="E4E4E7"/>
                </a:solidFill>
                <a:latin typeface="Arial" pitchFamily="34" charset="0"/>
                <a:ea typeface="Arial" pitchFamily="34" charset="-122"/>
                <a:cs typeface="Arial" pitchFamily="34" charset="-120"/>
              </a:rPr>
              <a:t>Reconstructed → official import</a:t>
            </a:r>
            <a:endParaRPr lang="en-US" sz="1030" dirty="0"/>
          </a:p>
        </p:txBody>
      </p:sp>
      <p:sp>
        <p:nvSpPr>
          <p:cNvPr id="45" name="Text 35"/>
          <p:cNvSpPr txBox="1"/>
          <p:nvPr/>
        </p:nvSpPr>
        <p:spPr>
          <a:xfrm>
            <a:off x="5394960" y="4462272"/>
            <a:ext cx="2834640" cy="201168"/>
          </a:xfrm>
          <a:prstGeom prst="rect">
            <a:avLst/>
          </a:prstGeom>
          <a:noFill/>
          <a:ln/>
        </p:spPr>
        <p:txBody>
          <a:bodyPr wrap="square" lIns="0" tIns="0" rIns="0" bIns="0" rtlCol="0" anchor="t"/>
          <a:lstStyle/>
          <a:p>
            <a:pPr indent="0" marL="0">
              <a:buNone/>
            </a:pPr>
            <a:r>
              <a:rPr lang="en-US" sz="900" b="1" spc="200" kern="0" dirty="0">
                <a:solidFill>
                  <a:srgbClr val="A1A1AA"/>
                </a:solidFill>
                <a:latin typeface="Arial" pitchFamily="34" charset="0"/>
                <a:ea typeface="Arial" pitchFamily="34" charset="-122"/>
                <a:cs typeface="Arial" pitchFamily="34" charset="-120"/>
              </a:rPr>
              <a:t>MODEL</a:t>
            </a:r>
            <a:endParaRPr lang="en-US" sz="900" dirty="0"/>
          </a:p>
        </p:txBody>
      </p:sp>
      <p:sp>
        <p:nvSpPr>
          <p:cNvPr id="46" name="Text 36"/>
          <p:cNvSpPr txBox="1"/>
          <p:nvPr/>
        </p:nvSpPr>
        <p:spPr>
          <a:xfrm>
            <a:off x="5394960" y="4663440"/>
            <a:ext cx="2880360" cy="329184"/>
          </a:xfrm>
          <a:prstGeom prst="rect">
            <a:avLst/>
          </a:prstGeom>
          <a:noFill/>
          <a:ln/>
        </p:spPr>
        <p:txBody>
          <a:bodyPr wrap="square" lIns="0" tIns="0" rIns="0" bIns="0" rtlCol="0" anchor="t"/>
          <a:lstStyle/>
          <a:p>
            <a:pPr indent="0" marL="0">
              <a:buNone/>
            </a:pPr>
            <a:r>
              <a:rPr lang="en-US" sz="1030" dirty="0">
                <a:solidFill>
                  <a:srgbClr val="E4E4E7"/>
                </a:solidFill>
                <a:latin typeface="Arial" pitchFamily="34" charset="0"/>
                <a:ea typeface="Arial" pitchFamily="34" charset="-122"/>
                <a:cs typeface="Arial" pitchFamily="34" charset="-120"/>
              </a:rPr>
              <a:t>Base weights → fine-tuned</a:t>
            </a:r>
            <a:endParaRPr lang="en-US" sz="1030" dirty="0"/>
          </a:p>
        </p:txBody>
      </p:sp>
      <p:sp>
        <p:nvSpPr>
          <p:cNvPr id="47" name="Text 37"/>
          <p:cNvSpPr txBox="1"/>
          <p:nvPr/>
        </p:nvSpPr>
        <p:spPr>
          <a:xfrm>
            <a:off x="5394960" y="5010912"/>
            <a:ext cx="2834640" cy="201168"/>
          </a:xfrm>
          <a:prstGeom prst="rect">
            <a:avLst/>
          </a:prstGeom>
          <a:noFill/>
          <a:ln/>
        </p:spPr>
        <p:txBody>
          <a:bodyPr wrap="square" lIns="0" tIns="0" rIns="0" bIns="0" rtlCol="0" anchor="t"/>
          <a:lstStyle/>
          <a:p>
            <a:pPr indent="0" marL="0">
              <a:buNone/>
            </a:pPr>
            <a:r>
              <a:rPr lang="en-US" sz="900" b="1" spc="200" kern="0" dirty="0">
                <a:solidFill>
                  <a:srgbClr val="A1A1AA"/>
                </a:solidFill>
                <a:latin typeface="Arial" pitchFamily="34" charset="0"/>
                <a:ea typeface="Arial" pitchFamily="34" charset="-122"/>
                <a:cs typeface="Arial" pitchFamily="34" charset="-120"/>
              </a:rPr>
              <a:t>LANGUAGE</a:t>
            </a:r>
            <a:endParaRPr lang="en-US" sz="900" dirty="0"/>
          </a:p>
        </p:txBody>
      </p:sp>
      <p:sp>
        <p:nvSpPr>
          <p:cNvPr id="48" name="Text 38"/>
          <p:cNvSpPr txBox="1"/>
          <p:nvPr/>
        </p:nvSpPr>
        <p:spPr>
          <a:xfrm>
            <a:off x="5394960" y="5212080"/>
            <a:ext cx="2880360" cy="329184"/>
          </a:xfrm>
          <a:prstGeom prst="rect">
            <a:avLst/>
          </a:prstGeom>
          <a:noFill/>
          <a:ln/>
        </p:spPr>
        <p:txBody>
          <a:bodyPr wrap="square" lIns="0" tIns="0" rIns="0" bIns="0" rtlCol="0" anchor="t"/>
          <a:lstStyle/>
          <a:p>
            <a:pPr indent="0" marL="0">
              <a:buNone/>
            </a:pPr>
            <a:r>
              <a:rPr lang="en-US" sz="1030" dirty="0">
                <a:solidFill>
                  <a:srgbClr val="E4E4E7"/>
                </a:solidFill>
                <a:latin typeface="Arial" pitchFamily="34" charset="0"/>
                <a:ea typeface="Arial" pitchFamily="34" charset="-122"/>
                <a:cs typeface="Arial" pitchFamily="34" charset="-120"/>
              </a:rPr>
              <a:t>English UI → Hindi &amp; regional</a:t>
            </a:r>
            <a:endParaRPr lang="en-US" sz="1030" dirty="0"/>
          </a:p>
        </p:txBody>
      </p:sp>
      <p:sp>
        <p:nvSpPr>
          <p:cNvPr id="49" name="Shape 39"/>
          <p:cNvSpPr/>
          <p:nvPr/>
        </p:nvSpPr>
        <p:spPr>
          <a:xfrm>
            <a:off x="8549640" y="2788920"/>
            <a:ext cx="3090672" cy="2834640"/>
          </a:xfrm>
          <a:prstGeom prst="roundRect">
            <a:avLst>
              <a:gd name="adj" fmla="val 3871"/>
            </a:avLst>
          </a:prstGeom>
          <a:solidFill>
            <a:srgbClr val="FFFFFF"/>
          </a:solidFill>
          <a:ln w="12700">
            <a:solidFill>
              <a:srgbClr val="FFFFFF"/>
            </a:solidFill>
            <a:prstDash val="solid"/>
          </a:ln>
        </p:spPr>
      </p:sp>
      <p:sp>
        <p:nvSpPr>
          <p:cNvPr id="50" name="Text 40"/>
          <p:cNvSpPr txBox="1"/>
          <p:nvPr/>
        </p:nvSpPr>
        <p:spPr>
          <a:xfrm>
            <a:off x="8778240" y="2944368"/>
            <a:ext cx="2743200" cy="310896"/>
          </a:xfrm>
          <a:prstGeom prst="rect">
            <a:avLst/>
          </a:prstGeom>
          <a:noFill/>
          <a:ln/>
        </p:spPr>
        <p:txBody>
          <a:bodyPr wrap="square" lIns="0" tIns="0" rIns="0" bIns="0" rtlCol="0" anchor="t"/>
          <a:lstStyle/>
          <a:p>
            <a:pPr indent="0" marL="0">
              <a:buNone/>
            </a:pPr>
            <a:r>
              <a:rPr lang="en-US" sz="1500" b="1" dirty="0">
                <a:solidFill>
                  <a:srgbClr val="0A0A0B"/>
                </a:solidFill>
                <a:latin typeface="Arial" pitchFamily="34" charset="0"/>
                <a:ea typeface="Arial" pitchFamily="34" charset="-122"/>
                <a:cs typeface="Arial" pitchFamily="34" charset="-120"/>
              </a:rPr>
              <a:t>Roadmap</a:t>
            </a:r>
            <a:endParaRPr lang="en-US" sz="1500" dirty="0"/>
          </a:p>
        </p:txBody>
      </p:sp>
      <p:sp>
        <p:nvSpPr>
          <p:cNvPr id="51" name="Text 41"/>
          <p:cNvSpPr txBox="1"/>
          <p:nvPr/>
        </p:nvSpPr>
        <p:spPr>
          <a:xfrm>
            <a:off x="8778240" y="3383280"/>
            <a:ext cx="2651760" cy="237744"/>
          </a:xfrm>
          <a:prstGeom prst="rect">
            <a:avLst/>
          </a:prstGeom>
          <a:noFill/>
          <a:ln/>
        </p:spPr>
        <p:txBody>
          <a:bodyPr wrap="square" lIns="0" tIns="0" rIns="0" bIns="0" rtlCol="0" anchor="t"/>
          <a:lstStyle/>
          <a:p>
            <a:pPr indent="0" marL="0">
              <a:buNone/>
            </a:pPr>
            <a:r>
              <a:rPr lang="en-US" sz="1200" b="1" dirty="0">
                <a:solidFill>
                  <a:srgbClr val="0A0A0B"/>
                </a:solidFill>
                <a:latin typeface="Arial" pitchFamily="34" charset="0"/>
                <a:ea typeface="Arial" pitchFamily="34" charset="-122"/>
                <a:cs typeface="Arial" pitchFamily="34" charset="-120"/>
              </a:rPr>
              <a:t>Pilot</a:t>
            </a:r>
            <a:endParaRPr lang="en-US" sz="1200" dirty="0"/>
          </a:p>
        </p:txBody>
      </p:sp>
      <p:sp>
        <p:nvSpPr>
          <p:cNvPr id="52" name="Text 42"/>
          <p:cNvSpPr txBox="1"/>
          <p:nvPr/>
        </p:nvSpPr>
        <p:spPr>
          <a:xfrm>
            <a:off x="8778240" y="3630168"/>
            <a:ext cx="2697480" cy="457200"/>
          </a:xfrm>
          <a:prstGeom prst="rect">
            <a:avLst/>
          </a:prstGeom>
          <a:noFill/>
          <a:ln/>
        </p:spPr>
        <p:txBody>
          <a:bodyPr wrap="square" lIns="0" tIns="0" rIns="0" bIns="0" rtlCol="0" anchor="t"/>
          <a:lstStyle/>
          <a:p>
            <a:pPr indent="0" marL="0">
              <a:buNone/>
            </a:pPr>
            <a:r>
              <a:rPr lang="en-US" sz="950" dirty="0">
                <a:solidFill>
                  <a:srgbClr val="3F3F46"/>
                </a:solidFill>
                <a:latin typeface="Arial" pitchFamily="34" charset="0"/>
                <a:ea typeface="Arial" pitchFamily="34" charset="-122"/>
                <a:cs typeface="Arial" pitchFamily="34" charset="-120"/>
              </a:rPr>
              <a:t>One state DES · live iGOT · trainer review of questions</a:t>
            </a:r>
            <a:endParaRPr lang="en-US" sz="950" dirty="0"/>
          </a:p>
        </p:txBody>
      </p:sp>
      <p:sp>
        <p:nvSpPr>
          <p:cNvPr id="53" name="Text 43"/>
          <p:cNvSpPr txBox="1"/>
          <p:nvPr/>
        </p:nvSpPr>
        <p:spPr>
          <a:xfrm>
            <a:off x="8778240" y="4114800"/>
            <a:ext cx="2651760" cy="237744"/>
          </a:xfrm>
          <a:prstGeom prst="rect">
            <a:avLst/>
          </a:prstGeom>
          <a:noFill/>
          <a:ln/>
        </p:spPr>
        <p:txBody>
          <a:bodyPr wrap="square" lIns="0" tIns="0" rIns="0" bIns="0" rtlCol="0" anchor="t"/>
          <a:lstStyle/>
          <a:p>
            <a:pPr indent="0" marL="0">
              <a:buNone/>
            </a:pPr>
            <a:r>
              <a:rPr lang="en-US" sz="1200" b="1" dirty="0">
                <a:solidFill>
                  <a:srgbClr val="0A0A0B"/>
                </a:solidFill>
                <a:latin typeface="Arial" pitchFamily="34" charset="0"/>
                <a:ea typeface="Arial" pitchFamily="34" charset="-122"/>
                <a:cs typeface="Arial" pitchFamily="34" charset="-120"/>
              </a:rPr>
              <a:t>Scale</a:t>
            </a:r>
            <a:endParaRPr lang="en-US" sz="1200" dirty="0"/>
          </a:p>
        </p:txBody>
      </p:sp>
      <p:sp>
        <p:nvSpPr>
          <p:cNvPr id="54" name="Text 44"/>
          <p:cNvSpPr txBox="1"/>
          <p:nvPr/>
        </p:nvSpPr>
        <p:spPr>
          <a:xfrm>
            <a:off x="8778240" y="4361688"/>
            <a:ext cx="2697480" cy="457200"/>
          </a:xfrm>
          <a:prstGeom prst="rect">
            <a:avLst/>
          </a:prstGeom>
          <a:noFill/>
          <a:ln/>
        </p:spPr>
        <p:txBody>
          <a:bodyPr wrap="square" lIns="0" tIns="0" rIns="0" bIns="0" rtlCol="0" anchor="t"/>
          <a:lstStyle/>
          <a:p>
            <a:pPr indent="0" marL="0">
              <a:buNone/>
            </a:pPr>
            <a:r>
              <a:rPr lang="en-US" sz="950" dirty="0">
                <a:solidFill>
                  <a:srgbClr val="3F3F46"/>
                </a:solidFill>
                <a:latin typeface="Arial" pitchFamily="34" charset="0"/>
                <a:ea typeface="Arial" pitchFamily="34" charset="-122"/>
                <a:cs typeface="Arial" pitchFamily="34" charset="-120"/>
              </a:rPr>
              <a:t>Fine-tuned model on government cloud · languages · offline sync</a:t>
            </a:r>
            <a:endParaRPr lang="en-US" sz="950" dirty="0"/>
          </a:p>
        </p:txBody>
      </p:sp>
      <p:sp>
        <p:nvSpPr>
          <p:cNvPr id="55" name="Text 45"/>
          <p:cNvSpPr txBox="1"/>
          <p:nvPr/>
        </p:nvSpPr>
        <p:spPr>
          <a:xfrm>
            <a:off x="8778240" y="4846320"/>
            <a:ext cx="2651760" cy="237744"/>
          </a:xfrm>
          <a:prstGeom prst="rect">
            <a:avLst/>
          </a:prstGeom>
          <a:noFill/>
          <a:ln/>
        </p:spPr>
        <p:txBody>
          <a:bodyPr wrap="square" lIns="0" tIns="0" rIns="0" bIns="0" rtlCol="0" anchor="t"/>
          <a:lstStyle/>
          <a:p>
            <a:pPr indent="0" marL="0">
              <a:buNone/>
            </a:pPr>
            <a:r>
              <a:rPr lang="en-US" sz="1200" b="1" dirty="0">
                <a:solidFill>
                  <a:srgbClr val="0A0A0B"/>
                </a:solidFill>
                <a:latin typeface="Arial" pitchFamily="34" charset="0"/>
                <a:ea typeface="Arial" pitchFamily="34" charset="-122"/>
                <a:cs typeface="Arial" pitchFamily="34" charset="-120"/>
              </a:rPr>
              <a:t>Ecosystem</a:t>
            </a:r>
            <a:endParaRPr lang="en-US" sz="1200" dirty="0"/>
          </a:p>
        </p:txBody>
      </p:sp>
      <p:sp>
        <p:nvSpPr>
          <p:cNvPr id="56" name="Text 46"/>
          <p:cNvSpPr txBox="1"/>
          <p:nvPr/>
        </p:nvSpPr>
        <p:spPr>
          <a:xfrm>
            <a:off x="8778240" y="5093208"/>
            <a:ext cx="2697480" cy="457200"/>
          </a:xfrm>
          <a:prstGeom prst="rect">
            <a:avLst/>
          </a:prstGeom>
          <a:noFill/>
          <a:ln/>
        </p:spPr>
        <p:txBody>
          <a:bodyPr wrap="square" lIns="0" tIns="0" rIns="0" bIns="0" rtlCol="0" anchor="t"/>
          <a:lstStyle/>
          <a:p>
            <a:pPr indent="0" marL="0">
              <a:buNone/>
            </a:pPr>
            <a:r>
              <a:rPr lang="en-US" sz="950" dirty="0">
                <a:solidFill>
                  <a:srgbClr val="3F3F46"/>
                </a:solidFill>
                <a:latin typeface="Arial" pitchFamily="34" charset="0"/>
                <a:ea typeface="Arial" pitchFamily="34" charset="-122"/>
                <a:cs typeface="Arial" pitchFamily="34" charset="-120"/>
              </a:rPr>
              <a:t>Karmayogi passbook sync · training-impact evaluation · CPI / ASI / PLFS agent templates</a:t>
            </a:r>
            <a:endParaRPr lang="en-US" sz="950" dirty="0"/>
          </a:p>
        </p:txBody>
      </p:sp>
      <p:sp>
        <p:nvSpPr>
          <p:cNvPr id="57" name="Text 47"/>
          <p:cNvSpPr txBox="1"/>
          <p:nvPr/>
        </p:nvSpPr>
        <p:spPr>
          <a:xfrm>
            <a:off x="548640" y="5806440"/>
            <a:ext cx="8686800" cy="54864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“The measure of success is not how much work the AI does, but how much more capable each officer becomes.”</a:t>
            </a:r>
            <a:endParaRPr lang="en-US" sz="1500" dirty="0"/>
          </a:p>
        </p:txBody>
      </p:sp>
      <p:sp>
        <p:nvSpPr>
          <p:cNvPr id="58" name="Text 48"/>
          <p:cNvSpPr txBox="1"/>
          <p:nvPr/>
        </p:nvSpPr>
        <p:spPr>
          <a:xfrm>
            <a:off x="9235440" y="5806440"/>
            <a:ext cx="2404872" cy="548640"/>
          </a:xfrm>
          <a:prstGeom prst="rect">
            <a:avLst/>
          </a:prstGeom>
          <a:noFill/>
          <a:ln/>
        </p:spPr>
        <p:txBody>
          <a:bodyPr wrap="square" lIns="0" tIns="0" rIns="0" bIns="0" rtlCol="0" anchor="ctr"/>
          <a:lstStyle/>
          <a:p>
            <a:pPr algn="r" indent="0" marL="0">
              <a:buNone/>
            </a:pPr>
            <a:r>
              <a:rPr lang="en-US" sz="1050" b="1" dirty="0">
                <a:solidFill>
                  <a:srgbClr val="FFFFFF"/>
                </a:solidFill>
                <a:latin typeface="Arial" pitchFamily="34" charset="0"/>
                <a:ea typeface="Arial" pitchFamily="34" charset="-122"/>
                <a:cs typeface="Arial" pitchFamily="34" charset="-120"/>
              </a:rPr>
              <a:t>github.com/adryxportfolio/sih2026</a:t>
            </a:r>
            <a:endParaRPr lang="en-US" sz="1050" dirty="0"/>
          </a:p>
          <a:p>
            <a:pPr algn="r" indent="0" marL="0">
              <a:buNone/>
            </a:pPr>
            <a:r>
              <a:rPr lang="en-US" sz="1050" dirty="0">
                <a:solidFill>
                  <a:srgbClr val="A1A1AA"/>
                </a:solidFill>
                <a:latin typeface="Arial" pitchFamily="34" charset="0"/>
                <a:ea typeface="Arial" pitchFamily="34" charset="-122"/>
                <a:cs typeface="Arial" pitchFamily="34" charset="-120"/>
              </a:rPr>
              <a:t>Releases · documentation · source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Samiksha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Samiksha — SIH26101</dc:title>
  <dc:subject>PptxGenJS Presentation</dc:subject>
  <dc:creator>PptxGenJS</dc:creator>
  <cp:lastModifiedBy>PptxGenJS</cp:lastModifiedBy>
  <cp:revision>1</cp:revision>
  <dcterms:created xsi:type="dcterms:W3CDTF">2026-09-13T13:18:13Z</dcterms:created>
  <dcterms:modified xsi:type="dcterms:W3CDTF">2026-09-13T13:18:13Z</dcterms:modified>
</cp:coreProperties>
</file>